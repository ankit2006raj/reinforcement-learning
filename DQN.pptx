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68" r:id="rId5"/>
    <p:sldId id="270" r:id="rId6"/>
    <p:sldId id="271" r:id="rId7"/>
    <p:sldId id="281" r:id="rId8"/>
    <p:sldId id="272" r:id="rId9"/>
    <p:sldId id="257" r:id="rId10"/>
    <p:sldId id="258" r:id="rId11"/>
    <p:sldId id="259" r:id="rId12"/>
    <p:sldId id="260" r:id="rId13"/>
    <p:sldId id="261" r:id="rId14"/>
    <p:sldId id="275" r:id="rId15"/>
    <p:sldId id="262" r:id="rId16"/>
    <p:sldId id="273" r:id="rId17"/>
    <p:sldId id="274" r:id="rId18"/>
    <p:sldId id="263" r:id="rId19"/>
    <p:sldId id="276" r:id="rId20"/>
    <p:sldId id="277" r:id="rId21"/>
    <p:sldId id="264" r:id="rId22"/>
    <p:sldId id="279" r:id="rId23"/>
    <p:sldId id="278" r:id="rId24"/>
    <p:sldId id="280" r:id="rId25"/>
    <p:sldId id="265" r:id="rId26"/>
    <p:sldId id="269"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938A74-305B-4C6D-B70D-B339C9FCD014}" v="14" dt="2026-02-24T07:44:27.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Goyal" userId="23d9571fe247782f" providerId="LiveId" clId="{8C5539D1-D469-4169-9425-A1A8DAB8619A}"/>
    <pc:docChg chg="addSld modSld">
      <pc:chgData name="Sonali Goyal" userId="23d9571fe247782f" providerId="LiveId" clId="{8C5539D1-D469-4169-9425-A1A8DAB8619A}" dt="2026-02-24T07:45:45.084" v="147" actId="14100"/>
      <pc:docMkLst>
        <pc:docMk/>
      </pc:docMkLst>
      <pc:sldChg chg="modSp mod">
        <pc:chgData name="Sonali Goyal" userId="23d9571fe247782f" providerId="LiveId" clId="{8C5539D1-D469-4169-9425-A1A8DAB8619A}" dt="2026-02-24T07:30:50.790" v="83" actId="20577"/>
        <pc:sldMkLst>
          <pc:docMk/>
          <pc:sldMk cId="0" sldId="263"/>
        </pc:sldMkLst>
        <pc:spChg chg="mod">
          <ac:chgData name="Sonali Goyal" userId="23d9571fe247782f" providerId="LiveId" clId="{8C5539D1-D469-4169-9425-A1A8DAB8619A}" dt="2026-02-24T07:30:50.790" v="83" actId="20577"/>
          <ac:spMkLst>
            <pc:docMk/>
            <pc:sldMk cId="0" sldId="263"/>
            <ac:spMk id="2" creationId="{00000000-0000-0000-0000-000000000000}"/>
          </ac:spMkLst>
        </pc:spChg>
      </pc:sldChg>
      <pc:sldChg chg="modSp mod">
        <pc:chgData name="Sonali Goyal" userId="23d9571fe247782f" providerId="LiveId" clId="{8C5539D1-D469-4169-9425-A1A8DAB8619A}" dt="2026-02-24T07:34:05.565" v="105" actId="2711"/>
        <pc:sldMkLst>
          <pc:docMk/>
          <pc:sldMk cId="0" sldId="264"/>
        </pc:sldMkLst>
        <pc:spChg chg="mod">
          <ac:chgData name="Sonali Goyal" userId="23d9571fe247782f" providerId="LiveId" clId="{8C5539D1-D469-4169-9425-A1A8DAB8619A}" dt="2026-02-24T07:34:05.565" v="105" actId="2711"/>
          <ac:spMkLst>
            <pc:docMk/>
            <pc:sldMk cId="0" sldId="264"/>
            <ac:spMk id="2" creationId="{00000000-0000-0000-0000-000000000000}"/>
          </ac:spMkLst>
        </pc:spChg>
      </pc:sldChg>
      <pc:sldChg chg="addSp modSp new mod">
        <pc:chgData name="Sonali Goyal" userId="23d9571fe247782f" providerId="LiveId" clId="{8C5539D1-D469-4169-9425-A1A8DAB8619A}" dt="2026-02-24T07:45:45.084" v="147" actId="14100"/>
        <pc:sldMkLst>
          <pc:docMk/>
          <pc:sldMk cId="835704564" sldId="266"/>
        </pc:sldMkLst>
        <pc:spChg chg="add mod">
          <ac:chgData name="Sonali Goyal" userId="23d9571fe247782f" providerId="LiveId" clId="{8C5539D1-D469-4169-9425-A1A8DAB8619A}" dt="2026-02-24T07:45:42.609" v="146" actId="1076"/>
          <ac:spMkLst>
            <pc:docMk/>
            <pc:sldMk cId="835704564" sldId="266"/>
            <ac:spMk id="3" creationId="{8C9E966F-3E18-FE46-C6AF-64566B24E588}"/>
          </ac:spMkLst>
        </pc:spChg>
        <pc:picChg chg="add mod">
          <ac:chgData name="Sonali Goyal" userId="23d9571fe247782f" providerId="LiveId" clId="{8C5539D1-D469-4169-9425-A1A8DAB8619A}" dt="2026-02-24T07:45:45.084" v="147" actId="14100"/>
          <ac:picMkLst>
            <pc:docMk/>
            <pc:sldMk cId="835704564" sldId="266"/>
            <ac:picMk id="5" creationId="{D5DAC2C6-A331-A59A-BCCE-194572A6E423}"/>
          </ac:picMkLst>
        </pc:picChg>
      </pc:sldChg>
      <pc:sldChg chg="addSp modSp new mod">
        <pc:chgData name="Sonali Goyal" userId="23d9571fe247782f" providerId="LiveId" clId="{8C5539D1-D469-4169-9425-A1A8DAB8619A}" dt="2026-02-24T07:16:21.835" v="22" actId="14100"/>
        <pc:sldMkLst>
          <pc:docMk/>
          <pc:sldMk cId="1648285276" sldId="267"/>
        </pc:sldMkLst>
        <pc:spChg chg="add mod">
          <ac:chgData name="Sonali Goyal" userId="23d9571fe247782f" providerId="LiveId" clId="{8C5539D1-D469-4169-9425-A1A8DAB8619A}" dt="2026-02-24T07:16:21.835" v="22" actId="14100"/>
          <ac:spMkLst>
            <pc:docMk/>
            <pc:sldMk cId="1648285276" sldId="267"/>
            <ac:spMk id="3" creationId="{AA93B62F-4058-938D-8885-A528C84393AC}"/>
          </ac:spMkLst>
        </pc:spChg>
      </pc:sldChg>
      <pc:sldChg chg="addSp new mod">
        <pc:chgData name="Sonali Goyal" userId="23d9571fe247782f" providerId="LiveId" clId="{8C5539D1-D469-4169-9425-A1A8DAB8619A}" dt="2026-02-24T07:16:46.614" v="24" actId="22"/>
        <pc:sldMkLst>
          <pc:docMk/>
          <pc:sldMk cId="2379700551" sldId="268"/>
        </pc:sldMkLst>
        <pc:picChg chg="add">
          <ac:chgData name="Sonali Goyal" userId="23d9571fe247782f" providerId="LiveId" clId="{8C5539D1-D469-4169-9425-A1A8DAB8619A}" dt="2026-02-24T07:16:46.614" v="24" actId="22"/>
          <ac:picMkLst>
            <pc:docMk/>
            <pc:sldMk cId="2379700551" sldId="268"/>
            <ac:picMk id="3" creationId="{21A1602B-34DD-B753-0E60-BC6A210CBEB8}"/>
          </ac:picMkLst>
        </pc:picChg>
      </pc:sldChg>
      <pc:sldChg chg="addSp modSp new mod">
        <pc:chgData name="Sonali Goyal" userId="23d9571fe247782f" providerId="LiveId" clId="{8C5539D1-D469-4169-9425-A1A8DAB8619A}" dt="2026-02-24T07:18:09.916" v="28" actId="14100"/>
        <pc:sldMkLst>
          <pc:docMk/>
          <pc:sldMk cId="3434700912" sldId="269"/>
        </pc:sldMkLst>
        <pc:spChg chg="add mod">
          <ac:chgData name="Sonali Goyal" userId="23d9571fe247782f" providerId="LiveId" clId="{8C5539D1-D469-4169-9425-A1A8DAB8619A}" dt="2026-02-24T07:18:09.916" v="28" actId="14100"/>
          <ac:spMkLst>
            <pc:docMk/>
            <pc:sldMk cId="3434700912" sldId="269"/>
            <ac:spMk id="3" creationId="{2F2F41ED-F15F-8E3B-4842-AFA936A86363}"/>
          </ac:spMkLst>
        </pc:spChg>
      </pc:sldChg>
      <pc:sldChg chg="addSp new mod">
        <pc:chgData name="Sonali Goyal" userId="23d9571fe247782f" providerId="LiveId" clId="{8C5539D1-D469-4169-9425-A1A8DAB8619A}" dt="2026-02-24T07:19:38.452" v="30" actId="22"/>
        <pc:sldMkLst>
          <pc:docMk/>
          <pc:sldMk cId="3678073986" sldId="270"/>
        </pc:sldMkLst>
        <pc:picChg chg="add">
          <ac:chgData name="Sonali Goyal" userId="23d9571fe247782f" providerId="LiveId" clId="{8C5539D1-D469-4169-9425-A1A8DAB8619A}" dt="2026-02-24T07:19:38.452" v="30" actId="22"/>
          <ac:picMkLst>
            <pc:docMk/>
            <pc:sldMk cId="3678073986" sldId="270"/>
            <ac:picMk id="3" creationId="{D694B7A3-5B1D-44AB-BFBD-CD7C953EC229}"/>
          </ac:picMkLst>
        </pc:picChg>
      </pc:sldChg>
      <pc:sldChg chg="addSp modSp new mod">
        <pc:chgData name="Sonali Goyal" userId="23d9571fe247782f" providerId="LiveId" clId="{8C5539D1-D469-4169-9425-A1A8DAB8619A}" dt="2026-02-24T07:44:27.054" v="140" actId="1076"/>
        <pc:sldMkLst>
          <pc:docMk/>
          <pc:sldMk cId="3156253487" sldId="271"/>
        </pc:sldMkLst>
        <pc:spChg chg="add mod">
          <ac:chgData name="Sonali Goyal" userId="23d9571fe247782f" providerId="LiveId" clId="{8C5539D1-D469-4169-9425-A1A8DAB8619A}" dt="2026-02-24T07:44:22.730" v="139" actId="1076"/>
          <ac:spMkLst>
            <pc:docMk/>
            <pc:sldMk cId="3156253487" sldId="271"/>
            <ac:spMk id="3" creationId="{AE8C133F-7A4B-AF77-82E3-21A22CE555FA}"/>
          </ac:spMkLst>
        </pc:spChg>
        <pc:spChg chg="add">
          <ac:chgData name="Sonali Goyal" userId="23d9571fe247782f" providerId="LiveId" clId="{8C5539D1-D469-4169-9425-A1A8DAB8619A}" dt="2026-02-24T07:43:38.804" v="130"/>
          <ac:spMkLst>
            <pc:docMk/>
            <pc:sldMk cId="3156253487" sldId="271"/>
            <ac:spMk id="4" creationId="{514C8720-CAD2-0F89-FB0E-0A1E970D1842}"/>
          </ac:spMkLst>
        </pc:spChg>
        <pc:spChg chg="add mod">
          <ac:chgData name="Sonali Goyal" userId="23d9571fe247782f" providerId="LiveId" clId="{8C5539D1-D469-4169-9425-A1A8DAB8619A}" dt="2026-02-24T07:44:27.054" v="140" actId="1076"/>
          <ac:spMkLst>
            <pc:docMk/>
            <pc:sldMk cId="3156253487" sldId="271"/>
            <ac:spMk id="5" creationId="{EC1A4640-0523-F100-0C65-68BCF2D9F819}"/>
          </ac:spMkLst>
        </pc:spChg>
      </pc:sldChg>
      <pc:sldChg chg="addSp modSp new mod">
        <pc:chgData name="Sonali Goyal" userId="23d9571fe247782f" providerId="LiveId" clId="{8C5539D1-D469-4169-9425-A1A8DAB8619A}" dt="2026-02-24T07:22:10.122" v="52" actId="1076"/>
        <pc:sldMkLst>
          <pc:docMk/>
          <pc:sldMk cId="2836869645" sldId="272"/>
        </pc:sldMkLst>
        <pc:spChg chg="add mod">
          <ac:chgData name="Sonali Goyal" userId="23d9571fe247782f" providerId="LiveId" clId="{8C5539D1-D469-4169-9425-A1A8DAB8619A}" dt="2026-02-24T07:22:10.122" v="52" actId="1076"/>
          <ac:spMkLst>
            <pc:docMk/>
            <pc:sldMk cId="2836869645" sldId="272"/>
            <ac:spMk id="3" creationId="{6E594D71-BB26-34CD-3FDA-992120D2C8EE}"/>
          </ac:spMkLst>
        </pc:spChg>
      </pc:sldChg>
      <pc:sldChg chg="addSp modSp new mod">
        <pc:chgData name="Sonali Goyal" userId="23d9571fe247782f" providerId="LiveId" clId="{8C5539D1-D469-4169-9425-A1A8DAB8619A}" dt="2026-02-24T07:26:04.089" v="58" actId="20577"/>
        <pc:sldMkLst>
          <pc:docMk/>
          <pc:sldMk cId="2743078151" sldId="273"/>
        </pc:sldMkLst>
        <pc:spChg chg="add mod">
          <ac:chgData name="Sonali Goyal" userId="23d9571fe247782f" providerId="LiveId" clId="{8C5539D1-D469-4169-9425-A1A8DAB8619A}" dt="2026-02-24T07:26:04.089" v="58" actId="20577"/>
          <ac:spMkLst>
            <pc:docMk/>
            <pc:sldMk cId="2743078151" sldId="273"/>
            <ac:spMk id="3" creationId="{1AA0D0C5-748A-DDBD-475E-D8A7DE6E3D8E}"/>
          </ac:spMkLst>
        </pc:spChg>
      </pc:sldChg>
      <pc:sldChg chg="addSp modSp new mod">
        <pc:chgData name="Sonali Goyal" userId="23d9571fe247782f" providerId="LiveId" clId="{8C5539D1-D469-4169-9425-A1A8DAB8619A}" dt="2026-02-24T07:27:01.555" v="66" actId="20577"/>
        <pc:sldMkLst>
          <pc:docMk/>
          <pc:sldMk cId="106930448" sldId="274"/>
        </pc:sldMkLst>
        <pc:spChg chg="add mod">
          <ac:chgData name="Sonali Goyal" userId="23d9571fe247782f" providerId="LiveId" clId="{8C5539D1-D469-4169-9425-A1A8DAB8619A}" dt="2026-02-24T07:27:01.555" v="66" actId="20577"/>
          <ac:spMkLst>
            <pc:docMk/>
            <pc:sldMk cId="106930448" sldId="274"/>
            <ac:spMk id="3" creationId="{A1D6051E-73A4-8A8E-2797-C323C21FAE00}"/>
          </ac:spMkLst>
        </pc:spChg>
      </pc:sldChg>
      <pc:sldChg chg="addSp modSp new mod">
        <pc:chgData name="Sonali Goyal" userId="23d9571fe247782f" providerId="LiveId" clId="{8C5539D1-D469-4169-9425-A1A8DAB8619A}" dt="2026-02-24T07:28:24.506" v="78" actId="255"/>
        <pc:sldMkLst>
          <pc:docMk/>
          <pc:sldMk cId="542134101" sldId="275"/>
        </pc:sldMkLst>
        <pc:spChg chg="add mod">
          <ac:chgData name="Sonali Goyal" userId="23d9571fe247782f" providerId="LiveId" clId="{8C5539D1-D469-4169-9425-A1A8DAB8619A}" dt="2026-02-24T07:28:24.506" v="78" actId="255"/>
          <ac:spMkLst>
            <pc:docMk/>
            <pc:sldMk cId="542134101" sldId="275"/>
            <ac:spMk id="3" creationId="{1BDE7BAB-FE64-B33A-769A-6A8CDD09A00D}"/>
          </ac:spMkLst>
        </pc:spChg>
      </pc:sldChg>
      <pc:sldChg chg="addSp modSp new mod">
        <pc:chgData name="Sonali Goyal" userId="23d9571fe247782f" providerId="LiveId" clId="{8C5539D1-D469-4169-9425-A1A8DAB8619A}" dt="2026-02-24T07:31:20.644" v="89" actId="1076"/>
        <pc:sldMkLst>
          <pc:docMk/>
          <pc:sldMk cId="1367617883" sldId="276"/>
        </pc:sldMkLst>
        <pc:spChg chg="add mod">
          <ac:chgData name="Sonali Goyal" userId="23d9571fe247782f" providerId="LiveId" clId="{8C5539D1-D469-4169-9425-A1A8DAB8619A}" dt="2026-02-24T07:31:20.644" v="89" actId="1076"/>
          <ac:spMkLst>
            <pc:docMk/>
            <pc:sldMk cId="1367617883" sldId="276"/>
            <ac:spMk id="3" creationId="{39D81B43-D2DF-3FAA-A3B0-ED00DC2BDB7E}"/>
          </ac:spMkLst>
        </pc:spChg>
      </pc:sldChg>
      <pc:sldChg chg="addSp modSp new mod">
        <pc:chgData name="Sonali Goyal" userId="23d9571fe247782f" providerId="LiveId" clId="{8C5539D1-D469-4169-9425-A1A8DAB8619A}" dt="2026-02-24T07:31:59.820" v="94" actId="255"/>
        <pc:sldMkLst>
          <pc:docMk/>
          <pc:sldMk cId="2328168425" sldId="277"/>
        </pc:sldMkLst>
        <pc:spChg chg="add mod">
          <ac:chgData name="Sonali Goyal" userId="23d9571fe247782f" providerId="LiveId" clId="{8C5539D1-D469-4169-9425-A1A8DAB8619A}" dt="2026-02-24T07:31:59.820" v="94" actId="255"/>
          <ac:spMkLst>
            <pc:docMk/>
            <pc:sldMk cId="2328168425" sldId="277"/>
            <ac:spMk id="3" creationId="{EAB7E9BB-6D6D-7DFB-9664-94AFF1F175D5}"/>
          </ac:spMkLst>
        </pc:spChg>
      </pc:sldChg>
      <pc:sldChg chg="addSp modSp new mod">
        <pc:chgData name="Sonali Goyal" userId="23d9571fe247782f" providerId="LiveId" clId="{8C5539D1-D469-4169-9425-A1A8DAB8619A}" dt="2026-02-24T07:37:31.203" v="122" actId="2711"/>
        <pc:sldMkLst>
          <pc:docMk/>
          <pc:sldMk cId="1047004517" sldId="278"/>
        </pc:sldMkLst>
        <pc:spChg chg="add mod">
          <ac:chgData name="Sonali Goyal" userId="23d9571fe247782f" providerId="LiveId" clId="{8C5539D1-D469-4169-9425-A1A8DAB8619A}" dt="2026-02-24T07:37:31.203" v="122" actId="2711"/>
          <ac:spMkLst>
            <pc:docMk/>
            <pc:sldMk cId="1047004517" sldId="278"/>
            <ac:spMk id="3" creationId="{A5D1EDF8-5AB2-C37A-28AF-4CBF47827409}"/>
          </ac:spMkLst>
        </pc:spChg>
      </pc:sldChg>
      <pc:sldChg chg="addSp modSp new mod">
        <pc:chgData name="Sonali Goyal" userId="23d9571fe247782f" providerId="LiveId" clId="{8C5539D1-D469-4169-9425-A1A8DAB8619A}" dt="2026-02-24T07:35:13.097" v="115" actId="1076"/>
        <pc:sldMkLst>
          <pc:docMk/>
          <pc:sldMk cId="386250962" sldId="279"/>
        </pc:sldMkLst>
        <pc:spChg chg="add mod">
          <ac:chgData name="Sonali Goyal" userId="23d9571fe247782f" providerId="LiveId" clId="{8C5539D1-D469-4169-9425-A1A8DAB8619A}" dt="2026-02-24T07:35:13.097" v="115" actId="1076"/>
          <ac:spMkLst>
            <pc:docMk/>
            <pc:sldMk cId="386250962" sldId="279"/>
            <ac:spMk id="3" creationId="{EB62302A-F315-2CA8-3ABB-FF8A6A882B6E}"/>
          </ac:spMkLst>
        </pc:spChg>
      </pc:sldChg>
      <pc:sldChg chg="addSp modSp new mod">
        <pc:chgData name="Sonali Goyal" userId="23d9571fe247782f" providerId="LiveId" clId="{8C5539D1-D469-4169-9425-A1A8DAB8619A}" dt="2026-02-24T07:41:40.064" v="128" actId="255"/>
        <pc:sldMkLst>
          <pc:docMk/>
          <pc:sldMk cId="2300805172" sldId="280"/>
        </pc:sldMkLst>
        <pc:spChg chg="add mod">
          <ac:chgData name="Sonali Goyal" userId="23d9571fe247782f" providerId="LiveId" clId="{8C5539D1-D469-4169-9425-A1A8DAB8619A}" dt="2026-02-24T07:41:40.064" v="128" actId="255"/>
          <ac:spMkLst>
            <pc:docMk/>
            <pc:sldMk cId="2300805172" sldId="280"/>
            <ac:spMk id="3" creationId="{FB5BB00E-3260-8C3A-83A1-088A7120BCAD}"/>
          </ac:spMkLst>
        </pc:spChg>
      </pc:sldChg>
      <pc:sldChg chg="addSp modSp new mod">
        <pc:chgData name="Sonali Goyal" userId="23d9571fe247782f" providerId="LiveId" clId="{8C5539D1-D469-4169-9425-A1A8DAB8619A}" dt="2026-02-24T07:44:59.404" v="142" actId="14100"/>
        <pc:sldMkLst>
          <pc:docMk/>
          <pc:sldMk cId="767792145" sldId="281"/>
        </pc:sldMkLst>
        <pc:spChg chg="add mod">
          <ac:chgData name="Sonali Goyal" userId="23d9571fe247782f" providerId="LiveId" clId="{8C5539D1-D469-4169-9425-A1A8DAB8619A}" dt="2026-02-24T07:44:59.404" v="142" actId="14100"/>
          <ac:spMkLst>
            <pc:docMk/>
            <pc:sldMk cId="767792145" sldId="281"/>
            <ac:spMk id="3" creationId="{3777EB5C-0D31-A6AB-3D56-A636B72BAD5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Deep Q learning</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9E966F-3E18-FE46-C6AF-64566B24E588}"/>
              </a:ext>
            </a:extLst>
          </p:cNvPr>
          <p:cNvSpPr txBox="1"/>
          <p:nvPr/>
        </p:nvSpPr>
        <p:spPr>
          <a:xfrm>
            <a:off x="119743" y="76200"/>
            <a:ext cx="8610600" cy="3170099"/>
          </a:xfrm>
          <a:prstGeom prst="rect">
            <a:avLst/>
          </a:prstGeom>
          <a:noFill/>
        </p:spPr>
        <p:txBody>
          <a:bodyPr wrap="square">
            <a:spAutoFit/>
          </a:bodyPr>
          <a:lstStyle/>
          <a:p>
            <a:r>
              <a:rPr lang="en-US" sz="2000" b="0" i="0" dirty="0">
                <a:effectLst/>
                <a:latin typeface="Times New Roman" panose="02020603050405020304" pitchFamily="18" charset="0"/>
                <a:cs typeface="Times New Roman" panose="02020603050405020304" pitchFamily="18" charset="0"/>
              </a:rPr>
              <a:t>Deep Q-Learning is a method that uses deep learning to help machines make decisions in complicated situations. It’s especially useful in environments where the number of possible situations called states is very large like in video games or robotics.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Before understanding Deep Q-Learning it’s important to understand the main concept of</a:t>
            </a:r>
            <a:r>
              <a:rPr lang="en-US" sz="2000" u="sng" dirty="0">
                <a:latin typeface="Times New Roman" panose="02020603050405020304" pitchFamily="18" charset="0"/>
                <a:cs typeface="Times New Roman" panose="02020603050405020304" pitchFamily="18" charset="0"/>
              </a:rPr>
              <a:t> Q-Learning</a:t>
            </a:r>
            <a:r>
              <a:rPr lang="en-US" sz="2000" dirty="0">
                <a:latin typeface="Times New Roman" panose="02020603050405020304" pitchFamily="18" charset="0"/>
                <a:cs typeface="Times New Roman" panose="02020603050405020304" pitchFamily="18" charset="0"/>
              </a:rPr>
              <a:t>. It is a model-free method that learns an optimal policy by estimating the Q-value function which tells how good it is to take a certain action in a certain situation. The goal is to find a plan that gives the highest total reward over time.</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5DAC2C6-A331-A59A-BCCE-194572A6E423}"/>
              </a:ext>
            </a:extLst>
          </p:cNvPr>
          <p:cNvPicPr>
            <a:picLocks noChangeAspect="1"/>
          </p:cNvPicPr>
          <p:nvPr/>
        </p:nvPicPr>
        <p:blipFill>
          <a:blip r:embed="rId2"/>
          <a:stretch>
            <a:fillRect/>
          </a:stretch>
        </p:blipFill>
        <p:spPr>
          <a:xfrm>
            <a:off x="119743" y="3505200"/>
            <a:ext cx="8948057" cy="3352800"/>
          </a:xfrm>
          <a:prstGeom prst="rect">
            <a:avLst/>
          </a:prstGeom>
        </p:spPr>
      </p:pic>
    </p:spTree>
    <p:extLst>
      <p:ext uri="{BB962C8B-B14F-4D97-AF65-F5344CB8AC3E}">
        <p14:creationId xmlns:p14="http://schemas.microsoft.com/office/powerpoint/2010/main" val="835704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93B62F-4058-938D-8885-A528C84393AC}"/>
              </a:ext>
            </a:extLst>
          </p:cNvPr>
          <p:cNvSpPr txBox="1"/>
          <p:nvPr/>
        </p:nvSpPr>
        <p:spPr>
          <a:xfrm>
            <a:off x="152400" y="228600"/>
            <a:ext cx="8991600" cy="6001643"/>
          </a:xfrm>
          <a:prstGeom prst="rect">
            <a:avLst/>
          </a:prstGeom>
          <a:noFill/>
        </p:spPr>
        <p:txBody>
          <a:bodyPr wrap="square">
            <a:spAutoFit/>
          </a:bodyPr>
          <a:lstStyle/>
          <a:p>
            <a:r>
              <a:rPr lang="en-US" sz="2400" b="0" i="0" dirty="0">
                <a:solidFill>
                  <a:srgbClr val="273239"/>
                </a:solidFill>
                <a:effectLst/>
                <a:latin typeface="Nunito" pitchFamily="2" charset="0"/>
              </a:rPr>
              <a:t>Q-Learning works well for small problems but struggles with complex ones like images or many possible situations. Deep Q-Learning solves this by using a neural network to estimate values instead of a big table.</a:t>
            </a:r>
          </a:p>
          <a:p>
            <a:endParaRPr lang="en-US" sz="2400" dirty="0">
              <a:solidFill>
                <a:srgbClr val="273239"/>
              </a:solidFill>
              <a:latin typeface="Nunito" pitchFamily="2" charset="0"/>
            </a:endParaRPr>
          </a:p>
          <a:p>
            <a:pPr fontAlgn="base"/>
            <a:r>
              <a:rPr lang="en-US" sz="2400" b="1" dirty="0"/>
              <a:t>Key Challenges Addressed by Deep Q-Learning</a:t>
            </a:r>
          </a:p>
          <a:p>
            <a:pPr fontAlgn="base"/>
            <a:r>
              <a:rPr lang="en-US" sz="2400" b="1" dirty="0"/>
              <a:t>High-Dimensional State Spaces:</a:t>
            </a:r>
            <a:r>
              <a:rPr lang="en-US" sz="2400" dirty="0"/>
              <a:t> Traditional Q-Learning uses a table to store values but this becomes impossible when there are too many situations. Neural networks can understand and work with many different situations at once so they are better for complex problems.</a:t>
            </a:r>
          </a:p>
          <a:p>
            <a:pPr fontAlgn="base"/>
            <a:r>
              <a:rPr lang="en-US" sz="2400" b="1" dirty="0"/>
              <a:t>Continuous Input Data:</a:t>
            </a:r>
            <a:r>
              <a:rPr lang="en-US" sz="2400" dirty="0"/>
              <a:t> Real-world problems often have continuous data like video images. Neural networks are good at handling this kind of information.</a:t>
            </a:r>
          </a:p>
          <a:p>
            <a:pPr fontAlgn="base"/>
            <a:r>
              <a:rPr lang="en-US" sz="2400" b="1" dirty="0"/>
              <a:t>Scalability:</a:t>
            </a:r>
            <a:r>
              <a:rPr lang="en-US" sz="2400" dirty="0"/>
              <a:t> Deep learning helps Q-Learning grow and handle bigger, harder tasks that regular Q-Learning couldn’t solve before.</a:t>
            </a:r>
          </a:p>
          <a:p>
            <a:endParaRPr lang="en-IN" sz="2400" dirty="0"/>
          </a:p>
        </p:txBody>
      </p:sp>
    </p:spTree>
    <p:extLst>
      <p:ext uri="{BB962C8B-B14F-4D97-AF65-F5344CB8AC3E}">
        <p14:creationId xmlns:p14="http://schemas.microsoft.com/office/powerpoint/2010/main" val="1648285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A1602B-34DD-B753-0E60-BC6A210CBEB8}"/>
              </a:ext>
            </a:extLst>
          </p:cNvPr>
          <p:cNvPicPr>
            <a:picLocks noChangeAspect="1"/>
          </p:cNvPicPr>
          <p:nvPr/>
        </p:nvPicPr>
        <p:blipFill>
          <a:blip r:embed="rId2"/>
          <a:stretch>
            <a:fillRect/>
          </a:stretch>
        </p:blipFill>
        <p:spPr>
          <a:xfrm>
            <a:off x="0" y="466734"/>
            <a:ext cx="9144000" cy="5924531"/>
          </a:xfrm>
          <a:prstGeom prst="rect">
            <a:avLst/>
          </a:prstGeom>
        </p:spPr>
      </p:pic>
    </p:spTree>
    <p:extLst>
      <p:ext uri="{BB962C8B-B14F-4D97-AF65-F5344CB8AC3E}">
        <p14:creationId xmlns:p14="http://schemas.microsoft.com/office/powerpoint/2010/main" val="2379700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94B7A3-5B1D-44AB-BFBD-CD7C953EC229}"/>
              </a:ext>
            </a:extLst>
          </p:cNvPr>
          <p:cNvPicPr>
            <a:picLocks noChangeAspect="1"/>
          </p:cNvPicPr>
          <p:nvPr/>
        </p:nvPicPr>
        <p:blipFill>
          <a:blip r:embed="rId2"/>
          <a:stretch>
            <a:fillRect/>
          </a:stretch>
        </p:blipFill>
        <p:spPr>
          <a:xfrm>
            <a:off x="0" y="577943"/>
            <a:ext cx="9144000" cy="5702113"/>
          </a:xfrm>
          <a:prstGeom prst="rect">
            <a:avLst/>
          </a:prstGeom>
        </p:spPr>
      </p:pic>
    </p:spTree>
    <p:extLst>
      <p:ext uri="{BB962C8B-B14F-4D97-AF65-F5344CB8AC3E}">
        <p14:creationId xmlns:p14="http://schemas.microsoft.com/office/powerpoint/2010/main" val="3678073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8C133F-7A4B-AF77-82E3-21A22CE555FA}"/>
              </a:ext>
            </a:extLst>
          </p:cNvPr>
          <p:cNvSpPr txBox="1"/>
          <p:nvPr/>
        </p:nvSpPr>
        <p:spPr>
          <a:xfrm>
            <a:off x="152400" y="76200"/>
            <a:ext cx="8686800" cy="3730317"/>
          </a:xfrm>
          <a:prstGeom prst="rect">
            <a:avLst/>
          </a:prstGeom>
          <a:noFill/>
        </p:spPr>
        <p:txBody>
          <a:bodyPr wrap="square">
            <a:spAutoFit/>
          </a:bodyPr>
          <a:lstStyle/>
          <a:p>
            <a:pPr algn="l">
              <a:lnSpc>
                <a:spcPct val="150000"/>
              </a:lnSpc>
              <a:buNone/>
            </a:pPr>
            <a:r>
              <a:rPr lang="en-US" sz="2000" b="1" i="0" dirty="0">
                <a:solidFill>
                  <a:srgbClr val="000000"/>
                </a:solidFill>
                <a:effectLst/>
                <a:latin typeface="Times New Roman" panose="02020603050405020304" pitchFamily="18" charset="0"/>
                <a:cs typeface="Times New Roman" panose="02020603050405020304" pitchFamily="18" charset="0"/>
              </a:rPr>
              <a:t>How Deep Q-Networks Work?</a:t>
            </a:r>
          </a:p>
          <a:p>
            <a:pPr algn="l">
              <a:lnSpc>
                <a:spcPct val="150000"/>
              </a:lnSpc>
              <a:buNone/>
            </a:pPr>
            <a:r>
              <a:rPr lang="en-US" sz="2000" b="1" i="0" dirty="0">
                <a:solidFill>
                  <a:srgbClr val="000000"/>
                </a:solidFill>
                <a:effectLst/>
                <a:latin typeface="Times New Roman" panose="02020603050405020304" pitchFamily="18" charset="0"/>
                <a:cs typeface="Times New Roman" panose="02020603050405020304" pitchFamily="18" charset="0"/>
              </a:rPr>
              <a:t>The working of DQN involves the following steps −</a:t>
            </a:r>
          </a:p>
          <a:p>
            <a:pPr algn="l">
              <a:lnSpc>
                <a:spcPct val="150000"/>
              </a:lnSpc>
              <a:buNone/>
            </a:pPr>
            <a:r>
              <a:rPr lang="en-US" sz="2000" b="1" i="0" dirty="0">
                <a:effectLst/>
                <a:latin typeface="Times New Roman" panose="02020603050405020304" pitchFamily="18" charset="0"/>
                <a:cs typeface="Times New Roman" panose="02020603050405020304" pitchFamily="18" charset="0"/>
              </a:rPr>
              <a:t>Neural Network Architecture − </a:t>
            </a:r>
          </a:p>
          <a:p>
            <a:pPr algn="l">
              <a:lnSpc>
                <a:spcPct val="150000"/>
              </a:lnSpc>
              <a:buNone/>
            </a:pPr>
            <a:endParaRPr lang="en-US" sz="2000" i="0" dirty="0">
              <a:solidFill>
                <a:srgbClr val="000000"/>
              </a:solidFill>
              <a:effectLst/>
              <a:latin typeface="Times New Roman" panose="02020603050405020304" pitchFamily="18" charset="0"/>
              <a:cs typeface="Times New Roman" panose="02020603050405020304" pitchFamily="18" charset="0"/>
            </a:endParaRPr>
          </a:p>
          <a:p>
            <a:pPr algn="l">
              <a:lnSpc>
                <a:spcPct val="150000"/>
              </a:lnSpc>
              <a:buNone/>
            </a:pPr>
            <a:r>
              <a:rPr lang="en-US" sz="2000" i="0" dirty="0">
                <a:solidFill>
                  <a:srgbClr val="000000"/>
                </a:solidFill>
                <a:effectLst/>
                <a:latin typeface="Times New Roman" panose="02020603050405020304" pitchFamily="18" charset="0"/>
                <a:cs typeface="Times New Roman" panose="02020603050405020304" pitchFamily="18" charset="0"/>
              </a:rPr>
              <a:t>The DQN uses a sequence of frames (such as images from a game) for input and generates a set of Q-values for every potential action at that particular state. the typical configuration includes convolutional layers for spatial relationships and fully connected layers for Q-values output.</a:t>
            </a:r>
          </a:p>
        </p:txBody>
      </p:sp>
      <p:sp>
        <p:nvSpPr>
          <p:cNvPr id="5" name="Rectangle 2">
            <a:extLst>
              <a:ext uri="{FF2B5EF4-FFF2-40B4-BE49-F238E27FC236}">
                <a16:creationId xmlns:a16="http://schemas.microsoft.com/office/drawing/2014/main" id="{EC1A4640-0523-F100-0C65-68BCF2D9F819}"/>
              </a:ext>
            </a:extLst>
          </p:cNvPr>
          <p:cNvSpPr>
            <a:spLocks noChangeArrowheads="1"/>
          </p:cNvSpPr>
          <p:nvPr/>
        </p:nvSpPr>
        <p:spPr bwMode="auto">
          <a:xfrm>
            <a:off x="152400" y="3875532"/>
            <a:ext cx="8153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traditional Q-learning, we use a </a:t>
            </a:r>
            <a:r>
              <a:rPr kumimoji="0" lang="en-US" altLang="en-US" sz="1800" b="1" i="0" u="none" strike="noStrike" cap="none" normalizeH="0" baseline="0" dirty="0">
                <a:ln>
                  <a:noFill/>
                </a:ln>
                <a:solidFill>
                  <a:schemeClr val="tx1"/>
                </a:solidFill>
                <a:effectLst/>
                <a:latin typeface="Arial" panose="020B0604020202020204" pitchFamily="34" charset="0"/>
              </a:rPr>
              <a:t>Q-table</a:t>
            </a:r>
            <a:r>
              <a:rPr kumimoji="0" lang="en-US" altLang="en-US" sz="1800" b="0" i="0" u="none" strike="noStrike" cap="none" normalizeH="0" baseline="0" dirty="0">
                <a:ln>
                  <a:noFill/>
                </a:ln>
                <a:solidFill>
                  <a:schemeClr val="tx1"/>
                </a:solidFill>
                <a:effectLst/>
                <a:latin typeface="Arial" panose="020B0604020202020204" pitchFamily="34" charset="0"/>
              </a:rPr>
              <a:t> to store Q-values (state-action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environments with large or continuous state spaces, a </a:t>
            </a:r>
            <a:r>
              <a:rPr kumimoji="0" lang="en-US" altLang="en-US" sz="1800" b="1" i="0" u="none" strike="noStrike" cap="none" normalizeH="0" baseline="0" dirty="0">
                <a:ln>
                  <a:noFill/>
                </a:ln>
                <a:solidFill>
                  <a:schemeClr val="tx1"/>
                </a:solidFill>
                <a:effectLst/>
                <a:latin typeface="Arial" panose="020B0604020202020204" pitchFamily="34" charset="0"/>
              </a:rPr>
              <a:t>Q-table is impossible</a:t>
            </a:r>
            <a:r>
              <a:rPr kumimoji="0" lang="en-US" altLang="en-US" sz="1800" b="0" i="0" u="none" strike="noStrike" cap="none" normalizeH="0" baseline="0" dirty="0">
                <a:ln>
                  <a:noFill/>
                </a:ln>
                <a:solidFill>
                  <a:schemeClr val="tx1"/>
                </a:solidFill>
                <a:effectLst/>
                <a:latin typeface="Arial" panose="020B0604020202020204" pitchFamily="34" charset="0"/>
              </a:rPr>
              <a:t> to maintain.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DQN replaces the Q-table with a neural network</a:t>
            </a:r>
            <a:r>
              <a:rPr kumimoji="0" lang="en-US" altLang="en-US" sz="1800" b="0" i="0" u="none" strike="noStrike" cap="none" normalizeH="0" baseline="0" dirty="0">
                <a:ln>
                  <a:noFill/>
                </a:ln>
                <a:solidFill>
                  <a:schemeClr val="tx1"/>
                </a:solidFill>
                <a:effectLst/>
                <a:latin typeface="Arial" panose="020B0604020202020204" pitchFamily="34" charset="0"/>
              </a:rPr>
              <a:t> that takes the current state as input and outputs Q-values for all possible actions.</a:t>
            </a:r>
          </a:p>
        </p:txBody>
      </p:sp>
    </p:spTree>
    <p:extLst>
      <p:ext uri="{BB962C8B-B14F-4D97-AF65-F5344CB8AC3E}">
        <p14:creationId xmlns:p14="http://schemas.microsoft.com/office/powerpoint/2010/main" val="3156253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77EB5C-0D31-A6AB-3D56-A636B72BAD57}"/>
              </a:ext>
            </a:extLst>
          </p:cNvPr>
          <p:cNvSpPr txBox="1"/>
          <p:nvPr/>
        </p:nvSpPr>
        <p:spPr>
          <a:xfrm>
            <a:off x="609600" y="1953468"/>
            <a:ext cx="7696200" cy="2120068"/>
          </a:xfrm>
          <a:prstGeom prst="rect">
            <a:avLst/>
          </a:prstGeom>
          <a:noFill/>
        </p:spPr>
        <p:txBody>
          <a:bodyPr wrap="square">
            <a:spAutoFit/>
          </a:bodyPr>
          <a:lstStyle/>
          <a:p>
            <a:pPr algn="l">
              <a:lnSpc>
                <a:spcPct val="150000"/>
              </a:lnSpc>
              <a:buNone/>
            </a:pPr>
            <a:r>
              <a:rPr lang="en-US" sz="1800" b="1" i="0" dirty="0">
                <a:effectLst/>
                <a:latin typeface="Times New Roman" panose="02020603050405020304" pitchFamily="18" charset="0"/>
                <a:cs typeface="Times New Roman" panose="02020603050405020304" pitchFamily="18" charset="0"/>
              </a:rPr>
              <a:t>Experience Replay</a:t>
            </a:r>
          </a:p>
          <a:p>
            <a:pPr algn="l">
              <a:lnSpc>
                <a:spcPct val="150000"/>
              </a:lnSpc>
              <a:buNone/>
            </a:pPr>
            <a:r>
              <a:rPr lang="en-US" sz="1800" i="0" dirty="0">
                <a:solidFill>
                  <a:srgbClr val="000000"/>
                </a:solidFill>
                <a:effectLst/>
                <a:latin typeface="Times New Roman" panose="02020603050405020304" pitchFamily="18" charset="0"/>
                <a:cs typeface="Times New Roman" panose="02020603050405020304" pitchFamily="18" charset="0"/>
              </a:rPr>
              <a:t>While training, the agent stores its interactions (state, action, reward, next state) in a replay buffer. Sampling random batches from this buffer trains the network, reducing correlation between consecutive experiences and improve training stability.</a:t>
            </a:r>
          </a:p>
        </p:txBody>
      </p:sp>
    </p:spTree>
    <p:extLst>
      <p:ext uri="{BB962C8B-B14F-4D97-AF65-F5344CB8AC3E}">
        <p14:creationId xmlns:p14="http://schemas.microsoft.com/office/powerpoint/2010/main" val="767792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594D71-BB26-34CD-3FDA-992120D2C8EE}"/>
              </a:ext>
            </a:extLst>
          </p:cNvPr>
          <p:cNvSpPr txBox="1"/>
          <p:nvPr/>
        </p:nvSpPr>
        <p:spPr>
          <a:xfrm>
            <a:off x="228600" y="10886"/>
            <a:ext cx="8915400" cy="6500306"/>
          </a:xfrm>
          <a:prstGeom prst="rect">
            <a:avLst/>
          </a:prstGeom>
          <a:noFill/>
        </p:spPr>
        <p:txBody>
          <a:bodyPr wrap="square">
            <a:spAutoFit/>
          </a:bodyPr>
          <a:lstStyle/>
          <a:p>
            <a:pPr algn="l">
              <a:lnSpc>
                <a:spcPct val="150000"/>
              </a:lnSpc>
              <a:buNone/>
            </a:pPr>
            <a:r>
              <a:rPr lang="en-US" sz="2000" b="1" i="0" dirty="0">
                <a:effectLst/>
                <a:latin typeface="Times New Roman" panose="02020603050405020304" pitchFamily="18" charset="0"/>
                <a:cs typeface="Times New Roman" panose="02020603050405020304" pitchFamily="18" charset="0"/>
              </a:rPr>
              <a:t>Target Network</a:t>
            </a:r>
          </a:p>
          <a:p>
            <a:pPr algn="l">
              <a:lnSpc>
                <a:spcPct val="150000"/>
              </a:lnSpc>
              <a:buNone/>
            </a:pPr>
            <a:r>
              <a:rPr lang="en-US" sz="2000" b="0" i="0" dirty="0">
                <a:solidFill>
                  <a:srgbClr val="000000"/>
                </a:solidFill>
                <a:effectLst/>
                <a:latin typeface="Times New Roman" panose="02020603050405020304" pitchFamily="18" charset="0"/>
                <a:cs typeface="Times New Roman" panose="02020603050405020304" pitchFamily="18" charset="0"/>
              </a:rPr>
              <a:t>In order to stabilize the training process, Deep Q-Networks employ a distinct target network for producing Q-value targets. the target network receives regular updates of weighs from the main network to minimize divergence risk while training.</a:t>
            </a:r>
          </a:p>
          <a:p>
            <a:pPr algn="l">
              <a:lnSpc>
                <a:spcPct val="150000"/>
              </a:lnSpc>
              <a:buNone/>
            </a:pPr>
            <a:r>
              <a:rPr lang="en-US" sz="2000" b="1" i="0" dirty="0">
                <a:effectLst/>
                <a:latin typeface="Times New Roman" panose="02020603050405020304" pitchFamily="18" charset="0"/>
                <a:cs typeface="Times New Roman" panose="02020603050405020304" pitchFamily="18" charset="0"/>
              </a:rPr>
              <a:t>Epsilon-Greedy Policy</a:t>
            </a:r>
          </a:p>
          <a:p>
            <a:pPr algn="l">
              <a:lnSpc>
                <a:spcPct val="150000"/>
              </a:lnSpc>
              <a:buNone/>
            </a:pPr>
            <a:r>
              <a:rPr lang="en-US" sz="2000" b="0" i="0" dirty="0">
                <a:solidFill>
                  <a:srgbClr val="000000"/>
                </a:solidFill>
                <a:effectLst/>
                <a:latin typeface="Times New Roman" panose="02020603050405020304" pitchFamily="18" charset="0"/>
                <a:cs typeface="Times New Roman" panose="02020603050405020304" pitchFamily="18" charset="0"/>
              </a:rPr>
              <a:t>The agent uses an epsilon-greedy strategy, where it selects a random action with probability ${\epsilon}$ and the action with highest Q-value with probability ${1- \epsilon}$. This balance between exploration and exploitation helps the agent learn effectively.</a:t>
            </a:r>
          </a:p>
          <a:p>
            <a:pPr algn="l">
              <a:lnSpc>
                <a:spcPct val="150000"/>
              </a:lnSpc>
              <a:buNone/>
            </a:pPr>
            <a:r>
              <a:rPr lang="en-US" sz="2000" b="1" i="0" dirty="0">
                <a:effectLst/>
                <a:latin typeface="Times New Roman" panose="02020603050405020304" pitchFamily="18" charset="0"/>
                <a:cs typeface="Times New Roman" panose="02020603050405020304" pitchFamily="18" charset="0"/>
              </a:rPr>
              <a:t>Training Process</a:t>
            </a:r>
          </a:p>
          <a:p>
            <a:pPr algn="l">
              <a:lnSpc>
                <a:spcPct val="150000"/>
              </a:lnSpc>
              <a:buNone/>
            </a:pPr>
            <a:r>
              <a:rPr lang="en-US" sz="2000" b="0" i="0" dirty="0">
                <a:solidFill>
                  <a:srgbClr val="000000"/>
                </a:solidFill>
                <a:effectLst/>
                <a:latin typeface="Times New Roman" panose="02020603050405020304" pitchFamily="18" charset="0"/>
                <a:cs typeface="Times New Roman" panose="02020603050405020304" pitchFamily="18" charset="0"/>
              </a:rPr>
              <a:t>The neural network is trained using gradient descent to minimize the loss between the predicted Q-values and the target Q-values. The target Q-values are calculated using the Bellman equation, which incorporates the reward received and the maximum Q-value of the </a:t>
            </a:r>
            <a:r>
              <a:rPr lang="en-US" sz="2000" b="0" i="0" dirty="0" err="1">
                <a:solidFill>
                  <a:srgbClr val="000000"/>
                </a:solidFill>
                <a:effectLst/>
                <a:latin typeface="Times New Roman" panose="02020603050405020304" pitchFamily="18" charset="0"/>
                <a:cs typeface="Times New Roman" panose="02020603050405020304" pitchFamily="18" charset="0"/>
              </a:rPr>
              <a:t>nect</a:t>
            </a:r>
            <a:r>
              <a:rPr lang="en-US" sz="2000" b="0" i="0" dirty="0">
                <a:solidFill>
                  <a:srgbClr val="000000"/>
                </a:solidFill>
                <a:effectLst/>
                <a:latin typeface="Times New Roman" panose="02020603050405020304" pitchFamily="18" charset="0"/>
                <a:cs typeface="Times New Roman" panose="02020603050405020304" pitchFamily="18" charset="0"/>
              </a:rPr>
              <a:t> state.</a:t>
            </a:r>
          </a:p>
        </p:txBody>
      </p:sp>
    </p:spTree>
    <p:extLst>
      <p:ext uri="{BB962C8B-B14F-4D97-AF65-F5344CB8AC3E}">
        <p14:creationId xmlns:p14="http://schemas.microsoft.com/office/powerpoint/2010/main" val="2836869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85800"/>
            <a:ext cx="9144000" cy="1323439"/>
          </a:xfrm>
          <a:prstGeom prst="rect">
            <a:avLst/>
          </a:prstGeom>
        </p:spPr>
        <p:txBody>
          <a:bodyPr wrap="square">
            <a:spAutoFit/>
          </a:bodyPr>
          <a:lstStyle/>
          <a:p>
            <a:pPr algn="just" fontAlgn="base"/>
            <a:r>
              <a:rPr lang="en-US" sz="2000" b="1" dirty="0">
                <a:latin typeface="Times New Roman" pitchFamily="18" charset="0"/>
                <a:cs typeface="Times New Roman" pitchFamily="18" charset="0"/>
              </a:rPr>
              <a:t>Deep Q Learning</a:t>
            </a:r>
          </a:p>
          <a:p>
            <a:pPr algn="just" fontAlgn="base"/>
            <a:r>
              <a:rPr lang="en-US" sz="2000" dirty="0">
                <a:latin typeface="Times New Roman" pitchFamily="18" charset="0"/>
                <a:cs typeface="Times New Roman" pitchFamily="18" charset="0"/>
              </a:rPr>
              <a:t>Deep Q Learning uses the Q-learning idea and takes it one step further. Instead of using a Q-table, </a:t>
            </a:r>
            <a:r>
              <a:rPr lang="en-US" sz="2000" b="1" dirty="0">
                <a:latin typeface="Times New Roman" pitchFamily="18" charset="0"/>
                <a:cs typeface="Times New Roman" pitchFamily="18" charset="0"/>
              </a:rPr>
              <a:t>we use a Neural Network </a:t>
            </a:r>
            <a:r>
              <a:rPr lang="en-US" sz="2000" dirty="0">
                <a:latin typeface="Times New Roman" pitchFamily="18" charset="0"/>
                <a:cs typeface="Times New Roman" pitchFamily="18" charset="0"/>
              </a:rPr>
              <a:t>that takes a state and approximates the Q-values for each action based on that state.</a:t>
            </a:r>
          </a:p>
        </p:txBody>
      </p:sp>
      <p:pic>
        <p:nvPicPr>
          <p:cNvPr id="1026" name="Picture 2" descr="https://www.assemblyai.com/blog/content/images/2022/02/rl5.png"/>
          <p:cNvPicPr>
            <a:picLocks noChangeAspect="1" noChangeArrowheads="1"/>
          </p:cNvPicPr>
          <p:nvPr/>
        </p:nvPicPr>
        <p:blipFill>
          <a:blip r:embed="rId2"/>
          <a:srcRect/>
          <a:stretch>
            <a:fillRect/>
          </a:stretch>
        </p:blipFill>
        <p:spPr bwMode="auto">
          <a:xfrm>
            <a:off x="228600" y="2514600"/>
            <a:ext cx="8686800" cy="40386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740307"/>
          </a:xfrm>
          <a:prstGeom prst="rect">
            <a:avLst/>
          </a:prstGeom>
        </p:spPr>
        <p:txBody>
          <a:bodyPr wrap="square">
            <a:spAutoFit/>
          </a:bodyPr>
          <a:lstStyle/>
          <a:p>
            <a:pPr algn="just"/>
            <a:r>
              <a:rPr lang="en-US" sz="2400" dirty="0">
                <a:latin typeface="Times New Roman" pitchFamily="18" charset="0"/>
                <a:cs typeface="Times New Roman" pitchFamily="18" charset="0"/>
              </a:rPr>
              <a:t>The deep Q-learning model breaks the chain in order to find the optimal Q-value function. It determines this by combining Q-learning and a neural network. The uses of the deep Q-learning algorithm can be stated as finding the input and the optimal Q-value for all possible actions as the output.</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We do this because using a classic Q-table is not very scalable. It might work for simple games, but in a more complex game with dozens of possible actions and game states the Q-table will soon get complex and cannot be solved efficiently anymore.</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use a Deep Neural Network that gets the state as input, and produces different Q values for each action</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Then again we choose the action with the highest Q-value. The learning process is still the same with the iterative update approach,  but instead of updating the Q-Table, here we update the weights in the neural network so that the outputs are improved.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81000"/>
            <a:ext cx="9144000" cy="4893647"/>
          </a:xfrm>
          <a:prstGeom prst="rect">
            <a:avLst/>
          </a:prstGeom>
        </p:spPr>
        <p:txBody>
          <a:bodyPr wrap="square">
            <a:spAutoFit/>
          </a:bodyPr>
          <a:lstStyle/>
          <a:p>
            <a:pPr algn="just"/>
            <a:r>
              <a:rPr lang="en-US" sz="2400" dirty="0">
                <a:latin typeface="Times New Roman" pitchFamily="18" charset="0"/>
                <a:cs typeface="Times New Roman" pitchFamily="18" charset="0"/>
              </a:rPr>
              <a:t>What are the steps involved in reinforcement learning using deep Q-learning networks (DQNs)?</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All the past experience is stored by the user in memory.</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The next action is determined by the maximum output of the Q-network.</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The loss function here is mean squared error of the predicted Q-value and the target Q-value – Q*. This is basically a regression problem.</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However, we do not know the target or actual value here as we are dealing with a reinforcement learning problem. Going back to the Q-value update equation derived </a:t>
            </a:r>
            <a:r>
              <a:rPr lang="en-US" sz="2400" dirty="0" err="1">
                <a:latin typeface="Times New Roman" pitchFamily="18" charset="0"/>
                <a:cs typeface="Times New Roman" pitchFamily="18" charset="0"/>
              </a:rPr>
              <a:t>fromthe</a:t>
            </a:r>
            <a:r>
              <a:rPr lang="en-US" sz="2400" dirty="0">
                <a:latin typeface="Times New Roman" pitchFamily="18" charset="0"/>
                <a:cs typeface="Times New Roman" pitchFamily="18" charset="0"/>
              </a:rPr>
              <a:t> Bellman equation. we have: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0" y="381000"/>
            <a:ext cx="4158511" cy="461665"/>
          </a:xfrm>
          <a:prstGeom prst="rect">
            <a:avLst/>
          </a:prstGeom>
        </p:spPr>
        <p:txBody>
          <a:bodyPr wrap="none">
            <a:spAutoFit/>
          </a:bodyPr>
          <a:lstStyle/>
          <a:p>
            <a:pPr algn="ctr" fontAlgn="base"/>
            <a:r>
              <a:rPr lang="en-US" sz="2400" b="1" dirty="0">
                <a:latin typeface="Times New Roman" pitchFamily="18" charset="0"/>
                <a:cs typeface="Times New Roman" pitchFamily="18" charset="0"/>
              </a:rPr>
              <a:t>Challenges in deep Q-learning</a:t>
            </a:r>
          </a:p>
        </p:txBody>
      </p:sp>
      <p:pic>
        <p:nvPicPr>
          <p:cNvPr id="15362" name="Picture 2" descr="Deep Q-learning challenges.webp"/>
          <p:cNvPicPr>
            <a:picLocks noChangeAspect="1" noChangeArrowheads="1"/>
          </p:cNvPicPr>
          <p:nvPr/>
        </p:nvPicPr>
        <p:blipFill>
          <a:blip r:embed="rId2"/>
          <a:srcRect b="8000"/>
          <a:stretch>
            <a:fillRect/>
          </a:stretch>
        </p:blipFill>
        <p:spPr bwMode="auto">
          <a:xfrm>
            <a:off x="0" y="990600"/>
            <a:ext cx="9144000" cy="56388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43841"/>
            <a:ext cx="9144000" cy="4154984"/>
          </a:xfrm>
          <a:prstGeom prst="rect">
            <a:avLst/>
          </a:prstGeom>
        </p:spPr>
        <p:txBody>
          <a:bodyPr wrap="square">
            <a:spAutoFit/>
          </a:bodyPr>
          <a:lstStyle/>
          <a:p>
            <a:pPr algn="just" fontAlgn="base"/>
            <a:r>
              <a:rPr lang="en-US" sz="2400" b="1" dirty="0">
                <a:latin typeface="Times New Roman" pitchFamily="18" charset="0"/>
                <a:cs typeface="Times New Roman" pitchFamily="18" charset="0"/>
              </a:rPr>
              <a:t>Sample efficiency</a:t>
            </a:r>
          </a:p>
          <a:p>
            <a:pPr algn="just" fontAlgn="base"/>
            <a:r>
              <a:rPr lang="en-US" sz="2400" dirty="0">
                <a:latin typeface="Times New Roman" pitchFamily="18" charset="0"/>
                <a:cs typeface="Times New Roman" pitchFamily="18" charset="0"/>
              </a:rPr>
              <a:t>Finding an optimal and efficient way of learning from a limited number of samples is one of the critical challenges of reinforcement learning.</a:t>
            </a:r>
          </a:p>
          <a:p>
            <a:pPr algn="just" fontAlgn="base"/>
            <a:endParaRPr lang="en-US" sz="2400" dirty="0">
              <a:latin typeface="Times New Roman" pitchFamily="18" charset="0"/>
              <a:cs typeface="Times New Roman" pitchFamily="18" charset="0"/>
            </a:endParaRPr>
          </a:p>
          <a:p>
            <a:pPr algn="just" fontAlgn="base"/>
            <a:r>
              <a:rPr lang="en-US" sz="2400" dirty="0">
                <a:latin typeface="Times New Roman" pitchFamily="18" charset="0"/>
                <a:cs typeface="Times New Roman" pitchFamily="18" charset="0"/>
              </a:rPr>
              <a:t>The sample efficiency refers to an algorithm that optimizes the given sample to its maximum extent. It also refers to the amount of experience that an algorithm must develop during training to perform efficiently. A lot of time is required for the RL system to be efficient. </a:t>
            </a:r>
          </a:p>
          <a:p>
            <a:pPr algn="just" fontAlgn="base"/>
            <a:endParaRPr lang="en-US" sz="2400" dirty="0">
              <a:latin typeface="Times New Roman" pitchFamily="18" charset="0"/>
              <a:cs typeface="Times New Roman" pitchFamily="18" charset="0"/>
            </a:endParaRPr>
          </a:p>
          <a:p>
            <a:pPr algn="just" fontAlgn="base"/>
            <a:r>
              <a:rPr lang="en-US" sz="2400" dirty="0">
                <a:latin typeface="Times New Roman" pitchFamily="18" charset="0"/>
                <a:cs typeface="Times New Roman" pitchFamily="18" charset="0"/>
              </a:rPr>
              <a:t>For example, </a:t>
            </a:r>
            <a:r>
              <a:rPr lang="en-US" sz="2400" dirty="0" err="1">
                <a:latin typeface="Times New Roman" pitchFamily="18" charset="0"/>
                <a:cs typeface="Times New Roman" pitchFamily="18" charset="0"/>
              </a:rPr>
              <a:t>AlphaGo</a:t>
            </a:r>
            <a:r>
              <a:rPr lang="en-US" sz="2400" dirty="0">
                <a:latin typeface="Times New Roman" pitchFamily="18" charset="0"/>
                <a:cs typeface="Times New Roman" pitchFamily="18" charset="0"/>
              </a:rPr>
              <a:t> Zero beat the world champion after playing five million Go games.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DE7BAB-FE64-B33A-769A-6A8CDD09A00D}"/>
              </a:ext>
            </a:extLst>
          </p:cNvPr>
          <p:cNvSpPr txBox="1"/>
          <p:nvPr/>
        </p:nvSpPr>
        <p:spPr>
          <a:xfrm>
            <a:off x="76200" y="1166843"/>
            <a:ext cx="8610600" cy="4893647"/>
          </a:xfrm>
          <a:prstGeom prst="rect">
            <a:avLst/>
          </a:prstGeom>
          <a:noFill/>
        </p:spPr>
        <p:txBody>
          <a:bodyPr wrap="square">
            <a:spAutoFit/>
          </a:bodyPr>
          <a:lstStyle/>
          <a:p>
            <a:pPr>
              <a:buNone/>
            </a:pPr>
            <a:r>
              <a:rPr lang="en-US" sz="2400" b="1" dirty="0"/>
              <a:t>Real-Life Example (Easy to Understand)</a:t>
            </a:r>
          </a:p>
          <a:p>
            <a:pPr>
              <a:buNone/>
            </a:pPr>
            <a:r>
              <a:rPr lang="en-US" sz="2400" b="1" dirty="0"/>
              <a:t> Example 1: Learning to Ride a Bicycle</a:t>
            </a:r>
          </a:p>
          <a:p>
            <a:pPr>
              <a:buNone/>
            </a:pPr>
            <a:r>
              <a:rPr lang="en-US" sz="2400" dirty="0"/>
              <a:t>Imagine two children learning to ride a bicycle.</a:t>
            </a:r>
          </a:p>
          <a:p>
            <a:pPr>
              <a:buNone/>
            </a:pPr>
            <a:r>
              <a:rPr lang="en-US" sz="2400" b="1" dirty="0"/>
              <a:t>Child A:</a:t>
            </a:r>
          </a:p>
          <a:p>
            <a:pPr>
              <a:buFont typeface="Arial" panose="020B0604020202020204" pitchFamily="34" charset="0"/>
              <a:buChar char="•"/>
            </a:pPr>
            <a:r>
              <a:rPr lang="en-US" sz="2400" dirty="0"/>
              <a:t>Learns balance after </a:t>
            </a:r>
            <a:r>
              <a:rPr lang="en-US" sz="2400" b="1" dirty="0"/>
              <a:t>5–6 attempts</a:t>
            </a:r>
            <a:endParaRPr lang="en-US" sz="2400" dirty="0"/>
          </a:p>
          <a:p>
            <a:pPr>
              <a:buFont typeface="Arial" panose="020B0604020202020204" pitchFamily="34" charset="0"/>
              <a:buChar char="•"/>
            </a:pPr>
            <a:r>
              <a:rPr lang="en-US" sz="2400" dirty="0"/>
              <a:t>Quickly understands how to pedal and steer</a:t>
            </a:r>
          </a:p>
          <a:p>
            <a:pPr>
              <a:buNone/>
            </a:pPr>
            <a:r>
              <a:rPr lang="en-US" sz="2400" dirty="0"/>
              <a:t>This child is </a:t>
            </a:r>
            <a:r>
              <a:rPr lang="en-US" sz="2400" b="1" dirty="0"/>
              <a:t>sample efficient</a:t>
            </a:r>
            <a:r>
              <a:rPr lang="en-US" sz="2400" dirty="0"/>
              <a:t> (learns from few experiences).</a:t>
            </a:r>
          </a:p>
          <a:p>
            <a:pPr>
              <a:buNone/>
            </a:pPr>
            <a:r>
              <a:rPr lang="en-US" sz="2400" b="1" dirty="0"/>
              <a:t>Child B:</a:t>
            </a:r>
          </a:p>
          <a:p>
            <a:pPr>
              <a:buFont typeface="Arial" panose="020B0604020202020204" pitchFamily="34" charset="0"/>
              <a:buChar char="•"/>
            </a:pPr>
            <a:r>
              <a:rPr lang="en-US" sz="2400" dirty="0"/>
              <a:t>Falls </a:t>
            </a:r>
            <a:r>
              <a:rPr lang="en-US" sz="2400" b="1" dirty="0"/>
              <a:t>200 times</a:t>
            </a:r>
            <a:endParaRPr lang="en-US" sz="2400" dirty="0"/>
          </a:p>
          <a:p>
            <a:pPr>
              <a:buFont typeface="Arial" panose="020B0604020202020204" pitchFamily="34" charset="0"/>
              <a:buChar char="•"/>
            </a:pPr>
            <a:r>
              <a:rPr lang="en-US" sz="2400" dirty="0"/>
              <a:t>Takes weeks to learn balance</a:t>
            </a:r>
          </a:p>
          <a:p>
            <a:pPr>
              <a:buNone/>
            </a:pPr>
            <a:r>
              <a:rPr lang="en-US" sz="2400" dirty="0"/>
              <a:t>This child is </a:t>
            </a:r>
            <a:r>
              <a:rPr lang="en-US" sz="2400" b="1" dirty="0"/>
              <a:t>not sample efficient</a:t>
            </a:r>
            <a:r>
              <a:rPr lang="en-US" sz="2400" dirty="0"/>
              <a:t> (needs many experiences).</a:t>
            </a:r>
          </a:p>
          <a:p>
            <a:pPr>
              <a:buNone/>
            </a:pPr>
            <a:r>
              <a:rPr lang="en-US" sz="2400" dirty="0"/>
              <a:t>Reinforcement learning works like Child B in many cases — it needs thousands or millions of tries to learn.</a:t>
            </a:r>
          </a:p>
        </p:txBody>
      </p:sp>
    </p:spTree>
    <p:extLst>
      <p:ext uri="{BB962C8B-B14F-4D97-AF65-F5344CB8AC3E}">
        <p14:creationId xmlns:p14="http://schemas.microsoft.com/office/powerpoint/2010/main" val="542134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889844"/>
            <a:ext cx="8534400" cy="5632311"/>
          </a:xfrm>
          <a:prstGeom prst="rect">
            <a:avLst/>
          </a:prstGeom>
        </p:spPr>
        <p:txBody>
          <a:bodyPr wrap="square">
            <a:spAutoFit/>
          </a:bodyPr>
          <a:lstStyle/>
          <a:p>
            <a:pPr algn="just" fontAlgn="base"/>
            <a:r>
              <a:rPr lang="en-US" sz="2400" b="1" dirty="0">
                <a:latin typeface="Times New Roman" pitchFamily="18" charset="0"/>
                <a:cs typeface="Times New Roman" pitchFamily="18" charset="0"/>
              </a:rPr>
              <a:t>Reproducibility issues</a:t>
            </a:r>
          </a:p>
          <a:p>
            <a:pPr algn="just" fontAlgn="base"/>
            <a:r>
              <a:rPr lang="en-US" sz="2400" dirty="0">
                <a:latin typeface="Times New Roman" pitchFamily="18" charset="0"/>
                <a:cs typeface="Times New Roman" pitchFamily="18" charset="0"/>
              </a:rPr>
              <a:t>When trying to replicate </a:t>
            </a:r>
            <a:r>
              <a:rPr lang="en-US" sz="2400" dirty="0" err="1">
                <a:latin typeface="Times New Roman" pitchFamily="18" charset="0"/>
                <a:cs typeface="Times New Roman" pitchFamily="18" charset="0"/>
              </a:rPr>
              <a:t>DeepMind's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AlphaZero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Facebook</a:t>
            </a:r>
            <a:r>
              <a:rPr lang="en-US" sz="2400" dirty="0">
                <a:latin typeface="Times New Roman" pitchFamily="18" charset="0"/>
                <a:cs typeface="Times New Roman" pitchFamily="18" charset="0"/>
              </a:rPr>
              <a:t> researchers said: “When combined with the unavailability of code and models, the result is that the approach is very difficult, if not impossible, to reproduce, study, improve upon, and extend.”</a:t>
            </a:r>
          </a:p>
          <a:p>
            <a:pPr algn="just" fontAlgn="base"/>
            <a:endParaRPr lang="en-US" sz="2400" dirty="0">
              <a:latin typeface="Times New Roman" pitchFamily="18" charset="0"/>
              <a:cs typeface="Times New Roman" pitchFamily="18" charset="0"/>
            </a:endParaRPr>
          </a:p>
          <a:p>
            <a:pPr algn="just" fontAlgn="base"/>
            <a:r>
              <a:rPr lang="en-US" sz="2400" dirty="0">
                <a:latin typeface="Times New Roman" pitchFamily="18" charset="0"/>
                <a:cs typeface="Times New Roman" pitchFamily="18" charset="0"/>
              </a:rPr>
              <a:t>Neuronal networks are so difficult to understand that even their creators don't fully comprehend them. They are also becoming increasingly complex, supported by large datasets, powerful computers, and many hours of training.</a:t>
            </a:r>
          </a:p>
          <a:p>
            <a:pPr algn="just" fontAlgn="base"/>
            <a:endParaRPr lang="en-US" sz="2400" dirty="0">
              <a:latin typeface="Times New Roman" pitchFamily="18" charset="0"/>
              <a:cs typeface="Times New Roman" pitchFamily="18" charset="0"/>
            </a:endParaRPr>
          </a:p>
          <a:p>
            <a:pPr algn="just" fontAlgn="base"/>
            <a:r>
              <a:rPr lang="en-US" sz="2400" dirty="0">
                <a:latin typeface="Times New Roman" pitchFamily="18" charset="0"/>
                <a:cs typeface="Times New Roman" pitchFamily="18" charset="0"/>
              </a:rPr>
              <a:t>Recent years have seen an increase in AI efforts to resolve the so-called reproducibility crisis. As a result of this crisis, AI researchers report algorithm runs selectively or produce idealized results using GPU power.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A0D0C5-748A-DDBD-475E-D8A7DE6E3D8E}"/>
              </a:ext>
            </a:extLst>
          </p:cNvPr>
          <p:cNvSpPr txBox="1"/>
          <p:nvPr/>
        </p:nvSpPr>
        <p:spPr>
          <a:xfrm>
            <a:off x="304800" y="197346"/>
            <a:ext cx="8610600" cy="5355312"/>
          </a:xfrm>
          <a:prstGeom prst="rect">
            <a:avLst/>
          </a:prstGeom>
          <a:noFill/>
        </p:spPr>
        <p:txBody>
          <a:bodyPr wrap="square">
            <a:spAutoFit/>
          </a:bodyPr>
          <a:lstStyle/>
          <a:p>
            <a:pPr>
              <a:buNone/>
            </a:pPr>
            <a:r>
              <a:rPr lang="en-US" b="1" dirty="0"/>
              <a:t>Real-Life Example</a:t>
            </a:r>
          </a:p>
          <a:p>
            <a:pPr>
              <a:buNone/>
            </a:pPr>
            <a:r>
              <a:rPr lang="en-US" dirty="0"/>
              <a:t>Imagine this situation:</a:t>
            </a:r>
          </a:p>
          <a:p>
            <a:pPr>
              <a:buNone/>
            </a:pPr>
            <a:r>
              <a:rPr lang="en-US" b="1" dirty="0"/>
              <a:t>Baking Competition Example</a:t>
            </a:r>
          </a:p>
          <a:p>
            <a:pPr>
              <a:buNone/>
            </a:pPr>
            <a:r>
              <a:rPr lang="en-US" dirty="0"/>
              <a:t>A famous chef wins a baking competition with a “perfect chocolate cake.”</a:t>
            </a:r>
          </a:p>
          <a:p>
            <a:pPr>
              <a:buNone/>
            </a:pPr>
            <a:r>
              <a:rPr lang="en-US" dirty="0"/>
              <a:t>He publishes the recipe but:</a:t>
            </a:r>
          </a:p>
          <a:p>
            <a:pPr>
              <a:buFont typeface="Arial" panose="020B0604020202020204" pitchFamily="34" charset="0"/>
              <a:buChar char="•"/>
            </a:pPr>
            <a:r>
              <a:rPr lang="en-US" dirty="0"/>
              <a:t>Does not mention exact oven temperature calibration</a:t>
            </a:r>
          </a:p>
          <a:p>
            <a:pPr>
              <a:buFont typeface="Arial" panose="020B0604020202020204" pitchFamily="34" charset="0"/>
              <a:buChar char="•"/>
            </a:pPr>
            <a:r>
              <a:rPr lang="en-US" dirty="0"/>
              <a:t>Does not mention humidity conditions</a:t>
            </a:r>
          </a:p>
          <a:p>
            <a:pPr>
              <a:buFont typeface="Arial" panose="020B0604020202020204" pitchFamily="34" charset="0"/>
              <a:buChar char="•"/>
            </a:pPr>
            <a:r>
              <a:rPr lang="en-US" dirty="0"/>
              <a:t>Uses a special imported ingredient not easily available</a:t>
            </a:r>
          </a:p>
          <a:p>
            <a:pPr>
              <a:buFont typeface="Arial" panose="020B0604020202020204" pitchFamily="34" charset="0"/>
              <a:buChar char="•"/>
            </a:pPr>
            <a:r>
              <a:rPr lang="en-US" dirty="0"/>
              <a:t>Uses a professional oven worth $50,000</a:t>
            </a:r>
          </a:p>
          <a:p>
            <a:pPr>
              <a:buNone/>
            </a:pPr>
            <a:r>
              <a:rPr lang="en-US" dirty="0"/>
              <a:t>Now you try to bake the same cake at home.</a:t>
            </a:r>
          </a:p>
          <a:p>
            <a:pPr>
              <a:buNone/>
            </a:pPr>
            <a:r>
              <a:rPr lang="en-US" dirty="0"/>
              <a:t>Even if you follow the recipe exactly:</a:t>
            </a:r>
          </a:p>
          <a:p>
            <a:pPr>
              <a:buFont typeface="Arial" panose="020B0604020202020204" pitchFamily="34" charset="0"/>
              <a:buChar char="•"/>
            </a:pPr>
            <a:r>
              <a:rPr lang="en-US" dirty="0"/>
              <a:t>Your cake tastes different</a:t>
            </a:r>
          </a:p>
          <a:p>
            <a:pPr>
              <a:buFont typeface="Arial" panose="020B0604020202020204" pitchFamily="34" charset="0"/>
              <a:buChar char="•"/>
            </a:pPr>
            <a:r>
              <a:rPr lang="en-US" dirty="0"/>
              <a:t>Texture is slightly off</a:t>
            </a:r>
          </a:p>
          <a:p>
            <a:pPr>
              <a:buFont typeface="Arial" panose="020B0604020202020204" pitchFamily="34" charset="0"/>
              <a:buChar char="•"/>
            </a:pPr>
            <a:r>
              <a:rPr lang="en-US" dirty="0"/>
              <a:t>It doesn’t look the same</a:t>
            </a:r>
          </a:p>
          <a:p>
            <a:pPr>
              <a:buNone/>
            </a:pPr>
            <a:r>
              <a:rPr lang="en-US" dirty="0"/>
              <a:t>You wonder:</a:t>
            </a:r>
            <a:br>
              <a:rPr lang="en-US" dirty="0"/>
            </a:br>
            <a:r>
              <a:rPr lang="en-US" dirty="0"/>
              <a:t>“Is the recipe incomplete?”</a:t>
            </a:r>
            <a:br>
              <a:rPr lang="en-US" dirty="0"/>
            </a:br>
            <a:r>
              <a:rPr lang="en-US" dirty="0"/>
              <a:t>“Did the chef leave out details?”</a:t>
            </a:r>
            <a:br>
              <a:rPr lang="en-US" dirty="0"/>
            </a:br>
            <a:r>
              <a:rPr lang="en-US" dirty="0"/>
              <a:t>“Is my oven the problem?”</a:t>
            </a:r>
          </a:p>
          <a:p>
            <a:pPr>
              <a:buNone/>
            </a:pPr>
            <a:r>
              <a:rPr lang="en-US" dirty="0"/>
              <a:t>That is exactly what happens with AI reproducibility.</a:t>
            </a:r>
          </a:p>
        </p:txBody>
      </p:sp>
    </p:spTree>
    <p:extLst>
      <p:ext uri="{BB962C8B-B14F-4D97-AF65-F5344CB8AC3E}">
        <p14:creationId xmlns:p14="http://schemas.microsoft.com/office/powerpoint/2010/main" val="2743078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D6051E-73A4-8A8E-2797-C323C21FAE00}"/>
              </a:ext>
            </a:extLst>
          </p:cNvPr>
          <p:cNvSpPr txBox="1"/>
          <p:nvPr/>
        </p:nvSpPr>
        <p:spPr>
          <a:xfrm>
            <a:off x="228600" y="751344"/>
            <a:ext cx="8610600" cy="5909310"/>
          </a:xfrm>
          <a:prstGeom prst="rect">
            <a:avLst/>
          </a:prstGeom>
          <a:noFill/>
        </p:spPr>
        <p:txBody>
          <a:bodyPr wrap="square">
            <a:spAutoFit/>
          </a:bodyPr>
          <a:lstStyle/>
          <a:p>
            <a:pPr>
              <a:buNone/>
            </a:pPr>
            <a:r>
              <a:rPr lang="en-US" b="1" dirty="0"/>
              <a:t>Real AI Example</a:t>
            </a:r>
          </a:p>
          <a:p>
            <a:pPr>
              <a:buNone/>
            </a:pPr>
            <a:r>
              <a:rPr lang="en-US" dirty="0"/>
              <a:t>Suppose a research lab publishes a paper saying:</a:t>
            </a:r>
          </a:p>
          <a:p>
            <a:pPr>
              <a:buNone/>
            </a:pPr>
            <a:r>
              <a:rPr lang="en-US" dirty="0"/>
              <a:t>“Our new AI model achieves 99% accuracy.”</a:t>
            </a:r>
          </a:p>
          <a:p>
            <a:pPr>
              <a:buNone/>
            </a:pPr>
            <a:r>
              <a:rPr lang="en-US" dirty="0"/>
              <a:t>But:</a:t>
            </a:r>
          </a:p>
          <a:p>
            <a:pPr>
              <a:buFont typeface="Arial" panose="020B0604020202020204" pitchFamily="34" charset="0"/>
              <a:buChar char="•"/>
            </a:pPr>
            <a:r>
              <a:rPr lang="en-US" dirty="0"/>
              <a:t>They trained it on 8 high-end GPUs</a:t>
            </a:r>
          </a:p>
          <a:p>
            <a:pPr>
              <a:buFont typeface="Arial" panose="020B0604020202020204" pitchFamily="34" charset="0"/>
              <a:buChar char="•"/>
            </a:pPr>
            <a:r>
              <a:rPr lang="en-US" dirty="0"/>
              <a:t>They ran 20 experiments but only reported the best result</a:t>
            </a:r>
          </a:p>
          <a:p>
            <a:pPr>
              <a:buFont typeface="Arial" panose="020B0604020202020204" pitchFamily="34" charset="0"/>
              <a:buChar char="•"/>
            </a:pPr>
            <a:r>
              <a:rPr lang="en-US" dirty="0"/>
              <a:t>They tuned hyperparameters for weeks</a:t>
            </a:r>
          </a:p>
          <a:p>
            <a:pPr>
              <a:buFont typeface="Arial" panose="020B0604020202020204" pitchFamily="34" charset="0"/>
              <a:buChar char="•"/>
            </a:pPr>
            <a:r>
              <a:rPr lang="en-US" dirty="0"/>
              <a:t>They did not release the training code</a:t>
            </a:r>
          </a:p>
          <a:p>
            <a:pPr>
              <a:buNone/>
            </a:pPr>
            <a:r>
              <a:rPr lang="en-US" dirty="0"/>
              <a:t>Another university tries:</a:t>
            </a:r>
          </a:p>
          <a:p>
            <a:pPr>
              <a:buFont typeface="Arial" panose="020B0604020202020204" pitchFamily="34" charset="0"/>
              <a:buChar char="•"/>
            </a:pPr>
            <a:r>
              <a:rPr lang="en-US" dirty="0"/>
              <a:t>They only have 1 GPU</a:t>
            </a:r>
          </a:p>
          <a:p>
            <a:pPr>
              <a:buFont typeface="Arial" panose="020B0604020202020204" pitchFamily="34" charset="0"/>
              <a:buChar char="•"/>
            </a:pPr>
            <a:r>
              <a:rPr lang="en-US" dirty="0"/>
              <a:t>They follow the paper exactly</a:t>
            </a:r>
          </a:p>
          <a:p>
            <a:pPr>
              <a:buFont typeface="Arial" panose="020B0604020202020204" pitchFamily="34" charset="0"/>
              <a:buChar char="•"/>
            </a:pPr>
            <a:r>
              <a:rPr lang="en-US" dirty="0"/>
              <a:t>They get 91% accuracy</a:t>
            </a:r>
          </a:p>
          <a:p>
            <a:pPr>
              <a:buNone/>
            </a:pPr>
            <a:r>
              <a:rPr lang="en-US" dirty="0"/>
              <a:t>Now they cannot reproduce the claimed result.</a:t>
            </a:r>
          </a:p>
          <a:p>
            <a:pPr>
              <a:buNone/>
            </a:pPr>
            <a:r>
              <a:rPr lang="en-US" dirty="0"/>
              <a:t>This creates:</a:t>
            </a:r>
          </a:p>
          <a:p>
            <a:pPr>
              <a:buFont typeface="Arial" panose="020B0604020202020204" pitchFamily="34" charset="0"/>
              <a:buChar char="•"/>
            </a:pPr>
            <a:r>
              <a:rPr lang="en-US" dirty="0"/>
              <a:t>Lack of trust</a:t>
            </a:r>
          </a:p>
          <a:p>
            <a:pPr>
              <a:buFont typeface="Arial" panose="020B0604020202020204" pitchFamily="34" charset="0"/>
              <a:buChar char="•"/>
            </a:pPr>
            <a:r>
              <a:rPr lang="en-US" dirty="0"/>
              <a:t>Difficulty improving the method</a:t>
            </a:r>
          </a:p>
          <a:p>
            <a:pPr>
              <a:buFont typeface="Arial" panose="020B0604020202020204" pitchFamily="34" charset="0"/>
              <a:buChar char="•"/>
            </a:pPr>
            <a:r>
              <a:rPr lang="en-US" dirty="0"/>
              <a:t>Wasted research effort</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AI reproducibility crisis =</a:t>
            </a:r>
            <a:br>
              <a:rPr lang="en-US" dirty="0"/>
            </a:br>
            <a:r>
              <a:rPr lang="en-US" dirty="0"/>
              <a:t>"Only the original lab can reliably get the published results."</a:t>
            </a:r>
          </a:p>
        </p:txBody>
      </p:sp>
    </p:spTree>
    <p:extLst>
      <p:ext uri="{BB962C8B-B14F-4D97-AF65-F5344CB8AC3E}">
        <p14:creationId xmlns:p14="http://schemas.microsoft.com/office/powerpoint/2010/main" val="106930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0"/>
            <a:ext cx="8610600" cy="5262979"/>
          </a:xfrm>
          <a:prstGeom prst="rect">
            <a:avLst/>
          </a:prstGeom>
        </p:spPr>
        <p:txBody>
          <a:bodyPr wrap="square">
            <a:spAutoFit/>
          </a:bodyPr>
          <a:lstStyle/>
          <a:p>
            <a:pPr fontAlgn="base"/>
            <a:r>
              <a:rPr lang="en-US" sz="2400" b="1" dirty="0">
                <a:latin typeface="Times New Roman" pitchFamily="18" charset="0"/>
                <a:cs typeface="Times New Roman" pitchFamily="18" charset="0"/>
              </a:rPr>
              <a:t>Performing in real-life scenarios</a:t>
            </a:r>
          </a:p>
          <a:p>
            <a:endParaRPr lang="en-US" sz="2400" dirty="0"/>
          </a:p>
          <a:p>
            <a:r>
              <a:rPr lang="en-US" sz="2400" dirty="0"/>
              <a:t>In Reinforcement Learning (RL), agents are usually trained in </a:t>
            </a:r>
            <a:r>
              <a:rPr lang="en-US" sz="2400" b="1" dirty="0"/>
              <a:t>artificial or simulated environments</a:t>
            </a:r>
            <a:r>
              <a:rPr lang="en-US" sz="2400" dirty="0"/>
              <a:t> because:</a:t>
            </a:r>
          </a:p>
          <a:p>
            <a:r>
              <a:rPr lang="en-US" sz="2400" dirty="0"/>
              <a:t>They can fail safely.</a:t>
            </a:r>
          </a:p>
          <a:p>
            <a:r>
              <a:rPr lang="en-US" sz="2400" dirty="0"/>
              <a:t>They can try millions of times.</a:t>
            </a:r>
          </a:p>
          <a:p>
            <a:r>
              <a:rPr lang="en-US" sz="2400" dirty="0"/>
              <a:t>There is no real-world damage.</a:t>
            </a:r>
          </a:p>
          <a:p>
            <a:endParaRPr lang="en-US" sz="2400" dirty="0"/>
          </a:p>
          <a:p>
            <a:r>
              <a:rPr lang="en-US" sz="2400" dirty="0"/>
              <a:t>But in real life:</a:t>
            </a:r>
          </a:p>
          <a:p>
            <a:r>
              <a:rPr lang="en-US" sz="2400" dirty="0"/>
              <a:t>Mistakes can be dangerous.</a:t>
            </a:r>
          </a:p>
          <a:p>
            <a:r>
              <a:rPr lang="en-US" sz="2400" dirty="0"/>
              <a:t>The environment is complex.</a:t>
            </a:r>
          </a:p>
          <a:p>
            <a:r>
              <a:rPr lang="en-US" sz="2400" dirty="0"/>
              <a:t>The agent may face situations it has never seen before.</a:t>
            </a:r>
          </a:p>
          <a:p>
            <a:r>
              <a:rPr lang="en-US" sz="2400" dirty="0"/>
              <a:t>This difference between simulation and real world is called the </a:t>
            </a:r>
            <a:r>
              <a:rPr lang="en-US" sz="2400" b="1" dirty="0"/>
              <a:t>reality gap</a:t>
            </a:r>
            <a:r>
              <a:rPr lang="en-US" sz="2400"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D81B43-D2DF-3FAA-A3B0-ED00DC2BDB7E}"/>
              </a:ext>
            </a:extLst>
          </p:cNvPr>
          <p:cNvSpPr txBox="1"/>
          <p:nvPr/>
        </p:nvSpPr>
        <p:spPr>
          <a:xfrm>
            <a:off x="228600" y="381000"/>
            <a:ext cx="8458200" cy="6370975"/>
          </a:xfrm>
          <a:prstGeom prst="rect">
            <a:avLst/>
          </a:prstGeom>
          <a:noFill/>
        </p:spPr>
        <p:txBody>
          <a:bodyPr wrap="square">
            <a:spAutoFit/>
          </a:bodyPr>
          <a:lstStyle/>
          <a:p>
            <a:pPr>
              <a:buNone/>
            </a:pPr>
            <a:r>
              <a:rPr lang="en-US" sz="2400" b="1" dirty="0"/>
              <a:t>Real-Life Example 1: Self-Driving Car</a:t>
            </a:r>
          </a:p>
          <a:p>
            <a:pPr>
              <a:buNone/>
            </a:pPr>
            <a:r>
              <a:rPr lang="en-US" sz="2400" dirty="0"/>
              <a:t>Imagine training a self-driving car in a computer simulation.</a:t>
            </a:r>
          </a:p>
          <a:p>
            <a:pPr>
              <a:buNone/>
            </a:pPr>
            <a:r>
              <a:rPr lang="en-US" sz="2400" b="1" dirty="0"/>
              <a:t>In Simulation:</a:t>
            </a:r>
          </a:p>
          <a:p>
            <a:pPr>
              <a:buFont typeface="Arial" panose="020B0604020202020204" pitchFamily="34" charset="0"/>
              <a:buChar char="•"/>
            </a:pPr>
            <a:r>
              <a:rPr lang="en-US" sz="2400" dirty="0"/>
              <a:t>The car crashes → No problem.</a:t>
            </a:r>
          </a:p>
          <a:p>
            <a:pPr>
              <a:buFont typeface="Arial" panose="020B0604020202020204" pitchFamily="34" charset="0"/>
              <a:buChar char="•"/>
            </a:pPr>
            <a:r>
              <a:rPr lang="en-US" sz="2400" dirty="0"/>
              <a:t>It restarts and tries again.</a:t>
            </a:r>
          </a:p>
          <a:p>
            <a:pPr>
              <a:buFont typeface="Arial" panose="020B0604020202020204" pitchFamily="34" charset="0"/>
              <a:buChar char="•"/>
            </a:pPr>
            <a:r>
              <a:rPr lang="en-US" sz="2400" dirty="0"/>
              <a:t>It practices millions of times.</a:t>
            </a:r>
          </a:p>
          <a:p>
            <a:pPr>
              <a:buNone/>
            </a:pPr>
            <a:r>
              <a:rPr lang="en-US" sz="2400" b="1" dirty="0"/>
              <a:t>In Real Life:</a:t>
            </a:r>
          </a:p>
          <a:p>
            <a:pPr>
              <a:buFont typeface="Arial" panose="020B0604020202020204" pitchFamily="34" charset="0"/>
              <a:buChar char="•"/>
            </a:pPr>
            <a:r>
              <a:rPr lang="en-US" sz="2400" dirty="0"/>
              <a:t>One wrong decision → Real accident.</a:t>
            </a:r>
          </a:p>
          <a:p>
            <a:pPr>
              <a:buFont typeface="Arial" panose="020B0604020202020204" pitchFamily="34" charset="0"/>
              <a:buChar char="•"/>
            </a:pPr>
            <a:r>
              <a:rPr lang="en-US" sz="2400" dirty="0"/>
              <a:t>People can get injured.</a:t>
            </a:r>
          </a:p>
          <a:p>
            <a:pPr>
              <a:buFont typeface="Arial" panose="020B0604020202020204" pitchFamily="34" charset="0"/>
              <a:buChar char="•"/>
            </a:pPr>
            <a:r>
              <a:rPr lang="en-US" sz="2400" dirty="0"/>
              <a:t>Property can be damaged.</a:t>
            </a:r>
          </a:p>
          <a:p>
            <a:pPr>
              <a:buNone/>
            </a:pPr>
            <a:r>
              <a:rPr lang="en-US" sz="2400" dirty="0"/>
              <a:t>The simulation might not perfectly copy:</a:t>
            </a:r>
          </a:p>
          <a:p>
            <a:pPr>
              <a:buFont typeface="Arial" panose="020B0604020202020204" pitchFamily="34" charset="0"/>
              <a:buChar char="•"/>
            </a:pPr>
            <a:r>
              <a:rPr lang="en-US" sz="2400" dirty="0"/>
              <a:t>Weather conditions</a:t>
            </a:r>
          </a:p>
          <a:p>
            <a:pPr>
              <a:buFont typeface="Arial" panose="020B0604020202020204" pitchFamily="34" charset="0"/>
              <a:buChar char="•"/>
            </a:pPr>
            <a:r>
              <a:rPr lang="en-US" sz="2400" dirty="0"/>
              <a:t>Road damage</a:t>
            </a:r>
          </a:p>
          <a:p>
            <a:pPr>
              <a:buFont typeface="Arial" panose="020B0604020202020204" pitchFamily="34" charset="0"/>
              <a:buChar char="•"/>
            </a:pPr>
            <a:r>
              <a:rPr lang="en-US" sz="2400" dirty="0"/>
              <a:t>Unexpected pedestrian behavior</a:t>
            </a:r>
          </a:p>
          <a:p>
            <a:pPr>
              <a:buNone/>
            </a:pPr>
            <a:r>
              <a:rPr lang="en-US" sz="2400" dirty="0"/>
              <a:t>So when the car moves from simulation to real roads, it may struggle.</a:t>
            </a:r>
            <a:br>
              <a:rPr lang="en-US" sz="2400" dirty="0"/>
            </a:br>
            <a:r>
              <a:rPr lang="en-US" sz="2400" dirty="0"/>
              <a:t>This difference is the </a:t>
            </a:r>
            <a:r>
              <a:rPr lang="en-US" sz="2400" b="1" dirty="0"/>
              <a:t>reality gap</a:t>
            </a:r>
            <a:r>
              <a:rPr lang="en-US" sz="2400" dirty="0"/>
              <a:t>.</a:t>
            </a:r>
          </a:p>
        </p:txBody>
      </p:sp>
    </p:spTree>
    <p:extLst>
      <p:ext uri="{BB962C8B-B14F-4D97-AF65-F5344CB8AC3E}">
        <p14:creationId xmlns:p14="http://schemas.microsoft.com/office/powerpoint/2010/main" val="1367617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7E9BB-6D6D-7DFB-9664-94AFF1F175D5}"/>
              </a:ext>
            </a:extLst>
          </p:cNvPr>
          <p:cNvSpPr txBox="1"/>
          <p:nvPr/>
        </p:nvSpPr>
        <p:spPr>
          <a:xfrm>
            <a:off x="76200" y="1443841"/>
            <a:ext cx="8610600" cy="4154984"/>
          </a:xfrm>
          <a:prstGeom prst="rect">
            <a:avLst/>
          </a:prstGeom>
          <a:noFill/>
        </p:spPr>
        <p:txBody>
          <a:bodyPr wrap="square">
            <a:spAutoFit/>
          </a:bodyPr>
          <a:lstStyle/>
          <a:p>
            <a:pPr>
              <a:buNone/>
            </a:pPr>
            <a:r>
              <a:rPr lang="en-US" sz="2400" b="1" dirty="0"/>
              <a:t>Real-Life Example 2: Training a Robot to Pick Objects</a:t>
            </a:r>
          </a:p>
          <a:p>
            <a:pPr>
              <a:buNone/>
            </a:pPr>
            <a:r>
              <a:rPr lang="en-US" sz="2400" dirty="0"/>
              <a:t>Suppose a robot is trained in a lab to pick up a cup.</a:t>
            </a:r>
          </a:p>
          <a:p>
            <a:pPr>
              <a:buNone/>
            </a:pPr>
            <a:r>
              <a:rPr lang="en-US" sz="2400" b="1" dirty="0"/>
              <a:t>In Simulation:</a:t>
            </a:r>
          </a:p>
          <a:p>
            <a:pPr>
              <a:buFont typeface="Arial" panose="020B0604020202020204" pitchFamily="34" charset="0"/>
              <a:buChar char="•"/>
            </a:pPr>
            <a:r>
              <a:rPr lang="en-US" sz="2400" dirty="0"/>
              <a:t>Cups are always in perfect position.</a:t>
            </a:r>
          </a:p>
          <a:p>
            <a:pPr>
              <a:buFont typeface="Arial" panose="020B0604020202020204" pitchFamily="34" charset="0"/>
              <a:buChar char="•"/>
            </a:pPr>
            <a:r>
              <a:rPr lang="en-US" sz="2400" dirty="0"/>
              <a:t>Lighting is ideal.</a:t>
            </a:r>
          </a:p>
          <a:p>
            <a:pPr>
              <a:buFont typeface="Arial" panose="020B0604020202020204" pitchFamily="34" charset="0"/>
              <a:buChar char="•"/>
            </a:pPr>
            <a:r>
              <a:rPr lang="en-US" sz="2400" dirty="0"/>
              <a:t>No noise or distractions.</a:t>
            </a:r>
          </a:p>
          <a:p>
            <a:pPr>
              <a:buNone/>
            </a:pPr>
            <a:r>
              <a:rPr lang="en-US" sz="2400" b="1" dirty="0"/>
              <a:t>In Real World:</a:t>
            </a:r>
          </a:p>
          <a:p>
            <a:pPr>
              <a:buFont typeface="Arial" panose="020B0604020202020204" pitchFamily="34" charset="0"/>
              <a:buChar char="•"/>
            </a:pPr>
            <a:r>
              <a:rPr lang="en-US" sz="2400" dirty="0"/>
              <a:t>Cup may be tilted.</a:t>
            </a:r>
          </a:p>
          <a:p>
            <a:pPr>
              <a:buFont typeface="Arial" panose="020B0604020202020204" pitchFamily="34" charset="0"/>
              <a:buChar char="•"/>
            </a:pPr>
            <a:r>
              <a:rPr lang="en-US" sz="2400" dirty="0"/>
              <a:t>Lighting may change.</a:t>
            </a:r>
          </a:p>
          <a:p>
            <a:pPr>
              <a:buFont typeface="Arial" panose="020B0604020202020204" pitchFamily="34" charset="0"/>
              <a:buChar char="•"/>
            </a:pPr>
            <a:r>
              <a:rPr lang="en-US" sz="2400" dirty="0"/>
              <a:t>The table may be messy.</a:t>
            </a:r>
          </a:p>
          <a:p>
            <a:pPr>
              <a:buNone/>
            </a:pPr>
            <a:r>
              <a:rPr lang="en-US" sz="2400" dirty="0"/>
              <a:t>The robot may fail because real life is more unpredictable</a:t>
            </a:r>
          </a:p>
        </p:txBody>
      </p:sp>
    </p:spTree>
    <p:extLst>
      <p:ext uri="{BB962C8B-B14F-4D97-AF65-F5344CB8AC3E}">
        <p14:creationId xmlns:p14="http://schemas.microsoft.com/office/powerpoint/2010/main" val="2328168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8610600" cy="6370975"/>
          </a:xfrm>
          <a:prstGeom prst="rect">
            <a:avLst/>
          </a:prstGeom>
        </p:spPr>
        <p:txBody>
          <a:bodyPr wrap="square">
            <a:spAutoFit/>
          </a:bodyPr>
          <a:lstStyle/>
          <a:p>
            <a:pPr algn="just" fontAlgn="base"/>
            <a:r>
              <a:rPr lang="en-US" sz="2400" b="1" dirty="0">
                <a:latin typeface="Times New Roman" pitchFamily="18" charset="0"/>
                <a:cs typeface="Times New Roman" pitchFamily="18" charset="0"/>
              </a:rPr>
              <a:t>Sparse rewards</a:t>
            </a:r>
          </a:p>
          <a:p>
            <a:pPr algn="just" fontAlgn="base"/>
            <a:r>
              <a:rPr lang="en-US" sz="2400" dirty="0">
                <a:latin typeface="Times New Roman" panose="02020603050405020304" pitchFamily="18" charset="0"/>
                <a:cs typeface="Times New Roman" panose="02020603050405020304" pitchFamily="18" charset="0"/>
              </a:rPr>
              <a:t>The agent receives rewards very rarely, only after completing a major task — not during the process.</a:t>
            </a:r>
          </a:p>
          <a:p>
            <a:r>
              <a:rPr lang="en-US" sz="2400" dirty="0">
                <a:latin typeface="Times New Roman" panose="02020603050405020304" pitchFamily="18" charset="0"/>
                <a:cs typeface="Times New Roman" panose="02020603050405020304" pitchFamily="18" charset="0"/>
              </a:rPr>
              <a:t>Because rewards are infrequent, the agent may struggle to understand:</a:t>
            </a:r>
          </a:p>
          <a:p>
            <a:r>
              <a:rPr lang="en-US" sz="2400" dirty="0">
                <a:latin typeface="Times New Roman" panose="02020603050405020304" pitchFamily="18" charset="0"/>
                <a:cs typeface="Times New Roman" panose="02020603050405020304" pitchFamily="18" charset="0"/>
              </a:rPr>
              <a:t>Which actions were correct</a:t>
            </a:r>
          </a:p>
          <a:p>
            <a:r>
              <a:rPr lang="en-US" sz="2400" dirty="0">
                <a:latin typeface="Times New Roman" panose="02020603050405020304" pitchFamily="18" charset="0"/>
                <a:cs typeface="Times New Roman" panose="02020603050405020304" pitchFamily="18" charset="0"/>
              </a:rPr>
              <a:t>What led to success</a:t>
            </a:r>
          </a:p>
          <a:p>
            <a:r>
              <a:rPr lang="en-US" sz="2400" dirty="0">
                <a:latin typeface="Times New Roman" panose="02020603050405020304" pitchFamily="18" charset="0"/>
                <a:cs typeface="Times New Roman" panose="02020603050405020304" pitchFamily="18" charset="0"/>
              </a:rPr>
              <a:t>How to improve step by step</a:t>
            </a:r>
          </a:p>
          <a:p>
            <a:pPr algn="just" fontAlgn="base"/>
            <a:endParaRPr lang="en-US" sz="2400" dirty="0">
              <a:latin typeface="Times New Roman" pitchFamily="18" charset="0"/>
              <a:cs typeface="Times New Roman" pitchFamily="18" charset="0"/>
            </a:endParaRPr>
          </a:p>
          <a:p>
            <a:pPr algn="just" fontAlgn="base"/>
            <a:r>
              <a:rPr lang="en-US" sz="2400" dirty="0">
                <a:latin typeface="Times New Roman" pitchFamily="18" charset="0"/>
                <a:cs typeface="Times New Roman" pitchFamily="18" charset="0"/>
              </a:rPr>
              <a:t>There are some limitations to the reward technique discussed earlier. Due to the sparse distribution of rewards in the environment, an agent may not pay enough attention to the situation to notice rewards and maximize specific actions.</a:t>
            </a:r>
          </a:p>
          <a:p>
            <a:pPr algn="just" fontAlgn="base"/>
            <a:r>
              <a:rPr lang="en-US" sz="2400" dirty="0">
                <a:latin typeface="Times New Roman" pitchFamily="18" charset="0"/>
                <a:cs typeface="Times New Roman" pitchFamily="18" charset="0"/>
              </a:rPr>
              <a:t>This can also occur when the environment fails to provide rewards on time. For instance, in many cases, green flags are only shown when an agent is close enough to a target.</a:t>
            </a:r>
          </a:p>
          <a:p>
            <a:pPr algn="just" fontAlgn="base"/>
            <a:endParaRPr lang="en-US"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62302A-F315-2CA8-3ABB-FF8A6A882B6E}"/>
              </a:ext>
            </a:extLst>
          </p:cNvPr>
          <p:cNvSpPr txBox="1"/>
          <p:nvPr/>
        </p:nvSpPr>
        <p:spPr>
          <a:xfrm>
            <a:off x="571500" y="457200"/>
            <a:ext cx="8001000" cy="5632311"/>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Real-Life Example 1: Learning to Drive</a:t>
            </a:r>
          </a:p>
          <a:p>
            <a:pPr>
              <a:buNone/>
            </a:pPr>
            <a:r>
              <a:rPr lang="en-US" sz="2400" dirty="0">
                <a:latin typeface="Times New Roman" panose="02020603050405020304" pitchFamily="18" charset="0"/>
                <a:cs typeface="Times New Roman" panose="02020603050405020304" pitchFamily="18" charset="0"/>
              </a:rPr>
              <a:t>Suppose a driving instructor says:</a:t>
            </a:r>
          </a:p>
          <a:p>
            <a:pPr>
              <a:buNone/>
            </a:pPr>
            <a:r>
              <a:rPr lang="en-US" sz="2400" dirty="0">
                <a:latin typeface="Times New Roman" panose="02020603050405020304" pitchFamily="18" charset="0"/>
                <a:cs typeface="Times New Roman" panose="02020603050405020304" pitchFamily="18" charset="0"/>
              </a:rPr>
              <a:t>“You will only know if you did well after the entire 1-hour drive.”</a:t>
            </a:r>
          </a:p>
          <a:p>
            <a:pPr>
              <a:buNone/>
            </a:pPr>
            <a:r>
              <a:rPr lang="en-US" sz="2400" dirty="0">
                <a:latin typeface="Times New Roman" panose="02020603050405020304" pitchFamily="18" charset="0"/>
                <a:cs typeface="Times New Roman" panose="02020603050405020304" pitchFamily="18" charset="0"/>
              </a:rPr>
              <a:t>No feedback during: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Lane changing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Braking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Turning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Parking</a:t>
            </a:r>
          </a:p>
          <a:p>
            <a:pPr>
              <a:buNone/>
            </a:pPr>
            <a:r>
              <a:rPr lang="en-US" sz="2400" dirty="0">
                <a:latin typeface="Times New Roman" panose="02020603050405020304" pitchFamily="18" charset="0"/>
                <a:cs typeface="Times New Roman" panose="02020603050405020304" pitchFamily="18" charset="0"/>
              </a:rPr>
              <a:t>At the end, instructor says: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“You failed.”</a:t>
            </a:r>
          </a:p>
          <a:p>
            <a:pPr>
              <a:buNone/>
            </a:pPr>
            <a:r>
              <a:rPr lang="en-US" sz="2400" dirty="0">
                <a:latin typeface="Times New Roman" panose="02020603050405020304" pitchFamily="18" charset="0"/>
                <a:cs typeface="Times New Roman" panose="02020603050405020304" pitchFamily="18" charset="0"/>
              </a:rPr>
              <a:t>Now the learner doesn’t know:</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Which mistake caused failure?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to improve?</a:t>
            </a:r>
          </a:p>
          <a:p>
            <a:pPr>
              <a:buNone/>
            </a:pPr>
            <a:r>
              <a:rPr lang="en-US" sz="2400" dirty="0">
                <a:latin typeface="Times New Roman" panose="02020603050405020304" pitchFamily="18" charset="0"/>
                <a:cs typeface="Times New Roman" panose="02020603050405020304" pitchFamily="18" charset="0"/>
              </a:rPr>
              <a:t>This is sparse reward.</a:t>
            </a:r>
          </a:p>
        </p:txBody>
      </p:sp>
    </p:spTree>
    <p:extLst>
      <p:ext uri="{BB962C8B-B14F-4D97-AF65-F5344CB8AC3E}">
        <p14:creationId xmlns:p14="http://schemas.microsoft.com/office/powerpoint/2010/main" val="386250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D1EDF8-5AB2-C37A-28AF-4CBF47827409}"/>
              </a:ext>
            </a:extLst>
          </p:cNvPr>
          <p:cNvSpPr txBox="1"/>
          <p:nvPr/>
        </p:nvSpPr>
        <p:spPr>
          <a:xfrm>
            <a:off x="304800" y="152400"/>
            <a:ext cx="8610600" cy="5262979"/>
          </a:xfrm>
          <a:prstGeom prst="rect">
            <a:avLst/>
          </a:prstGeom>
          <a:noFill/>
        </p:spPr>
        <p:txBody>
          <a:bodyPr wrap="square">
            <a:spAutoFit/>
          </a:bodyPr>
          <a:lstStyle/>
          <a:p>
            <a:pPr algn="just" fontAlgn="base"/>
            <a:r>
              <a:rPr lang="en-US" sz="2400" b="1" dirty="0">
                <a:latin typeface="Times New Roman" pitchFamily="18" charset="0"/>
                <a:cs typeface="Times New Roman" pitchFamily="18" charset="0"/>
              </a:rPr>
              <a:t>Offline reinforcement</a:t>
            </a:r>
          </a:p>
          <a:p>
            <a:r>
              <a:rPr lang="en-US" sz="2400" dirty="0">
                <a:latin typeface="Times New Roman" panose="02020603050405020304" pitchFamily="18" charset="0"/>
                <a:cs typeface="Times New Roman" panose="02020603050405020304" pitchFamily="18" charset="0"/>
              </a:rPr>
              <a:t>Training an AI agent using a </a:t>
            </a:r>
            <a:r>
              <a:rPr lang="en-US" sz="2400" b="1" dirty="0">
                <a:latin typeface="Times New Roman" panose="02020603050405020304" pitchFamily="18" charset="0"/>
                <a:cs typeface="Times New Roman" panose="02020603050405020304" pitchFamily="18" charset="0"/>
              </a:rPr>
              <a:t>fixed dataset</a:t>
            </a:r>
            <a:r>
              <a:rPr lang="en-US" sz="2400" dirty="0">
                <a:latin typeface="Times New Roman" panose="02020603050405020304" pitchFamily="18" charset="0"/>
                <a:cs typeface="Times New Roman" panose="02020603050405020304" pitchFamily="18" charset="0"/>
              </a:rPr>
              <a:t> collected from past experiences — without interacting with the environment during learning.</a:t>
            </a:r>
          </a:p>
          <a:p>
            <a:r>
              <a:rPr lang="en-US" sz="2400" dirty="0">
                <a:latin typeface="Times New Roman" panose="02020603050405020304" pitchFamily="18" charset="0"/>
                <a:cs typeface="Times New Roman" panose="02020603050405020304" pitchFamily="18" charset="0"/>
              </a:rPr>
              <a:t>This is different from </a:t>
            </a:r>
            <a:r>
              <a:rPr lang="en-US" sz="2400" b="1" dirty="0">
                <a:latin typeface="Times New Roman" panose="02020603050405020304" pitchFamily="18" charset="0"/>
                <a:cs typeface="Times New Roman" panose="02020603050405020304" pitchFamily="18" charset="0"/>
              </a:rPr>
              <a:t>online RL</a:t>
            </a:r>
            <a:r>
              <a:rPr lang="en-US" sz="2400" dirty="0">
                <a:latin typeface="Times New Roman" panose="02020603050405020304" pitchFamily="18" charset="0"/>
                <a:cs typeface="Times New Roman" panose="02020603050405020304" pitchFamily="18" charset="0"/>
              </a:rPr>
              <a:t>, where the agent learns by continuously exploring and trying actions in the environment.</a:t>
            </a:r>
          </a:p>
          <a:p>
            <a:pPr algn="just" fontAlgn="base"/>
            <a:endParaRPr lang="en-US" sz="2400" dirty="0">
              <a:latin typeface="Times New Roman" pitchFamily="18" charset="0"/>
              <a:cs typeface="Times New Roman" pitchFamily="18" charset="0"/>
            </a:endParaRPr>
          </a:p>
          <a:p>
            <a:pPr algn="just" fontAlgn="base"/>
            <a:r>
              <a:rPr lang="en-US" sz="2400" dirty="0">
                <a:latin typeface="Times New Roman" pitchFamily="18" charset="0"/>
                <a:cs typeface="Times New Roman" pitchFamily="18" charset="0"/>
              </a:rPr>
              <a:t>In real-time reinforcement learning, as the agent learns from new experiences, offline reinforcement learning relies on logging information without interacting with the environment. As a result, AI agents no longer need to get trained repeatedly to scale.</a:t>
            </a:r>
          </a:p>
          <a:p>
            <a:pPr algn="just" fontAlgn="base"/>
            <a:r>
              <a:rPr lang="en-US" sz="2400" dirty="0">
                <a:latin typeface="Times New Roman" pitchFamily="18" charset="0"/>
                <a:cs typeface="Times New Roman" pitchFamily="18" charset="0"/>
              </a:rPr>
              <a:t>The challenge remains that if the model trained from an existing dataset or behaves differently than the data collection agent, the reward is not determined.</a:t>
            </a:r>
          </a:p>
        </p:txBody>
      </p:sp>
    </p:spTree>
    <p:extLst>
      <p:ext uri="{BB962C8B-B14F-4D97-AF65-F5344CB8AC3E}">
        <p14:creationId xmlns:p14="http://schemas.microsoft.com/office/powerpoint/2010/main" val="1047004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5BB00E-3260-8C3A-83A1-088A7120BCAD}"/>
              </a:ext>
            </a:extLst>
          </p:cNvPr>
          <p:cNvSpPr txBox="1"/>
          <p:nvPr/>
        </p:nvSpPr>
        <p:spPr>
          <a:xfrm>
            <a:off x="304800" y="1305342"/>
            <a:ext cx="8534400" cy="4524315"/>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Real-Life Example: Learning to Drive Using Recorded Videos</a:t>
            </a:r>
          </a:p>
          <a:p>
            <a:pPr>
              <a:buNone/>
            </a:pPr>
            <a:r>
              <a:rPr lang="en-US" sz="2400" b="1" dirty="0">
                <a:latin typeface="Times New Roman" panose="02020603050405020304" pitchFamily="18" charset="0"/>
                <a:cs typeface="Times New Roman" panose="02020603050405020304" pitchFamily="18" charset="0"/>
              </a:rPr>
              <a:t>Online RL (Real-Time Learning):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learner practices driving in a car.</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Makes decisions and learns from every turn, brake, and accident.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Learns by direct interaction with the road.</a:t>
            </a:r>
          </a:p>
          <a:p>
            <a:pPr>
              <a:buNone/>
            </a:pPr>
            <a:r>
              <a:rPr lang="en-US" sz="2400" b="1" dirty="0">
                <a:latin typeface="Times New Roman" panose="02020603050405020304" pitchFamily="18" charset="0"/>
                <a:cs typeface="Times New Roman" panose="02020603050405020304" pitchFamily="18" charset="0"/>
              </a:rPr>
              <a:t>Offline RL:</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learner studies thousands of hours of driving videos recorded by expert drivers.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actual driving happens during training.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Learner tries to understand good and bad driving patterns from past data.</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Later applies learned knowledge in real driving.</a:t>
            </a:r>
          </a:p>
        </p:txBody>
      </p:sp>
    </p:spTree>
    <p:extLst>
      <p:ext uri="{BB962C8B-B14F-4D97-AF65-F5344CB8AC3E}">
        <p14:creationId xmlns:p14="http://schemas.microsoft.com/office/powerpoint/2010/main" val="2300805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382000" cy="5262979"/>
          </a:xfrm>
          <a:prstGeom prst="rect">
            <a:avLst/>
          </a:prstGeom>
        </p:spPr>
        <p:txBody>
          <a:bodyPr wrap="square">
            <a:spAutoFit/>
          </a:bodyPr>
          <a:lstStyle/>
          <a:p>
            <a:pPr algn="just" fontAlgn="base"/>
            <a:r>
              <a:rPr lang="en-US" sz="2400" b="1" dirty="0">
                <a:latin typeface="Times New Roman" pitchFamily="18" charset="0"/>
                <a:cs typeface="Times New Roman" pitchFamily="18" charset="0"/>
              </a:rPr>
              <a:t>The future of deep Q-learning</a:t>
            </a:r>
          </a:p>
          <a:p>
            <a:pPr algn="just" fontAlgn="base"/>
            <a:r>
              <a:rPr lang="en-US" sz="2400" dirty="0">
                <a:latin typeface="Times New Roman" pitchFamily="18" charset="0"/>
                <a:cs typeface="Times New Roman" pitchFamily="18" charset="0"/>
              </a:rPr>
              <a:t>Deep learning has proved to be capable of simulating real-world environments. As a result, it has the potential to solve a wide range of problems that machines have had difficulty tackling up until now. Combining deep learning with RL will help us solve these problems much faster.</a:t>
            </a:r>
          </a:p>
          <a:p>
            <a:pPr algn="just" fontAlgn="base"/>
            <a:endParaRPr lang="en-US" sz="2400" dirty="0">
              <a:latin typeface="Times New Roman" pitchFamily="18" charset="0"/>
              <a:cs typeface="Times New Roman" pitchFamily="18" charset="0"/>
            </a:endParaRPr>
          </a:p>
          <a:p>
            <a:pPr algn="just" fontAlgn="base"/>
            <a:r>
              <a:rPr lang="en-US" sz="2400" dirty="0">
                <a:latin typeface="Times New Roman" pitchFamily="18" charset="0"/>
                <a:cs typeface="Times New Roman" pitchFamily="18" charset="0"/>
              </a:rPr>
              <a:t>There are many future applications of reinforcement learning, including:</a:t>
            </a:r>
          </a:p>
          <a:p>
            <a:pPr algn="just" fontAlgn="base"/>
            <a:r>
              <a:rPr lang="en-US" sz="2400" dirty="0">
                <a:latin typeface="Times New Roman" pitchFamily="18" charset="0"/>
                <a:cs typeface="Times New Roman" pitchFamily="18" charset="0"/>
              </a:rPr>
              <a:t>Automated trading of stocks and options</a:t>
            </a:r>
          </a:p>
          <a:p>
            <a:pPr algn="just" fontAlgn="base"/>
            <a:r>
              <a:rPr lang="en-US" sz="2400" dirty="0">
                <a:latin typeface="Times New Roman" pitchFamily="18" charset="0"/>
                <a:cs typeface="Times New Roman" pitchFamily="18" charset="0"/>
              </a:rPr>
              <a:t>Self-driving cars</a:t>
            </a:r>
          </a:p>
          <a:p>
            <a:pPr algn="just" fontAlgn="base"/>
            <a:r>
              <a:rPr lang="en-US" sz="2400" dirty="0">
                <a:latin typeface="Times New Roman" pitchFamily="18" charset="0"/>
                <a:cs typeface="Times New Roman" pitchFamily="18" charset="0"/>
              </a:rPr>
              <a:t>Smart traffic signals</a:t>
            </a:r>
          </a:p>
          <a:p>
            <a:pPr algn="just" fontAlgn="base"/>
            <a:r>
              <a:rPr lang="en-US" sz="2400" dirty="0">
                <a:latin typeface="Times New Roman" pitchFamily="18" charset="0"/>
                <a:cs typeface="Times New Roman" pitchFamily="18" charset="0"/>
              </a:rPr>
              <a:t>Automated robots</a:t>
            </a:r>
          </a:p>
          <a:p>
            <a:pPr algn="just" fontAlgn="base"/>
            <a:r>
              <a:rPr lang="en-US" sz="2400" dirty="0">
                <a:latin typeface="Times New Roman" pitchFamily="18" charset="0"/>
                <a:cs typeface="Times New Roman" pitchFamily="18" charset="0"/>
              </a:rPr>
              <a:t>Automated factory.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2F41ED-F15F-8E3B-4842-AFA936A86363}"/>
              </a:ext>
            </a:extLst>
          </p:cNvPr>
          <p:cNvSpPr txBox="1"/>
          <p:nvPr/>
        </p:nvSpPr>
        <p:spPr>
          <a:xfrm>
            <a:off x="152400" y="380730"/>
            <a:ext cx="8686800" cy="4434547"/>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Applications</a:t>
            </a:r>
          </a:p>
          <a:p>
            <a:pPr algn="l" rtl="0" fontAlgn="base">
              <a:spcAft>
                <a:spcPts val="750"/>
              </a:spcAft>
              <a:buNone/>
            </a:pPr>
            <a:r>
              <a:rPr lang="en-US" b="0" i="0" dirty="0">
                <a:solidFill>
                  <a:srgbClr val="273239"/>
                </a:solidFill>
                <a:effectLst/>
                <a:latin typeface="Nunito" pitchFamily="2" charset="0"/>
              </a:rPr>
              <a:t>Deep Q-Learning is used in many areas such as: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Atari Games:</a:t>
            </a:r>
            <a:r>
              <a:rPr lang="en-US" b="0" i="0" dirty="0">
                <a:solidFill>
                  <a:srgbClr val="273239"/>
                </a:solidFill>
                <a:effectLst/>
                <a:latin typeface="Nunito" pitchFamily="2" charset="0"/>
              </a:rPr>
              <a:t> It can learn to play old video games very well even better than humans by looking at the screen pixels.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Robotics:</a:t>
            </a:r>
            <a:r>
              <a:rPr lang="en-US" b="0" i="0" dirty="0">
                <a:solidFill>
                  <a:srgbClr val="273239"/>
                </a:solidFill>
                <a:effectLst/>
                <a:latin typeface="Nunito" pitchFamily="2" charset="0"/>
              </a:rPr>
              <a:t> It helps robots to learn how to pick objects, move around and do tasks with their hands.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Self-Driving Cars:</a:t>
            </a:r>
            <a:r>
              <a:rPr lang="en-US" b="0" i="0" dirty="0">
                <a:solidFill>
                  <a:srgbClr val="273239"/>
                </a:solidFill>
                <a:effectLst/>
                <a:latin typeface="Nunito" pitchFamily="2" charset="0"/>
              </a:rPr>
              <a:t> It helps cars to make decisions like changing lanes and avoiding obstacles safely.</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Finance:</a:t>
            </a:r>
            <a:r>
              <a:rPr lang="en-US" b="0" i="0" dirty="0">
                <a:solidFill>
                  <a:srgbClr val="273239"/>
                </a:solidFill>
                <a:effectLst/>
                <a:latin typeface="Nunito" pitchFamily="2" charset="0"/>
              </a:rPr>
              <a:t> It is used to find the best ways to trade stocks, manage money and reduce risks.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Healthcare:</a:t>
            </a:r>
            <a:r>
              <a:rPr lang="en-US" b="0" i="0" dirty="0">
                <a:solidFill>
                  <a:srgbClr val="273239"/>
                </a:solidFill>
                <a:effectLst/>
                <a:latin typeface="Nunito" pitchFamily="2" charset="0"/>
              </a:rPr>
              <a:t> It helps with planning treatments, discovering new medicines and personalizing care for patients.</a:t>
            </a:r>
          </a:p>
        </p:txBody>
      </p:sp>
    </p:spTree>
    <p:extLst>
      <p:ext uri="{BB962C8B-B14F-4D97-AF65-F5344CB8AC3E}">
        <p14:creationId xmlns:p14="http://schemas.microsoft.com/office/powerpoint/2010/main" val="3434700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2228</Words>
  <Application>Microsoft Office PowerPoint</Application>
  <PresentationFormat>On-screen Show (4:3)</PresentationFormat>
  <Paragraphs>197</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Nunito</vt:lpstr>
      <vt:lpstr>Times New Roman</vt:lpstr>
      <vt:lpstr>Office Theme</vt:lpstr>
      <vt:lpstr>Deep Q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Q learning</dc:title>
  <dc:creator>klp_mmu</dc:creator>
  <cp:lastModifiedBy>Sonali Goyal</cp:lastModifiedBy>
  <cp:revision>3</cp:revision>
  <dcterms:created xsi:type="dcterms:W3CDTF">2006-08-16T00:00:00Z</dcterms:created>
  <dcterms:modified xsi:type="dcterms:W3CDTF">2026-02-24T07:45:47Z</dcterms:modified>
</cp:coreProperties>
</file>