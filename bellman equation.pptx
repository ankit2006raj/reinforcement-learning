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66" r:id="rId5"/>
    <p:sldId id="262" r:id="rId6"/>
    <p:sldId id="263" r:id="rId7"/>
    <p:sldId id="267" r:id="rId8"/>
    <p:sldId id="268" r:id="rId9"/>
    <p:sldId id="269" r:id="rId10"/>
    <p:sldId id="270" r:id="rId11"/>
    <p:sldId id="271" r:id="rId12"/>
    <p:sldId id="272" r:id="rId13"/>
    <p:sldId id="273" r:id="rId14"/>
    <p:sldId id="274" r:id="rId15"/>
    <p:sldId id="275" r:id="rId16"/>
    <p:sldId id="276" r:id="rId17"/>
    <p:sldId id="257" r:id="rId18"/>
    <p:sldId id="258" r:id="rId19"/>
    <p:sldId id="259" r:id="rId20"/>
    <p:sldId id="260" r:id="rId21"/>
    <p:sldId id="26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1/30/2024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1/30/2024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1/30/2024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1/30/2024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Bellman Equation </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703" t="15000" r="1406" b="10000"/>
          <a:stretch>
            <a:fillRect/>
          </a:stretch>
        </p:blipFill>
        <p:spPr bwMode="auto">
          <a:xfrm>
            <a:off x="91440" y="1097280"/>
            <a:ext cx="9052560" cy="5486400"/>
          </a:xfrm>
          <a:prstGeom prst="rect">
            <a:avLst/>
          </a:prstGeom>
          <a:noFill/>
          <a:ln w="9525">
            <a:noFill/>
            <a:miter lim="800000"/>
            <a:headEnd/>
            <a:tailEnd/>
          </a:ln>
          <a:effectLst/>
        </p:spPr>
      </p:pic>
      <p:sp>
        <p:nvSpPr>
          <p:cNvPr id="3" name="Rectangle 2"/>
          <p:cNvSpPr/>
          <p:nvPr/>
        </p:nvSpPr>
        <p:spPr>
          <a:xfrm>
            <a:off x="1676400" y="304800"/>
            <a:ext cx="5867400" cy="533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smtClean="0">
                <a:latin typeface="Times New Roman" pitchFamily="18" charset="0"/>
                <a:cs typeface="Times New Roman" pitchFamily="18" charset="0"/>
              </a:rPr>
              <a:t>The Learning Task</a:t>
            </a:r>
            <a:endParaRPr lang="en-US" sz="2400"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r="2811" b="8750"/>
          <a:stretch>
            <a:fillRect/>
          </a:stretch>
        </p:blipFill>
        <p:spPr bwMode="auto">
          <a:xfrm>
            <a:off x="0" y="0"/>
            <a:ext cx="9144000" cy="667512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0"/>
            <a:ext cx="9144000" cy="64770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35846"/>
            <a:ext cx="8305800" cy="5632311"/>
          </a:xfrm>
          <a:prstGeom prst="rect">
            <a:avLst/>
          </a:prstGeom>
        </p:spPr>
        <p:txBody>
          <a:bodyPr wrap="square">
            <a:spAutoFit/>
          </a:bodyPr>
          <a:lstStyle/>
          <a:p>
            <a:pPr>
              <a:lnSpc>
                <a:spcPct val="150000"/>
              </a:lnSpc>
            </a:pPr>
            <a:r>
              <a:rPr lang="en-US" sz="2000" dirty="0" smtClean="0">
                <a:latin typeface="Times New Roman" pitchFamily="18" charset="0"/>
                <a:cs typeface="Times New Roman" pitchFamily="18" charset="0"/>
              </a:rPr>
              <a:t>Let’s cover the important Bellman Concepts before moving forward.</a:t>
            </a:r>
          </a:p>
          <a:p>
            <a:pPr>
              <a:lnSpc>
                <a:spcPct val="150000"/>
              </a:lnSpc>
            </a:pPr>
            <a:r>
              <a:rPr lang="en-US" sz="2000" dirty="0" smtClean="0">
                <a:latin typeface="Times New Roman" pitchFamily="18" charset="0"/>
                <a:cs typeface="Times New Roman" pitchFamily="18" charset="0"/>
              </a:rPr>
              <a:t>➔ State is a numerical representation of what an agent observes at a particular point in an environment.</a:t>
            </a:r>
          </a:p>
          <a:p>
            <a:pPr>
              <a:lnSpc>
                <a:spcPct val="150000"/>
              </a:lnSpc>
            </a:pPr>
            <a:r>
              <a:rPr lang="en-US" sz="2000" dirty="0" smtClean="0">
                <a:latin typeface="Times New Roman" pitchFamily="18" charset="0"/>
                <a:cs typeface="Times New Roman" pitchFamily="18" charset="0"/>
              </a:rPr>
              <a:t>➔ Action is the input the agent is giving to the environment based on a policy.</a:t>
            </a:r>
          </a:p>
          <a:p>
            <a:pPr>
              <a:lnSpc>
                <a:spcPct val="150000"/>
              </a:lnSpc>
            </a:pPr>
            <a:r>
              <a:rPr lang="en-US" sz="2000" dirty="0" smtClean="0">
                <a:latin typeface="Times New Roman" pitchFamily="18" charset="0"/>
                <a:cs typeface="Times New Roman" pitchFamily="18" charset="0"/>
              </a:rPr>
              <a:t>➔ Reward is a feedback signal from the environment to the reinforcement learning agent reflecting how the agent has performed in achieving the goal.</a:t>
            </a:r>
          </a:p>
          <a:p>
            <a:pPr>
              <a:lnSpc>
                <a:spcPct val="150000"/>
              </a:lnSpc>
            </a:pPr>
            <a:r>
              <a:rPr lang="en-US" sz="2000" dirty="0" smtClean="0">
                <a:latin typeface="Times New Roman" pitchFamily="18" charset="0"/>
                <a:cs typeface="Times New Roman" pitchFamily="18" charset="0"/>
              </a:rPr>
              <a:t>Bellman Equations aim to answer these questions:</a:t>
            </a:r>
          </a:p>
          <a:p>
            <a:pPr algn="just">
              <a:lnSpc>
                <a:spcPct val="150000"/>
              </a:lnSpc>
            </a:pPr>
            <a:r>
              <a:rPr lang="en-US" sz="2000" dirty="0" smtClean="0">
                <a:latin typeface="Times New Roman" pitchFamily="18" charset="0"/>
                <a:cs typeface="Times New Roman" pitchFamily="18" charset="0"/>
              </a:rPr>
              <a:t>The agent is currently in a given state ‘s’. Assuming that we take best possible actions in all subsequent timestamps, what long-term reward the agent can expect?</a:t>
            </a:r>
          </a:p>
          <a:p>
            <a:pPr algn="just">
              <a:lnSpc>
                <a:spcPct val="150000"/>
              </a:lnSpc>
            </a:pPr>
            <a:r>
              <a:rPr lang="en-US" sz="2000" dirty="0" smtClean="0">
                <a:latin typeface="Times New Roman" pitchFamily="18" charset="0"/>
                <a:cs typeface="Times New Roman" pitchFamily="18" charset="0"/>
              </a:rPr>
              <a:t>or</a:t>
            </a:r>
          </a:p>
          <a:p>
            <a:pPr algn="just">
              <a:lnSpc>
                <a:spcPct val="150000"/>
              </a:lnSpc>
            </a:pPr>
            <a:r>
              <a:rPr lang="en-US" sz="2000" dirty="0" smtClean="0">
                <a:latin typeface="Times New Roman" pitchFamily="18" charset="0"/>
                <a:cs typeface="Times New Roman" pitchFamily="18" charset="0"/>
              </a:rPr>
              <a:t>What is the value of the state the agent is currently in?</a:t>
            </a: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3416320"/>
          </a:xfrm>
          <a:prstGeom prst="rect">
            <a:avLst/>
          </a:prstGeom>
        </p:spPr>
        <p:txBody>
          <a:bodyPr wrap="square">
            <a:spAutoFit/>
          </a:bodyPr>
          <a:lstStyle/>
          <a:p>
            <a:pPr algn="just">
              <a:lnSpc>
                <a:spcPct val="150000"/>
              </a:lnSpc>
            </a:pPr>
            <a:r>
              <a:rPr lang="en-US" dirty="0" smtClean="0">
                <a:latin typeface="Times New Roman" pitchFamily="18" charset="0"/>
                <a:cs typeface="Times New Roman" pitchFamily="18" charset="0"/>
              </a:rPr>
              <a:t>Bellman Equations are a class of Reinforcement Learning algorithms that are used particularly for deterministic environments.</a:t>
            </a:r>
          </a:p>
          <a:p>
            <a:pPr algn="just">
              <a:lnSpc>
                <a:spcPct val="150000"/>
              </a:lnSpc>
            </a:pPr>
            <a:r>
              <a:rPr lang="en-US" dirty="0" smtClean="0">
                <a:latin typeface="Times New Roman" pitchFamily="18" charset="0"/>
                <a:cs typeface="Times New Roman" pitchFamily="18" charset="0"/>
              </a:rPr>
              <a:t>The value of a given state (s) is determined by taking a maximum of the actions we can take in the state the agent is in. The aim of the agent is to pick the action that is going to maximize the value.</a:t>
            </a:r>
          </a:p>
          <a:p>
            <a:pPr algn="just">
              <a:lnSpc>
                <a:spcPct val="150000"/>
              </a:lnSpc>
            </a:pPr>
            <a:r>
              <a:rPr lang="en-US" dirty="0" smtClean="0">
                <a:latin typeface="Times New Roman" pitchFamily="18" charset="0"/>
                <a:cs typeface="Times New Roman" pitchFamily="18" charset="0"/>
              </a:rPr>
              <a:t>Therefore, it needs to take the addition of the reward of the optimal action ‘a’ in state ‘s' and add a multiplier ‘γ’ that is the discount factor which diminishes its reward over time. Every time the agent takes an action it gets back to the next state ‘s'.</a:t>
            </a:r>
            <a:endParaRPr lang="en-US" dirty="0">
              <a:latin typeface="Times New Roman" pitchFamily="18" charset="0"/>
              <a:cs typeface="Times New Roman" pitchFamily="18" charset="0"/>
            </a:endParaRPr>
          </a:p>
        </p:txBody>
      </p:sp>
      <p:pic>
        <p:nvPicPr>
          <p:cNvPr id="1026" name="Picture 2" descr="Bellman Equations"/>
          <p:cNvPicPr>
            <a:picLocks noChangeAspect="1" noChangeArrowheads="1"/>
          </p:cNvPicPr>
          <p:nvPr/>
        </p:nvPicPr>
        <p:blipFill>
          <a:blip r:embed="rId2"/>
          <a:srcRect/>
          <a:stretch>
            <a:fillRect/>
          </a:stretch>
        </p:blipFill>
        <p:spPr bwMode="auto">
          <a:xfrm>
            <a:off x="152400" y="4114800"/>
            <a:ext cx="7848600" cy="201930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8839200" cy="6172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0"/>
            <a:ext cx="9144000" cy="6248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0"/>
            <a:ext cx="9677400" cy="6324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0" y="0"/>
            <a:ext cx="9144000" cy="6096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0"/>
            <a:ext cx="8610600" cy="6096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0" y="0"/>
            <a:ext cx="9144000" cy="60198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0" y="0"/>
            <a:ext cx="8991600" cy="68580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0" y="0"/>
            <a:ext cx="8610600" cy="60198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228600" y="381000"/>
            <a:ext cx="9144000" cy="61722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228600"/>
            <a:ext cx="7696200" cy="58674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85800"/>
            <a:ext cx="8686800" cy="1015663"/>
          </a:xfrm>
          <a:prstGeom prst="rect">
            <a:avLst/>
          </a:prstGeom>
        </p:spPr>
        <p:txBody>
          <a:bodyPr wrap="square">
            <a:spAutoFit/>
          </a:bodyPr>
          <a:lstStyle/>
          <a:p>
            <a:pPr algn="just"/>
            <a:r>
              <a:rPr lang="en-US" sz="2000" dirty="0" smtClean="0">
                <a:latin typeface="Times New Roman" pitchFamily="18" charset="0"/>
                <a:cs typeface="Times New Roman" pitchFamily="18" charset="0"/>
              </a:rPr>
              <a:t>According to the Bellman Equation, long-term- reward in a given action is equal to the reward from the current action combined with the expected reward from the future actions taken at the following time.</a:t>
            </a:r>
            <a:endParaRPr lang="en-US" sz="2000" dirty="0">
              <a:latin typeface="Times New Roman" pitchFamily="18" charset="0"/>
              <a:cs typeface="Times New Roman" pitchFamily="18" charset="0"/>
            </a:endParaRPr>
          </a:p>
        </p:txBody>
      </p:sp>
      <p:sp>
        <p:nvSpPr>
          <p:cNvPr id="3" name="Rectangle 2"/>
          <p:cNvSpPr/>
          <p:nvPr/>
        </p:nvSpPr>
        <p:spPr>
          <a:xfrm>
            <a:off x="228600" y="1676400"/>
            <a:ext cx="8229600" cy="1323439"/>
          </a:xfrm>
          <a:prstGeom prst="rect">
            <a:avLst/>
          </a:prstGeom>
        </p:spPr>
        <p:txBody>
          <a:bodyPr wrap="square">
            <a:spAutoFit/>
          </a:bodyPr>
          <a:lstStyle/>
          <a:p>
            <a:pPr algn="just" fontAlgn="base"/>
            <a:r>
              <a:rPr lang="en-US" sz="2000" dirty="0" smtClean="0">
                <a:latin typeface="Times New Roman" pitchFamily="18" charset="0"/>
                <a:cs typeface="Times New Roman" pitchFamily="18" charset="0"/>
              </a:rPr>
              <a:t>Let’s take an example:</a:t>
            </a:r>
          </a:p>
          <a:p>
            <a:pPr algn="just" fontAlgn="base"/>
            <a:r>
              <a:rPr lang="en-US" sz="2000" dirty="0" smtClean="0">
                <a:latin typeface="Times New Roman" pitchFamily="18" charset="0"/>
                <a:cs typeface="Times New Roman" pitchFamily="18" charset="0"/>
              </a:rPr>
              <a:t>Here we have a maze which is our environment and the sole goal of our agent is to reach the trophy state (R = 1) or to get Good reward and to avoid the fire state because it will be a failure (R = -1) or will get Bad reward.</a:t>
            </a:r>
          </a:p>
        </p:txBody>
      </p:sp>
      <p:pic>
        <p:nvPicPr>
          <p:cNvPr id="1026" name="Picture 2" descr="https://media.geeksforgeeks.org/wp-content/uploads/20210914203249/Env11-660x408.png"/>
          <p:cNvPicPr>
            <a:picLocks noChangeAspect="1" noChangeArrowheads="1"/>
          </p:cNvPicPr>
          <p:nvPr/>
        </p:nvPicPr>
        <p:blipFill>
          <a:blip r:embed="rId2"/>
          <a:srcRect/>
          <a:stretch>
            <a:fillRect/>
          </a:stretch>
        </p:blipFill>
        <p:spPr bwMode="auto">
          <a:xfrm>
            <a:off x="1295400" y="2971799"/>
            <a:ext cx="6286500" cy="388620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443841"/>
            <a:ext cx="7848600" cy="4247317"/>
          </a:xfrm>
          <a:prstGeom prst="rect">
            <a:avLst/>
          </a:prstGeom>
        </p:spPr>
        <p:txBody>
          <a:bodyPr wrap="square">
            <a:spAutoFit/>
          </a:bodyPr>
          <a:lstStyle/>
          <a:p>
            <a:pPr fontAlgn="base">
              <a:lnSpc>
                <a:spcPct val="150000"/>
              </a:lnSpc>
            </a:pPr>
            <a:r>
              <a:rPr lang="en-US" sz="2000" b="1" dirty="0" smtClean="0">
                <a:latin typeface="Times New Roman" pitchFamily="18" charset="0"/>
                <a:cs typeface="Times New Roman" pitchFamily="18" charset="0"/>
              </a:rPr>
              <a:t>What happens without Bellman Equation?</a:t>
            </a:r>
            <a:endParaRPr lang="en-US" sz="2000" dirty="0" smtClean="0">
              <a:latin typeface="Times New Roman" pitchFamily="18" charset="0"/>
              <a:cs typeface="Times New Roman" pitchFamily="18" charset="0"/>
            </a:endParaRPr>
          </a:p>
          <a:p>
            <a:pPr algn="just" fontAlgn="base">
              <a:lnSpc>
                <a:spcPct val="150000"/>
              </a:lnSpc>
            </a:pPr>
            <a:r>
              <a:rPr lang="en-US" sz="2000" dirty="0" smtClean="0">
                <a:latin typeface="Times New Roman" pitchFamily="18" charset="0"/>
                <a:cs typeface="Times New Roman" pitchFamily="18" charset="0"/>
              </a:rPr>
              <a:t>Initially, we will give our agent some time to explore the environment and let it figure out a path to the goal. As soon as it reaches its goal, it will back trace its steps back to its starting position and mark values of all the states which eventually leads towards the goal as V = 1.</a:t>
            </a:r>
          </a:p>
          <a:p>
            <a:pPr algn="just" fontAlgn="base">
              <a:lnSpc>
                <a:spcPct val="150000"/>
              </a:lnSpc>
            </a:pPr>
            <a:r>
              <a:rPr lang="en-US" sz="2000" dirty="0" smtClean="0">
                <a:latin typeface="Times New Roman" pitchFamily="18" charset="0"/>
                <a:cs typeface="Times New Roman" pitchFamily="18" charset="0"/>
              </a:rPr>
              <a:t>The agent will face no problem until we change its starting position, as it will not be able to find a path towards the trophy state since the value of all the states is equal to 1. So, to solve this problem we should use Bellman Equation:</a:t>
            </a:r>
            <a:endParaRPr lang="en-US"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0"/>
            <a:ext cx="8915400" cy="7294305"/>
          </a:xfrm>
          <a:prstGeom prst="rect">
            <a:avLst/>
          </a:prstGeom>
        </p:spPr>
        <p:txBody>
          <a:bodyPr wrap="square">
            <a:spAutoFit/>
          </a:bodyPr>
          <a:lstStyle/>
          <a:p>
            <a:pPr algn="just" fontAlgn="base">
              <a:lnSpc>
                <a:spcPct val="150000"/>
              </a:lnSpc>
            </a:pPr>
            <a:r>
              <a:rPr lang="en-US" sz="2000" b="1" dirty="0" smtClean="0">
                <a:latin typeface="Times New Roman" pitchFamily="18" charset="0"/>
                <a:cs typeface="Times New Roman" pitchFamily="18" charset="0"/>
              </a:rPr>
              <a:t>State(s):</a:t>
            </a:r>
            <a:r>
              <a:rPr lang="en-US" sz="2000" dirty="0" smtClean="0">
                <a:latin typeface="Times New Roman" pitchFamily="18" charset="0"/>
                <a:cs typeface="Times New Roman" pitchFamily="18" charset="0"/>
              </a:rPr>
              <a:t> current state where the agent is in the environment</a:t>
            </a:r>
          </a:p>
          <a:p>
            <a:pPr algn="just" fontAlgn="base">
              <a:lnSpc>
                <a:spcPct val="150000"/>
              </a:lnSpc>
            </a:pPr>
            <a:r>
              <a:rPr lang="en-US" sz="2000" b="1" dirty="0" smtClean="0">
                <a:latin typeface="Times New Roman" pitchFamily="18" charset="0"/>
                <a:cs typeface="Times New Roman" pitchFamily="18" charset="0"/>
              </a:rPr>
              <a:t>Next State(s’):</a:t>
            </a:r>
            <a:r>
              <a:rPr lang="en-US" sz="2000" dirty="0" smtClean="0">
                <a:latin typeface="Times New Roman" pitchFamily="18" charset="0"/>
                <a:cs typeface="Times New Roman" pitchFamily="18" charset="0"/>
              </a:rPr>
              <a:t> After taking action(a) at state(s) the agent reaches s’</a:t>
            </a:r>
          </a:p>
          <a:p>
            <a:pPr algn="just" fontAlgn="base">
              <a:lnSpc>
                <a:spcPct val="150000"/>
              </a:lnSpc>
            </a:pPr>
            <a:r>
              <a:rPr lang="en-US" sz="2000" b="1" dirty="0" smtClean="0">
                <a:latin typeface="Times New Roman" pitchFamily="18" charset="0"/>
                <a:cs typeface="Times New Roman" pitchFamily="18" charset="0"/>
              </a:rPr>
              <a:t>Value(V):</a:t>
            </a:r>
            <a:r>
              <a:rPr lang="en-US" sz="2000" dirty="0" smtClean="0">
                <a:latin typeface="Times New Roman" pitchFamily="18" charset="0"/>
                <a:cs typeface="Times New Roman" pitchFamily="18" charset="0"/>
              </a:rPr>
              <a:t> Numeric representation of a state which helps the agent to find its path. </a:t>
            </a:r>
            <a:r>
              <a:rPr lang="en-US" sz="2000" b="1" dirty="0" smtClean="0">
                <a:latin typeface="Times New Roman" pitchFamily="18" charset="0"/>
                <a:cs typeface="Times New Roman" pitchFamily="18" charset="0"/>
              </a:rPr>
              <a:t>V(s)</a:t>
            </a:r>
            <a:r>
              <a:rPr lang="en-US" sz="2000" dirty="0" smtClean="0">
                <a:latin typeface="Times New Roman" pitchFamily="18" charset="0"/>
                <a:cs typeface="Times New Roman" pitchFamily="18" charset="0"/>
              </a:rPr>
              <a:t> here means the value of the state s.</a:t>
            </a:r>
          </a:p>
          <a:p>
            <a:pPr algn="just" fontAlgn="base">
              <a:lnSpc>
                <a:spcPct val="150000"/>
              </a:lnSpc>
            </a:pPr>
            <a:r>
              <a:rPr lang="en-US" sz="2000" b="1" dirty="0" smtClean="0">
                <a:latin typeface="Times New Roman" pitchFamily="18" charset="0"/>
                <a:cs typeface="Times New Roman" pitchFamily="18" charset="0"/>
              </a:rPr>
              <a:t>Reward(R):</a:t>
            </a:r>
            <a:r>
              <a:rPr lang="en-US" sz="2000" dirty="0" smtClean="0">
                <a:latin typeface="Times New Roman" pitchFamily="18" charset="0"/>
                <a:cs typeface="Times New Roman" pitchFamily="18" charset="0"/>
              </a:rPr>
              <a:t> treat which the agent gets after performing an action(a).</a:t>
            </a:r>
          </a:p>
          <a:p>
            <a:pPr algn="just" fontAlgn="base">
              <a:lnSpc>
                <a:spcPct val="150000"/>
              </a:lnSpc>
            </a:pPr>
            <a:r>
              <a:rPr lang="en-US" sz="2000" b="1" dirty="0" smtClean="0">
                <a:latin typeface="Times New Roman" pitchFamily="18" charset="0"/>
                <a:cs typeface="Times New Roman" pitchFamily="18" charset="0"/>
              </a:rPr>
              <a:t>R(s):</a:t>
            </a:r>
            <a:r>
              <a:rPr lang="en-US" sz="2000" dirty="0" smtClean="0">
                <a:latin typeface="Times New Roman" pitchFamily="18" charset="0"/>
                <a:cs typeface="Times New Roman" pitchFamily="18" charset="0"/>
              </a:rPr>
              <a:t> reward for being in the state s</a:t>
            </a:r>
          </a:p>
          <a:p>
            <a:pPr algn="just" fontAlgn="base">
              <a:lnSpc>
                <a:spcPct val="150000"/>
              </a:lnSpc>
            </a:pPr>
            <a:r>
              <a:rPr lang="en-US" sz="2000" b="1" dirty="0" smtClean="0">
                <a:latin typeface="Times New Roman" pitchFamily="18" charset="0"/>
                <a:cs typeface="Times New Roman" pitchFamily="18" charset="0"/>
              </a:rPr>
              <a:t>R(</a:t>
            </a:r>
            <a:r>
              <a:rPr lang="en-US" sz="2000" b="1" dirty="0" err="1" smtClean="0">
                <a:latin typeface="Times New Roman" pitchFamily="18" charset="0"/>
                <a:cs typeface="Times New Roman" pitchFamily="18" charset="0"/>
              </a:rPr>
              <a:t>s,a</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reward for being in the state and performing an action a</a:t>
            </a:r>
          </a:p>
          <a:p>
            <a:pPr algn="just" fontAlgn="base">
              <a:lnSpc>
                <a:spcPct val="150000"/>
              </a:lnSpc>
            </a:pPr>
            <a:r>
              <a:rPr lang="en-US" sz="2000" b="1" dirty="0" smtClean="0">
                <a:latin typeface="Times New Roman" pitchFamily="18" charset="0"/>
                <a:cs typeface="Times New Roman" pitchFamily="18" charset="0"/>
              </a:rPr>
              <a:t>R(</a:t>
            </a:r>
            <a:r>
              <a:rPr lang="en-US" sz="2000" b="1" dirty="0" err="1" smtClean="0">
                <a:latin typeface="Times New Roman" pitchFamily="18" charset="0"/>
                <a:cs typeface="Times New Roman" pitchFamily="18" charset="0"/>
              </a:rPr>
              <a:t>s,a,s</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reward for being in a state s, taking an action a and ending up in s’</a:t>
            </a:r>
          </a:p>
          <a:p>
            <a:pPr algn="just" fontAlgn="base">
              <a:lnSpc>
                <a:spcPct val="150000"/>
              </a:lnSpc>
            </a:pPr>
            <a:r>
              <a:rPr lang="en-US" sz="2000" dirty="0" smtClean="0">
                <a:latin typeface="Times New Roman" pitchFamily="18" charset="0"/>
                <a:cs typeface="Times New Roman" pitchFamily="18" charset="0"/>
              </a:rPr>
              <a:t>e.g. </a:t>
            </a:r>
            <a:r>
              <a:rPr lang="en-US" sz="2000" b="1" dirty="0" smtClean="0">
                <a:latin typeface="Times New Roman" pitchFamily="18" charset="0"/>
                <a:cs typeface="Times New Roman" pitchFamily="18" charset="0"/>
              </a:rPr>
              <a:t>Good reward</a:t>
            </a:r>
            <a:r>
              <a:rPr lang="en-US" sz="2000" dirty="0" smtClean="0">
                <a:latin typeface="Times New Roman" pitchFamily="18" charset="0"/>
                <a:cs typeface="Times New Roman" pitchFamily="18" charset="0"/>
              </a:rPr>
              <a:t> can be </a:t>
            </a:r>
            <a:r>
              <a:rPr lang="en-US" sz="2000" b="1"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Bad reward</a:t>
            </a:r>
            <a:r>
              <a:rPr lang="en-US" sz="2000" dirty="0" smtClean="0">
                <a:latin typeface="Times New Roman" pitchFamily="18" charset="0"/>
                <a:cs typeface="Times New Roman" pitchFamily="18" charset="0"/>
              </a:rPr>
              <a:t> can be </a:t>
            </a:r>
            <a:r>
              <a:rPr lang="en-US" sz="2000" b="1"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No reward</a:t>
            </a:r>
            <a:r>
              <a:rPr lang="en-US" sz="2000" dirty="0" smtClean="0">
                <a:latin typeface="Times New Roman" pitchFamily="18" charset="0"/>
                <a:cs typeface="Times New Roman" pitchFamily="18" charset="0"/>
              </a:rPr>
              <a:t> can be </a:t>
            </a:r>
            <a:r>
              <a:rPr lang="en-US" sz="2000" b="1"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a:t>
            </a:r>
          </a:p>
          <a:p>
            <a:pPr algn="just" fontAlgn="base">
              <a:lnSpc>
                <a:spcPct val="150000"/>
              </a:lnSpc>
            </a:pPr>
            <a:r>
              <a:rPr lang="en-US" sz="2000" b="1" dirty="0" smtClean="0">
                <a:latin typeface="Times New Roman" pitchFamily="18" charset="0"/>
                <a:cs typeface="Times New Roman" pitchFamily="18" charset="0"/>
              </a:rPr>
              <a:t>Action(a):</a:t>
            </a:r>
            <a:r>
              <a:rPr lang="en-US" sz="2000" dirty="0" smtClean="0">
                <a:latin typeface="Times New Roman" pitchFamily="18" charset="0"/>
                <a:cs typeface="Times New Roman" pitchFamily="18" charset="0"/>
              </a:rPr>
              <a:t> set of possible actions that can be taken by the agent in the state(s). e.g. (</a:t>
            </a:r>
            <a:r>
              <a:rPr lang="en-US" sz="2000" b="1" dirty="0" smtClean="0">
                <a:latin typeface="Times New Roman" pitchFamily="18" charset="0"/>
                <a:cs typeface="Times New Roman" pitchFamily="18" charset="0"/>
              </a:rPr>
              <a:t>LEFT</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RIGHT</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UP</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DOWN</a:t>
            </a:r>
            <a:r>
              <a:rPr lang="en-US" sz="2000" dirty="0" smtClean="0">
                <a:latin typeface="Times New Roman" pitchFamily="18" charset="0"/>
                <a:cs typeface="Times New Roman" pitchFamily="18" charset="0"/>
              </a:rPr>
              <a:t>)</a:t>
            </a:r>
          </a:p>
          <a:p>
            <a:pPr algn="just" fontAlgn="base">
              <a:lnSpc>
                <a:spcPct val="150000"/>
              </a:lnSpc>
            </a:pPr>
            <a:r>
              <a:rPr lang="en-US" sz="2000" b="1" dirty="0" smtClean="0">
                <a:latin typeface="Times New Roman" pitchFamily="18" charset="0"/>
                <a:cs typeface="Times New Roman" pitchFamily="18" charset="0"/>
              </a:rPr>
              <a:t>Discount factor(γ):</a:t>
            </a:r>
            <a:r>
              <a:rPr lang="en-US" sz="2000" dirty="0" smtClean="0">
                <a:latin typeface="Times New Roman" pitchFamily="18" charset="0"/>
                <a:cs typeface="Times New Roman" pitchFamily="18" charset="0"/>
              </a:rPr>
              <a:t> determines how much the agent cares about rewards in the distant future relative to those in the immediate future. It has a value </a:t>
            </a:r>
            <a:r>
              <a:rPr lang="en-US" sz="2000" b="1" dirty="0" smtClean="0">
                <a:latin typeface="Times New Roman" pitchFamily="18" charset="0"/>
                <a:cs typeface="Times New Roman" pitchFamily="18" charset="0"/>
              </a:rPr>
              <a:t>between 0 and 1</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Lower value</a:t>
            </a:r>
            <a:r>
              <a:rPr lang="en-US" sz="2000" dirty="0" smtClean="0">
                <a:latin typeface="Times New Roman" pitchFamily="18" charset="0"/>
                <a:cs typeface="Times New Roman" pitchFamily="18" charset="0"/>
              </a:rPr>
              <a:t> encourages </a:t>
            </a:r>
            <a:r>
              <a:rPr lang="en-US" sz="2000" b="1" dirty="0" smtClean="0">
                <a:latin typeface="Times New Roman" pitchFamily="18" charset="0"/>
                <a:cs typeface="Times New Roman" pitchFamily="18" charset="0"/>
              </a:rPr>
              <a:t>short–term</a:t>
            </a:r>
            <a:r>
              <a:rPr lang="en-US" sz="2000" dirty="0" smtClean="0">
                <a:latin typeface="Times New Roman" pitchFamily="18" charset="0"/>
                <a:cs typeface="Times New Roman" pitchFamily="18" charset="0"/>
              </a:rPr>
              <a:t> rewards while </a:t>
            </a:r>
            <a:r>
              <a:rPr lang="en-US" sz="2000" b="1" dirty="0" smtClean="0">
                <a:latin typeface="Times New Roman" pitchFamily="18" charset="0"/>
                <a:cs typeface="Times New Roman" pitchFamily="18" charset="0"/>
              </a:rPr>
              <a:t>higher value</a:t>
            </a:r>
            <a:r>
              <a:rPr lang="en-US" sz="2000" dirty="0" smtClean="0">
                <a:latin typeface="Times New Roman" pitchFamily="18" charset="0"/>
                <a:cs typeface="Times New Roman" pitchFamily="18" charset="0"/>
              </a:rPr>
              <a:t> promises </a:t>
            </a:r>
            <a:r>
              <a:rPr lang="en-US" sz="2000" b="1" dirty="0" smtClean="0">
                <a:latin typeface="Times New Roman" pitchFamily="18" charset="0"/>
                <a:cs typeface="Times New Roman" pitchFamily="18" charset="0"/>
              </a:rPr>
              <a:t>long-term reward</a:t>
            </a:r>
            <a:endParaRPr lang="en-US" sz="2000" dirty="0" smtClean="0">
              <a:latin typeface="Times New Roman" pitchFamily="18" charset="0"/>
              <a:cs typeface="Times New Roman" pitchFamily="18" charset="0"/>
            </a:endParaRPr>
          </a:p>
          <a:p>
            <a:pPr fontAlgn="base"/>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s://media.geeksforgeeks.org/wp-content/uploads/20210914210519/env21-660x409.png"/>
          <p:cNvPicPr>
            <a:picLocks noChangeAspect="1" noChangeArrowheads="1"/>
          </p:cNvPicPr>
          <p:nvPr/>
        </p:nvPicPr>
        <p:blipFill>
          <a:blip r:embed="rId2"/>
          <a:srcRect/>
          <a:stretch>
            <a:fillRect/>
          </a:stretch>
        </p:blipFill>
        <p:spPr bwMode="auto">
          <a:xfrm>
            <a:off x="1295400" y="304800"/>
            <a:ext cx="6286500" cy="3895725"/>
          </a:xfrm>
          <a:prstGeom prst="rect">
            <a:avLst/>
          </a:prstGeom>
          <a:noFill/>
        </p:spPr>
      </p:pic>
      <p:sp>
        <p:nvSpPr>
          <p:cNvPr id="3" name="Rectangle 2"/>
          <p:cNvSpPr/>
          <p:nvPr/>
        </p:nvSpPr>
        <p:spPr>
          <a:xfrm>
            <a:off x="533400" y="4648200"/>
            <a:ext cx="8001000" cy="1015663"/>
          </a:xfrm>
          <a:prstGeom prst="rect">
            <a:avLst/>
          </a:prstGeom>
        </p:spPr>
        <p:txBody>
          <a:bodyPr wrap="square">
            <a:spAutoFit/>
          </a:bodyPr>
          <a:lstStyle/>
          <a:p>
            <a:pPr algn="just"/>
            <a:r>
              <a:rPr lang="en-US" sz="2000" dirty="0" smtClean="0">
                <a:latin typeface="Times New Roman" pitchFamily="18" charset="0"/>
                <a:cs typeface="Times New Roman" pitchFamily="18" charset="0"/>
              </a:rPr>
              <a:t>The max denotes the most optimum action among all the actions that the agent can take in a particular state which can lead to the reward after repeating this process every consecutive step. </a:t>
            </a:r>
            <a:endParaRPr lang="en-US" sz="2000" dirty="0">
              <a:latin typeface="Times New Roman" pitchFamily="18" charset="0"/>
              <a:cs typeface="Times New Roman" pitchFamily="18" charset="0"/>
            </a:endParaRPr>
          </a:p>
        </p:txBody>
      </p:sp>
      <p:pic>
        <p:nvPicPr>
          <p:cNvPr id="4" name="Picture 2" descr="Bellman Equations"/>
          <p:cNvPicPr>
            <a:picLocks noChangeAspect="1" noChangeArrowheads="1"/>
          </p:cNvPicPr>
          <p:nvPr/>
        </p:nvPicPr>
        <p:blipFill>
          <a:blip r:embed="rId3"/>
          <a:srcRect/>
          <a:stretch>
            <a:fillRect/>
          </a:stretch>
        </p:blipFill>
        <p:spPr bwMode="auto">
          <a:xfrm>
            <a:off x="381000" y="5791200"/>
            <a:ext cx="7848600" cy="10668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305800" cy="5028556"/>
          </a:xfrm>
          <a:prstGeom prst="rect">
            <a:avLst/>
          </a:prstGeom>
        </p:spPr>
        <p:txBody>
          <a:bodyPr wrap="square">
            <a:spAutoFit/>
          </a:bodyPr>
          <a:lstStyle/>
          <a:p>
            <a:pPr algn="just" fontAlgn="base">
              <a:lnSpc>
                <a:spcPct val="150000"/>
              </a:lnSpc>
            </a:pPr>
            <a:r>
              <a:rPr lang="en-US" b="1" dirty="0" smtClean="0">
                <a:latin typeface="Times New Roman" pitchFamily="18" charset="0"/>
                <a:cs typeface="Times New Roman" pitchFamily="18" charset="0"/>
              </a:rPr>
              <a:t>For example:</a:t>
            </a:r>
          </a:p>
          <a:p>
            <a:pPr algn="just" fontAlgn="base">
              <a:lnSpc>
                <a:spcPct val="150000"/>
              </a:lnSpc>
              <a:buFont typeface="Arial" pitchFamily="34" charset="0"/>
              <a:buChar char="•"/>
            </a:pPr>
            <a:r>
              <a:rPr lang="en-US" dirty="0" smtClean="0">
                <a:latin typeface="Times New Roman" pitchFamily="18" charset="0"/>
                <a:cs typeface="Times New Roman" pitchFamily="18" charset="0"/>
              </a:rPr>
              <a:t>The state left to the fire state (V = 0.9) can go UP, DOWN, RIGHT but NOT LEFT because it’s a wall(not accessible). Among all these actions available the maximum value for that state is the UP action.</a:t>
            </a:r>
          </a:p>
          <a:p>
            <a:pPr algn="just" fontAlgn="base">
              <a:lnSpc>
                <a:spcPct val="150000"/>
              </a:lnSpc>
              <a:buFont typeface="Arial" pitchFamily="34" charset="0"/>
              <a:buChar char="•"/>
            </a:pPr>
            <a:r>
              <a:rPr lang="en-US" dirty="0" smtClean="0">
                <a:latin typeface="Times New Roman" pitchFamily="18" charset="0"/>
                <a:cs typeface="Times New Roman" pitchFamily="18" charset="0"/>
              </a:rPr>
              <a:t>The current starting state of our agent can choose any random action UP or RIGHT since both lead towards the reward with the same number of steps.</a:t>
            </a:r>
          </a:p>
          <a:p>
            <a:pPr algn="just" fontAlgn="base">
              <a:lnSpc>
                <a:spcPct val="150000"/>
              </a:lnSpc>
              <a:buFont typeface="Arial" pitchFamily="34" charset="0"/>
              <a:buChar char="•"/>
            </a:pPr>
            <a:r>
              <a:rPr lang="en-US" dirty="0" smtClean="0">
                <a:latin typeface="Times New Roman" pitchFamily="18" charset="0"/>
                <a:cs typeface="Times New Roman" pitchFamily="18" charset="0"/>
              </a:rPr>
              <a:t>By using the Bellman equation our agent will calculate the value of every step except for the trophy and the fire state (V = 0), they cannot have values since they are the end of the maze.</a:t>
            </a:r>
          </a:p>
          <a:p>
            <a:pPr algn="just" fontAlgn="base">
              <a:lnSpc>
                <a:spcPct val="150000"/>
              </a:lnSpc>
              <a:buFont typeface="Arial" pitchFamily="34" charset="0"/>
              <a:buChar char="•"/>
            </a:pPr>
            <a:r>
              <a:rPr lang="en-US" dirty="0" smtClean="0">
                <a:latin typeface="Times New Roman" pitchFamily="18" charset="0"/>
                <a:cs typeface="Times New Roman" pitchFamily="18" charset="0"/>
              </a:rPr>
              <a:t>So, after making such a plan our agent can easily accomplish its goal by just following the increasing values.</a:t>
            </a:r>
            <a:endParaRPr lang="en-US"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180</TotalTime>
  <Words>324</Words>
  <Application>Microsoft Office PowerPoint</Application>
  <PresentationFormat>On-screen Show (4:3)</PresentationFormat>
  <Paragraphs>35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Concourse</vt:lpstr>
      <vt:lpstr>Bellman Equation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Bellman Equation </dc:title>
  <dc:creator>klp_mmu</dc:creator>
  <cp:lastModifiedBy>klp_mmu</cp:lastModifiedBy>
  <cp:revision>8</cp:revision>
  <dcterms:created xsi:type="dcterms:W3CDTF">2006-08-16T00:00:00Z</dcterms:created>
  <dcterms:modified xsi:type="dcterms:W3CDTF">2024-01-30T05:36:53Z</dcterms:modified>
</cp:coreProperties>
</file>