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80" r:id="rId6"/>
    <p:sldId id="281" r:id="rId7"/>
    <p:sldId id="260" r:id="rId8"/>
    <p:sldId id="261" r:id="rId9"/>
    <p:sldId id="262" r:id="rId10"/>
    <p:sldId id="263" r:id="rId11"/>
    <p:sldId id="292" r:id="rId12"/>
    <p:sldId id="293" r:id="rId13"/>
    <p:sldId id="264" r:id="rId14"/>
    <p:sldId id="265" r:id="rId15"/>
    <p:sldId id="294" r:id="rId16"/>
    <p:sldId id="295" r:id="rId17"/>
    <p:sldId id="296" r:id="rId18"/>
    <p:sldId id="297" r:id="rId19"/>
    <p:sldId id="298" r:id="rId20"/>
    <p:sldId id="299" r:id="rId21"/>
    <p:sldId id="300" r:id="rId22"/>
    <p:sldId id="301" r:id="rId23"/>
    <p:sldId id="302"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A289D5-E6F3-4797-8039-1FBEAB9800C5}" v="27" dt="2026-01-08T04:01:04.5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ali Goyal" userId="23d9571fe247782f" providerId="LiveId" clId="{8C5539D1-D469-4169-9425-A1A8DAB8619A}"/>
    <pc:docChg chg="custSel addSld modSld">
      <pc:chgData name="Sonali Goyal" userId="23d9571fe247782f" providerId="LiveId" clId="{8C5539D1-D469-4169-9425-A1A8DAB8619A}" dt="2026-01-09T03:53:48.274" v="307" actId="20577"/>
      <pc:docMkLst>
        <pc:docMk/>
      </pc:docMkLst>
      <pc:sldChg chg="addSp modSp new mod">
        <pc:chgData name="Sonali Goyal" userId="23d9571fe247782f" providerId="LiveId" clId="{8C5539D1-D469-4169-9425-A1A8DAB8619A}" dt="2026-01-08T03:27:29.552" v="11"/>
        <pc:sldMkLst>
          <pc:docMk/>
          <pc:sldMk cId="1444714664" sldId="285"/>
        </pc:sldMkLst>
        <pc:spChg chg="add mod">
          <ac:chgData name="Sonali Goyal" userId="23d9571fe247782f" providerId="LiveId" clId="{8C5539D1-D469-4169-9425-A1A8DAB8619A}" dt="2026-01-08T03:27:29.552" v="11"/>
          <ac:spMkLst>
            <pc:docMk/>
            <pc:sldMk cId="1444714664" sldId="285"/>
            <ac:spMk id="3" creationId="{D38D7682-72F5-F3FD-5365-3B2C7FEEFF90}"/>
          </ac:spMkLst>
        </pc:spChg>
      </pc:sldChg>
      <pc:sldChg chg="addSp modSp new mod">
        <pc:chgData name="Sonali Goyal" userId="23d9571fe247782f" providerId="LiveId" clId="{8C5539D1-D469-4169-9425-A1A8DAB8619A}" dt="2026-01-08T03:29:49.064" v="27"/>
        <pc:sldMkLst>
          <pc:docMk/>
          <pc:sldMk cId="2516517923" sldId="286"/>
        </pc:sldMkLst>
        <pc:spChg chg="add mod">
          <ac:chgData name="Sonali Goyal" userId="23d9571fe247782f" providerId="LiveId" clId="{8C5539D1-D469-4169-9425-A1A8DAB8619A}" dt="2026-01-08T03:29:49.064" v="27"/>
          <ac:spMkLst>
            <pc:docMk/>
            <pc:sldMk cId="2516517923" sldId="286"/>
            <ac:spMk id="3" creationId="{B628DB39-FADC-6643-9EFE-7DA8BBF40FBC}"/>
          </ac:spMkLst>
        </pc:spChg>
      </pc:sldChg>
      <pc:sldChg chg="addSp modSp new mod">
        <pc:chgData name="Sonali Goyal" userId="23d9571fe247782f" providerId="LiveId" clId="{8C5539D1-D469-4169-9425-A1A8DAB8619A}" dt="2026-01-08T03:29:05.245" v="25" actId="1076"/>
        <pc:sldMkLst>
          <pc:docMk/>
          <pc:sldMk cId="3019901329" sldId="287"/>
        </pc:sldMkLst>
        <pc:graphicFrameChg chg="add mod">
          <ac:chgData name="Sonali Goyal" userId="23d9571fe247782f" providerId="LiveId" clId="{8C5539D1-D469-4169-9425-A1A8DAB8619A}" dt="2026-01-08T03:29:05.245" v="25" actId="1076"/>
          <ac:graphicFrameMkLst>
            <pc:docMk/>
            <pc:sldMk cId="3019901329" sldId="287"/>
            <ac:graphicFrameMk id="2" creationId="{F0795262-E9E3-C074-41DA-07ED76BE4C02}"/>
          </ac:graphicFrameMkLst>
        </pc:graphicFrameChg>
      </pc:sldChg>
      <pc:sldChg chg="addSp modSp new mod">
        <pc:chgData name="Sonali Goyal" userId="23d9571fe247782f" providerId="LiveId" clId="{8C5539D1-D469-4169-9425-A1A8DAB8619A}" dt="2026-01-08T03:33:20.917" v="38"/>
        <pc:sldMkLst>
          <pc:docMk/>
          <pc:sldMk cId="1519488326" sldId="288"/>
        </pc:sldMkLst>
        <pc:spChg chg="add mod">
          <ac:chgData name="Sonali Goyal" userId="23d9571fe247782f" providerId="LiveId" clId="{8C5539D1-D469-4169-9425-A1A8DAB8619A}" dt="2026-01-08T03:33:20.917" v="38"/>
          <ac:spMkLst>
            <pc:docMk/>
            <pc:sldMk cId="1519488326" sldId="288"/>
            <ac:spMk id="3" creationId="{059182E7-AA4A-665F-4B56-4953A0518491}"/>
          </ac:spMkLst>
        </pc:spChg>
      </pc:sldChg>
      <pc:sldChg chg="addSp modSp new mod">
        <pc:chgData name="Sonali Goyal" userId="23d9571fe247782f" providerId="LiveId" clId="{8C5539D1-D469-4169-9425-A1A8DAB8619A}" dt="2026-01-08T03:34:14.943" v="46"/>
        <pc:sldMkLst>
          <pc:docMk/>
          <pc:sldMk cId="1633963077" sldId="289"/>
        </pc:sldMkLst>
        <pc:spChg chg="add mod">
          <ac:chgData name="Sonali Goyal" userId="23d9571fe247782f" providerId="LiveId" clId="{8C5539D1-D469-4169-9425-A1A8DAB8619A}" dt="2026-01-08T03:34:14.943" v="46"/>
          <ac:spMkLst>
            <pc:docMk/>
            <pc:sldMk cId="1633963077" sldId="289"/>
            <ac:spMk id="3" creationId="{CF841E38-E12D-2439-4B82-876A2A421628}"/>
          </ac:spMkLst>
        </pc:spChg>
      </pc:sldChg>
      <pc:sldChg chg="addSp modSp new mod">
        <pc:chgData name="Sonali Goyal" userId="23d9571fe247782f" providerId="LiveId" clId="{8C5539D1-D469-4169-9425-A1A8DAB8619A}" dt="2026-01-08T03:37:35.175" v="55"/>
        <pc:sldMkLst>
          <pc:docMk/>
          <pc:sldMk cId="1208547880" sldId="290"/>
        </pc:sldMkLst>
        <pc:spChg chg="add mod">
          <ac:chgData name="Sonali Goyal" userId="23d9571fe247782f" providerId="LiveId" clId="{8C5539D1-D469-4169-9425-A1A8DAB8619A}" dt="2026-01-08T03:37:35.175" v="55"/>
          <ac:spMkLst>
            <pc:docMk/>
            <pc:sldMk cId="1208547880" sldId="290"/>
            <ac:spMk id="3" creationId="{868947CD-42C7-18D0-C751-3D9FB4EAF6D0}"/>
          </ac:spMkLst>
        </pc:spChg>
      </pc:sldChg>
      <pc:sldChg chg="addSp delSp modSp new mod">
        <pc:chgData name="Sonali Goyal" userId="23d9571fe247782f" providerId="LiveId" clId="{8C5539D1-D469-4169-9425-A1A8DAB8619A}" dt="2026-01-08T03:38:12.771" v="62" actId="1076"/>
        <pc:sldMkLst>
          <pc:docMk/>
          <pc:sldMk cId="318319836" sldId="291"/>
        </pc:sldMkLst>
        <pc:spChg chg="add del mod">
          <ac:chgData name="Sonali Goyal" userId="23d9571fe247782f" providerId="LiveId" clId="{8C5539D1-D469-4169-9425-A1A8DAB8619A}" dt="2026-01-08T03:38:09.802" v="61" actId="21"/>
          <ac:spMkLst>
            <pc:docMk/>
            <pc:sldMk cId="318319836" sldId="291"/>
            <ac:spMk id="3" creationId="{744D4830-5733-BDD6-127B-C2E5370BD8DC}"/>
          </ac:spMkLst>
        </pc:spChg>
        <pc:spChg chg="add mod">
          <ac:chgData name="Sonali Goyal" userId="23d9571fe247782f" providerId="LiveId" clId="{8C5539D1-D469-4169-9425-A1A8DAB8619A}" dt="2026-01-08T03:38:12.771" v="62" actId="1076"/>
          <ac:spMkLst>
            <pc:docMk/>
            <pc:sldMk cId="318319836" sldId="291"/>
            <ac:spMk id="5" creationId="{7D328394-1210-1D6C-8650-438B1C9E8BDF}"/>
          </ac:spMkLst>
        </pc:spChg>
      </pc:sldChg>
      <pc:sldChg chg="addSp modSp new mod">
        <pc:chgData name="Sonali Goyal" userId="23d9571fe247782f" providerId="LiveId" clId="{8C5539D1-D469-4169-9425-A1A8DAB8619A}" dt="2026-01-08T03:43:08.485" v="69" actId="255"/>
        <pc:sldMkLst>
          <pc:docMk/>
          <pc:sldMk cId="2134492426" sldId="292"/>
        </pc:sldMkLst>
        <pc:graphicFrameChg chg="add mod modGraphic">
          <ac:chgData name="Sonali Goyal" userId="23d9571fe247782f" providerId="LiveId" clId="{8C5539D1-D469-4169-9425-A1A8DAB8619A}" dt="2026-01-08T03:43:08.485" v="69" actId="255"/>
          <ac:graphicFrameMkLst>
            <pc:docMk/>
            <pc:sldMk cId="2134492426" sldId="292"/>
            <ac:graphicFrameMk id="2" creationId="{9412886C-6179-671E-6C7C-0818E98EAB58}"/>
          </ac:graphicFrameMkLst>
        </pc:graphicFrameChg>
      </pc:sldChg>
      <pc:sldChg chg="addSp modSp new mod">
        <pc:chgData name="Sonali Goyal" userId="23d9571fe247782f" providerId="LiveId" clId="{8C5539D1-D469-4169-9425-A1A8DAB8619A}" dt="2026-01-08T03:45:31.259" v="77" actId="1076"/>
        <pc:sldMkLst>
          <pc:docMk/>
          <pc:sldMk cId="2479012565" sldId="293"/>
        </pc:sldMkLst>
        <pc:graphicFrameChg chg="add mod modGraphic">
          <ac:chgData name="Sonali Goyal" userId="23d9571fe247782f" providerId="LiveId" clId="{8C5539D1-D469-4169-9425-A1A8DAB8619A}" dt="2026-01-08T03:45:31.259" v="77" actId="1076"/>
          <ac:graphicFrameMkLst>
            <pc:docMk/>
            <pc:sldMk cId="2479012565" sldId="293"/>
            <ac:graphicFrameMk id="2" creationId="{D8E3EEB6-CC9B-1827-8E30-A0B566E79365}"/>
          </ac:graphicFrameMkLst>
        </pc:graphicFrameChg>
      </pc:sldChg>
      <pc:sldChg chg="addSp modSp new mod">
        <pc:chgData name="Sonali Goyal" userId="23d9571fe247782f" providerId="LiveId" clId="{8C5539D1-D469-4169-9425-A1A8DAB8619A}" dt="2026-01-08T03:59:02.697" v="200" actId="6549"/>
        <pc:sldMkLst>
          <pc:docMk/>
          <pc:sldMk cId="2996600014" sldId="294"/>
        </pc:sldMkLst>
        <pc:spChg chg="add mod">
          <ac:chgData name="Sonali Goyal" userId="23d9571fe247782f" providerId="LiveId" clId="{8C5539D1-D469-4169-9425-A1A8DAB8619A}" dt="2026-01-08T03:59:02.697" v="200" actId="6549"/>
          <ac:spMkLst>
            <pc:docMk/>
            <pc:sldMk cId="2996600014" sldId="294"/>
            <ac:spMk id="3" creationId="{28976F63-C7CC-B2BA-18DB-EBCBE7109BC8}"/>
          </ac:spMkLst>
        </pc:spChg>
      </pc:sldChg>
      <pc:sldChg chg="addSp modSp new mod">
        <pc:chgData name="Sonali Goyal" userId="23d9571fe247782f" providerId="LiveId" clId="{8C5539D1-D469-4169-9425-A1A8DAB8619A}" dt="2026-01-08T04:01:09.076" v="217" actId="6549"/>
        <pc:sldMkLst>
          <pc:docMk/>
          <pc:sldMk cId="1669577811" sldId="295"/>
        </pc:sldMkLst>
        <pc:spChg chg="add mod">
          <ac:chgData name="Sonali Goyal" userId="23d9571fe247782f" providerId="LiveId" clId="{8C5539D1-D469-4169-9425-A1A8DAB8619A}" dt="2026-01-08T04:01:09.076" v="217" actId="6549"/>
          <ac:spMkLst>
            <pc:docMk/>
            <pc:sldMk cId="1669577811" sldId="295"/>
            <ac:spMk id="3" creationId="{96B7D937-277C-DF4F-94BC-00A7BB444705}"/>
          </ac:spMkLst>
        </pc:spChg>
      </pc:sldChg>
      <pc:sldChg chg="addSp modSp new mod">
        <pc:chgData name="Sonali Goyal" userId="23d9571fe247782f" providerId="LiveId" clId="{8C5539D1-D469-4169-9425-A1A8DAB8619A}" dt="2026-01-08T04:01:42.247" v="235" actId="20577"/>
        <pc:sldMkLst>
          <pc:docMk/>
          <pc:sldMk cId="1266052033" sldId="296"/>
        </pc:sldMkLst>
        <pc:spChg chg="add mod">
          <ac:chgData name="Sonali Goyal" userId="23d9571fe247782f" providerId="LiveId" clId="{8C5539D1-D469-4169-9425-A1A8DAB8619A}" dt="2026-01-08T04:01:42.247" v="235" actId="20577"/>
          <ac:spMkLst>
            <pc:docMk/>
            <pc:sldMk cId="1266052033" sldId="296"/>
            <ac:spMk id="3" creationId="{79F90581-3D32-E86E-6EBE-4CA349AA8094}"/>
          </ac:spMkLst>
        </pc:spChg>
      </pc:sldChg>
      <pc:sldChg chg="addSp modSp new mod">
        <pc:chgData name="Sonali Goyal" userId="23d9571fe247782f" providerId="LiveId" clId="{8C5539D1-D469-4169-9425-A1A8DAB8619A}" dt="2026-01-08T04:02:06.369" v="262" actId="20577"/>
        <pc:sldMkLst>
          <pc:docMk/>
          <pc:sldMk cId="4208442365" sldId="297"/>
        </pc:sldMkLst>
        <pc:spChg chg="add mod">
          <ac:chgData name="Sonali Goyal" userId="23d9571fe247782f" providerId="LiveId" clId="{8C5539D1-D469-4169-9425-A1A8DAB8619A}" dt="2026-01-08T04:02:06.369" v="262" actId="20577"/>
          <ac:spMkLst>
            <pc:docMk/>
            <pc:sldMk cId="4208442365" sldId="297"/>
            <ac:spMk id="3" creationId="{0CEC7AB2-F8F0-AA99-C5D1-7342E23EDFC2}"/>
          </ac:spMkLst>
        </pc:spChg>
      </pc:sldChg>
      <pc:sldChg chg="addSp modSp new mod">
        <pc:chgData name="Sonali Goyal" userId="23d9571fe247782f" providerId="LiveId" clId="{8C5539D1-D469-4169-9425-A1A8DAB8619A}" dt="2026-01-08T04:02:35.328" v="294" actId="20577"/>
        <pc:sldMkLst>
          <pc:docMk/>
          <pc:sldMk cId="1849548207" sldId="298"/>
        </pc:sldMkLst>
        <pc:spChg chg="add mod">
          <ac:chgData name="Sonali Goyal" userId="23d9571fe247782f" providerId="LiveId" clId="{8C5539D1-D469-4169-9425-A1A8DAB8619A}" dt="2026-01-08T04:02:35.328" v="294" actId="20577"/>
          <ac:spMkLst>
            <pc:docMk/>
            <pc:sldMk cId="1849548207" sldId="298"/>
            <ac:spMk id="3" creationId="{8136E949-3C44-7F94-4622-9C4BDE1420CF}"/>
          </ac:spMkLst>
        </pc:spChg>
      </pc:sldChg>
      <pc:sldChg chg="addSp modSp new mod">
        <pc:chgData name="Sonali Goyal" userId="23d9571fe247782f" providerId="LiveId" clId="{8C5539D1-D469-4169-9425-A1A8DAB8619A}" dt="2026-01-09T03:53:48.274" v="307" actId="20577"/>
        <pc:sldMkLst>
          <pc:docMk/>
          <pc:sldMk cId="1755263101" sldId="299"/>
        </pc:sldMkLst>
        <pc:spChg chg="add mod">
          <ac:chgData name="Sonali Goyal" userId="23d9571fe247782f" providerId="LiveId" clId="{8C5539D1-D469-4169-9425-A1A8DAB8619A}" dt="2026-01-09T03:53:48.274" v="307" actId="20577"/>
          <ac:spMkLst>
            <pc:docMk/>
            <pc:sldMk cId="1755263101" sldId="299"/>
            <ac:spMk id="3" creationId="{C31B6044-23F2-2D74-7B17-A70BBB0E06CF}"/>
          </ac:spMkLst>
        </pc:spChg>
      </pc:sldChg>
      <pc:sldChg chg="addSp modSp new mod">
        <pc:chgData name="Sonali Goyal" userId="23d9571fe247782f" providerId="LiveId" clId="{8C5539D1-D469-4169-9425-A1A8DAB8619A}" dt="2026-01-09T03:17:25.911" v="296" actId="20577"/>
        <pc:sldMkLst>
          <pc:docMk/>
          <pc:sldMk cId="3679993534" sldId="300"/>
        </pc:sldMkLst>
        <pc:spChg chg="add mod">
          <ac:chgData name="Sonali Goyal" userId="23d9571fe247782f" providerId="LiveId" clId="{8C5539D1-D469-4169-9425-A1A8DAB8619A}" dt="2026-01-09T03:17:25.911" v="296" actId="20577"/>
          <ac:spMkLst>
            <pc:docMk/>
            <pc:sldMk cId="3679993534" sldId="300"/>
            <ac:spMk id="3" creationId="{F80B462D-A654-0426-F290-03A730D7FE01}"/>
          </ac:spMkLst>
        </pc:spChg>
      </pc:sldChg>
      <pc:sldChg chg="addSp modSp new mod">
        <pc:chgData name="Sonali Goyal" userId="23d9571fe247782f" providerId="LiveId" clId="{8C5539D1-D469-4169-9425-A1A8DAB8619A}" dt="2026-01-09T03:17:39.466" v="300" actId="20577"/>
        <pc:sldMkLst>
          <pc:docMk/>
          <pc:sldMk cId="3170424486" sldId="301"/>
        </pc:sldMkLst>
        <pc:spChg chg="add mod">
          <ac:chgData name="Sonali Goyal" userId="23d9571fe247782f" providerId="LiveId" clId="{8C5539D1-D469-4169-9425-A1A8DAB8619A}" dt="2026-01-09T03:17:39.466" v="300" actId="20577"/>
          <ac:spMkLst>
            <pc:docMk/>
            <pc:sldMk cId="3170424486" sldId="301"/>
            <ac:spMk id="3" creationId="{E3AC5236-2F15-46AF-C638-5CB184B4A1D4}"/>
          </ac:spMkLst>
        </pc:spChg>
      </pc:sldChg>
      <pc:sldChg chg="addSp modSp new mod">
        <pc:chgData name="Sonali Goyal" userId="23d9571fe247782f" providerId="LiveId" clId="{8C5539D1-D469-4169-9425-A1A8DAB8619A}" dt="2026-01-09T03:17:47.609" v="302" actId="20577"/>
        <pc:sldMkLst>
          <pc:docMk/>
          <pc:sldMk cId="2153103408" sldId="302"/>
        </pc:sldMkLst>
        <pc:spChg chg="add mod">
          <ac:chgData name="Sonali Goyal" userId="23d9571fe247782f" providerId="LiveId" clId="{8C5539D1-D469-4169-9425-A1A8DAB8619A}" dt="2026-01-09T03:17:47.609" v="302" actId="20577"/>
          <ac:spMkLst>
            <pc:docMk/>
            <pc:sldMk cId="2153103408" sldId="302"/>
            <ac:spMk id="3" creationId="{0E95C877-BEF7-D196-928D-89488C016C38}"/>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1/9/2026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1/9/2026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1/9/2026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Times New Roman" pitchFamily="18" charset="0"/>
                <a:cs typeface="Times New Roman" pitchFamily="18" charset="0"/>
              </a:rPr>
              <a:t>Introduction to Reinforcement Learning</a:t>
            </a: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533400"/>
            <a:ext cx="8610600" cy="4307398"/>
          </a:xfrm>
          <a:prstGeom prst="rect">
            <a:avLst/>
          </a:prstGeom>
        </p:spPr>
        <p:txBody>
          <a:bodyPr wrap="square">
            <a:spAutoFit/>
          </a:bodyPr>
          <a:lstStyle/>
          <a:p>
            <a:pPr algn="just">
              <a:lnSpc>
                <a:spcPct val="200000"/>
              </a:lnSpc>
            </a:pPr>
            <a:r>
              <a:rPr lang="en-US" sz="2000" dirty="0">
                <a:latin typeface="Times New Roman" pitchFamily="18" charset="0"/>
                <a:cs typeface="Times New Roman" pitchFamily="18" charset="0"/>
              </a:rPr>
              <a:t>Reinforcement Learning is a part of machine learning. Here, agents are self-trained on reward and punishment mechanisms. It’s about taking the best possible action or path to gain maximum rewards and minimum punishment through observations in a specific situation. It acts as a signal to positive and negative behaviors. Essentially an agent (or several) is built that can perceive and interpret the environment in which is placed, furthermore, it can take actions and interact with it.</a:t>
            </a:r>
          </a:p>
        </p:txBody>
      </p:sp>
      <p:pic>
        <p:nvPicPr>
          <p:cNvPr id="1026" name="Picture 2" descr="Basic Diagram of Reinforcement Learning - KDNuggets"/>
          <p:cNvPicPr>
            <a:picLocks noChangeAspect="1" noChangeArrowheads="1"/>
          </p:cNvPicPr>
          <p:nvPr/>
        </p:nvPicPr>
        <p:blipFill>
          <a:blip r:embed="rId2"/>
          <a:srcRect/>
          <a:stretch>
            <a:fillRect/>
          </a:stretch>
        </p:blipFill>
        <p:spPr bwMode="auto">
          <a:xfrm>
            <a:off x="1219200" y="4114800"/>
            <a:ext cx="6667500" cy="2571751"/>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04800"/>
            <a:ext cx="9144000" cy="4585871"/>
          </a:xfrm>
          <a:prstGeom prst="rect">
            <a:avLst/>
          </a:prstGeom>
        </p:spPr>
        <p:txBody>
          <a:bodyPr wrap="square">
            <a:spAutoFit/>
          </a:bodyPr>
          <a:lstStyle/>
          <a:p>
            <a:pPr algn="just"/>
            <a:r>
              <a:rPr lang="en-US" sz="2000" dirty="0">
                <a:latin typeface="Times New Roman" pitchFamily="18" charset="0"/>
                <a:cs typeface="Times New Roman" pitchFamily="18" charset="0"/>
              </a:rPr>
              <a:t>It is a type of machine learning technique where a computer agent learns to perform a task through repeated trial and error interactions with a dynamic environment. This learning approach enables the agent to make a series of decisions that maximize a reward metric for the task without human intervention and without being explicitly programmed to achieve the task.</a:t>
            </a:r>
          </a:p>
          <a:p>
            <a:pPr algn="just">
              <a:lnSpc>
                <a:spcPct val="150000"/>
              </a:lnSpc>
            </a:pPr>
            <a:endParaRPr lang="en-US" sz="2400" dirty="0">
              <a:latin typeface="Times New Roman" pitchFamily="18" charset="0"/>
              <a:cs typeface="Times New Roman" pitchFamily="18" charset="0"/>
            </a:endParaRPr>
          </a:p>
          <a:p>
            <a:pPr algn="just"/>
            <a:r>
              <a:rPr lang="en-US" sz="2000" b="1" dirty="0">
                <a:latin typeface="Times New Roman" pitchFamily="18" charset="0"/>
                <a:cs typeface="Times New Roman" pitchFamily="18" charset="0"/>
              </a:rPr>
              <a:t>Simplified Definition of Reinforcement Learning:</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Through a series of Trial and Error methods, an agent keeps learning continuously in an interactive environment from its own actions and experiences. The only goal of it is to find a suitable action model which would increase the total cumulative reward of the agent. It learns via interaction and feedback.</a:t>
            </a:r>
          </a:p>
          <a:p>
            <a:pPr algn="just">
              <a:lnSpc>
                <a:spcPct val="150000"/>
              </a:lnSpc>
            </a:pPr>
            <a:endParaRPr lang="en-US" sz="24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62200" y="457200"/>
            <a:ext cx="4557851" cy="400110"/>
          </a:xfrm>
          <a:prstGeom prst="rect">
            <a:avLst/>
          </a:prstGeom>
        </p:spPr>
        <p:txBody>
          <a:bodyPr wrap="none">
            <a:spAutoFit/>
          </a:bodyPr>
          <a:lstStyle/>
          <a:p>
            <a:r>
              <a:rPr lang="en-US" sz="2000" b="1" dirty="0">
                <a:latin typeface="Times New Roman" pitchFamily="18" charset="0"/>
                <a:cs typeface="Times New Roman" pitchFamily="18" charset="0"/>
              </a:rPr>
              <a:t>Explanation to Reinforcement Learning</a:t>
            </a:r>
            <a:endParaRPr lang="en-US" sz="2000" dirty="0">
              <a:latin typeface="Times New Roman" pitchFamily="18" charset="0"/>
              <a:cs typeface="Times New Roman" pitchFamily="18" charset="0"/>
            </a:endParaRPr>
          </a:p>
        </p:txBody>
      </p:sp>
      <p:pic>
        <p:nvPicPr>
          <p:cNvPr id="27650" name="Picture 2" descr="Reinforcement Learning Example - KDNuggets"/>
          <p:cNvPicPr>
            <a:picLocks noChangeAspect="1" noChangeArrowheads="1"/>
          </p:cNvPicPr>
          <p:nvPr/>
        </p:nvPicPr>
        <p:blipFill>
          <a:blip r:embed="rId2"/>
          <a:srcRect/>
          <a:stretch>
            <a:fillRect/>
          </a:stretch>
        </p:blipFill>
        <p:spPr bwMode="auto">
          <a:xfrm>
            <a:off x="2057400" y="1295400"/>
            <a:ext cx="5172075" cy="2600325"/>
          </a:xfrm>
          <a:prstGeom prst="rect">
            <a:avLst/>
          </a:prstGeom>
          <a:noFill/>
        </p:spPr>
      </p:pic>
      <p:sp>
        <p:nvSpPr>
          <p:cNvPr id="4" name="Rectangle 3"/>
          <p:cNvSpPr/>
          <p:nvPr/>
        </p:nvSpPr>
        <p:spPr>
          <a:xfrm>
            <a:off x="0" y="4191000"/>
            <a:ext cx="9144000" cy="1704569"/>
          </a:xfrm>
          <a:prstGeom prst="rect">
            <a:avLst/>
          </a:prstGeom>
        </p:spPr>
        <p:txBody>
          <a:bodyPr wrap="square">
            <a:spAutoFit/>
          </a:bodyPr>
          <a:lstStyle/>
          <a:p>
            <a:pPr algn="just">
              <a:lnSpc>
                <a:spcPct val="150000"/>
              </a:lnSpc>
            </a:pPr>
            <a:r>
              <a:rPr lang="en-US" dirty="0">
                <a:latin typeface="Times New Roman" pitchFamily="18" charset="0"/>
                <a:cs typeface="Times New Roman" pitchFamily="18" charset="0"/>
              </a:rPr>
              <a:t>You can see a dog and a master. Let’s imagine you are training your dog to get the stick. Each time the dog gets a stick successfully, you offered him a feast (a bone let’s say). Eventually, the dog understands the pattern, that whenever the master throws a stick, it should get it as early as it can to gain a reward (a bone) from a master in a lesser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a:srcRect t="7500"/>
          <a:stretch>
            <a:fillRect/>
          </a:stretch>
        </p:blipFill>
        <p:spPr bwMode="auto">
          <a:xfrm>
            <a:off x="228600" y="533400"/>
            <a:ext cx="8915400" cy="63246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srcRect t="7500"/>
          <a:stretch>
            <a:fillRect/>
          </a:stretch>
        </p:blipFill>
        <p:spPr bwMode="auto">
          <a:xfrm>
            <a:off x="0" y="655320"/>
            <a:ext cx="9144000" cy="620268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95400" y="457200"/>
            <a:ext cx="6400800" cy="461665"/>
          </a:xfrm>
          <a:prstGeom prst="rect">
            <a:avLst/>
          </a:prstGeom>
        </p:spPr>
        <p:txBody>
          <a:bodyPr wrap="square">
            <a:spAutoFit/>
          </a:bodyPr>
          <a:lstStyle/>
          <a:p>
            <a:r>
              <a:rPr lang="en-US" sz="2400" b="1" dirty="0">
                <a:latin typeface="Times New Roman" pitchFamily="18" charset="0"/>
                <a:cs typeface="Times New Roman" pitchFamily="18" charset="0"/>
              </a:rPr>
              <a:t>Terminologies used in Reinforcement Learning</a:t>
            </a:r>
            <a:endParaRPr lang="en-US" sz="2400" dirty="0">
              <a:latin typeface="Times New Roman" pitchFamily="18" charset="0"/>
              <a:cs typeface="Times New Roman" pitchFamily="18" charset="0"/>
            </a:endParaRPr>
          </a:p>
        </p:txBody>
      </p:sp>
      <p:pic>
        <p:nvPicPr>
          <p:cNvPr id="29698" name="Picture 2" descr="Terminologies in RL - Techvidvan"/>
          <p:cNvPicPr>
            <a:picLocks noChangeAspect="1" noChangeArrowheads="1"/>
          </p:cNvPicPr>
          <p:nvPr/>
        </p:nvPicPr>
        <p:blipFill>
          <a:blip r:embed="rId2"/>
          <a:srcRect t="11465"/>
          <a:stretch>
            <a:fillRect/>
          </a:stretch>
        </p:blipFill>
        <p:spPr bwMode="auto">
          <a:xfrm>
            <a:off x="381000" y="1282992"/>
            <a:ext cx="8302625" cy="4736807"/>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381000"/>
            <a:ext cx="8458200" cy="6038641"/>
          </a:xfrm>
          <a:prstGeom prst="rect">
            <a:avLst/>
          </a:prstGeom>
        </p:spPr>
        <p:txBody>
          <a:bodyPr wrap="square">
            <a:spAutoFit/>
          </a:bodyPr>
          <a:lstStyle/>
          <a:p>
            <a:pPr algn="just">
              <a:lnSpc>
                <a:spcPct val="150000"/>
              </a:lnSpc>
            </a:pPr>
            <a:r>
              <a:rPr lang="en-US" sz="2000" b="1" dirty="0">
                <a:latin typeface="Times New Roman" pitchFamily="18" charset="0"/>
                <a:cs typeface="Times New Roman" pitchFamily="18" charset="0"/>
              </a:rPr>
              <a:t>Agent</a:t>
            </a:r>
            <a:r>
              <a:rPr lang="en-US" sz="2000" dirty="0">
                <a:latin typeface="Times New Roman" pitchFamily="18" charset="0"/>
                <a:cs typeface="Times New Roman" pitchFamily="18" charset="0"/>
              </a:rPr>
              <a:t> – is the sole decision-maker and learner</a:t>
            </a:r>
          </a:p>
          <a:p>
            <a:pPr algn="just">
              <a:lnSpc>
                <a:spcPct val="150000"/>
              </a:lnSpc>
            </a:pPr>
            <a:r>
              <a:rPr lang="en-US" sz="2000" b="1" dirty="0">
                <a:latin typeface="Times New Roman" pitchFamily="18" charset="0"/>
                <a:cs typeface="Times New Roman" pitchFamily="18" charset="0"/>
              </a:rPr>
              <a:t>Environment</a:t>
            </a:r>
            <a:r>
              <a:rPr lang="en-US" sz="2000" dirty="0">
                <a:latin typeface="Times New Roman" pitchFamily="18" charset="0"/>
                <a:cs typeface="Times New Roman" pitchFamily="18" charset="0"/>
              </a:rPr>
              <a:t> – a physical world where an agent learns and decides the actions to be performed</a:t>
            </a:r>
          </a:p>
          <a:p>
            <a:pPr algn="just">
              <a:lnSpc>
                <a:spcPct val="150000"/>
              </a:lnSpc>
            </a:pPr>
            <a:r>
              <a:rPr lang="en-US" sz="2000" b="1" dirty="0">
                <a:latin typeface="Times New Roman" pitchFamily="18" charset="0"/>
                <a:cs typeface="Times New Roman" pitchFamily="18" charset="0"/>
              </a:rPr>
              <a:t>Action</a:t>
            </a:r>
            <a:r>
              <a:rPr lang="en-US" sz="2000" dirty="0">
                <a:latin typeface="Times New Roman" pitchFamily="18" charset="0"/>
                <a:cs typeface="Times New Roman" pitchFamily="18" charset="0"/>
              </a:rPr>
              <a:t> – a list of action which an agent can perform</a:t>
            </a:r>
          </a:p>
          <a:p>
            <a:pPr algn="just">
              <a:lnSpc>
                <a:spcPct val="150000"/>
              </a:lnSpc>
            </a:pPr>
            <a:r>
              <a:rPr lang="en-US" sz="2000" b="1" dirty="0">
                <a:latin typeface="Times New Roman" pitchFamily="18" charset="0"/>
                <a:cs typeface="Times New Roman" pitchFamily="18" charset="0"/>
              </a:rPr>
              <a:t>State</a:t>
            </a:r>
            <a:r>
              <a:rPr lang="en-US" sz="2000" dirty="0">
                <a:latin typeface="Times New Roman" pitchFamily="18" charset="0"/>
                <a:cs typeface="Times New Roman" pitchFamily="18" charset="0"/>
              </a:rPr>
              <a:t> – the current situation of the agent in the environment</a:t>
            </a:r>
          </a:p>
          <a:p>
            <a:pPr algn="just">
              <a:lnSpc>
                <a:spcPct val="150000"/>
              </a:lnSpc>
            </a:pPr>
            <a:r>
              <a:rPr lang="en-US" sz="2000" b="1" dirty="0">
                <a:latin typeface="Times New Roman" pitchFamily="18" charset="0"/>
                <a:cs typeface="Times New Roman" pitchFamily="18" charset="0"/>
              </a:rPr>
              <a:t>Reward</a:t>
            </a:r>
            <a:r>
              <a:rPr lang="en-US" sz="2000" dirty="0">
                <a:latin typeface="Times New Roman" pitchFamily="18" charset="0"/>
                <a:cs typeface="Times New Roman" pitchFamily="18" charset="0"/>
              </a:rPr>
              <a:t> – For each selected action by agent, the environment gives a reward. It’s usually a scalar value and nothing but feedback from the environment</a:t>
            </a:r>
          </a:p>
          <a:p>
            <a:pPr algn="just">
              <a:lnSpc>
                <a:spcPct val="150000"/>
              </a:lnSpc>
            </a:pPr>
            <a:r>
              <a:rPr lang="en-US" sz="2000" b="1" dirty="0">
                <a:latin typeface="Times New Roman" pitchFamily="18" charset="0"/>
                <a:cs typeface="Times New Roman" pitchFamily="18" charset="0"/>
              </a:rPr>
              <a:t>Policy</a:t>
            </a:r>
            <a:r>
              <a:rPr lang="en-US" sz="2000" dirty="0">
                <a:latin typeface="Times New Roman" pitchFamily="18" charset="0"/>
                <a:cs typeface="Times New Roman" pitchFamily="18" charset="0"/>
              </a:rPr>
              <a:t> – the agent prepares strategy(decision-making) to map situations to actions.</a:t>
            </a:r>
          </a:p>
          <a:p>
            <a:pPr algn="just">
              <a:lnSpc>
                <a:spcPct val="150000"/>
              </a:lnSpc>
            </a:pPr>
            <a:r>
              <a:rPr lang="en-US" sz="2000" b="1" dirty="0">
                <a:latin typeface="Times New Roman" pitchFamily="18" charset="0"/>
                <a:cs typeface="Times New Roman" pitchFamily="18" charset="0"/>
              </a:rPr>
              <a:t>Value Function</a:t>
            </a:r>
            <a:r>
              <a:rPr lang="en-US" sz="2000" dirty="0">
                <a:latin typeface="Times New Roman" pitchFamily="18" charset="0"/>
                <a:cs typeface="Times New Roman" pitchFamily="18" charset="0"/>
              </a:rPr>
              <a:t> – The value of state shows up the reward achieved starting from the state until the policy is executed</a:t>
            </a:r>
          </a:p>
          <a:p>
            <a:pPr algn="just">
              <a:lnSpc>
                <a:spcPct val="150000"/>
              </a:lnSpc>
            </a:pPr>
            <a:r>
              <a:rPr lang="en-US" sz="2000" b="1" dirty="0">
                <a:latin typeface="Times New Roman" pitchFamily="18" charset="0"/>
                <a:cs typeface="Times New Roman" pitchFamily="18" charset="0"/>
              </a:rPr>
              <a:t>Model</a:t>
            </a:r>
            <a:r>
              <a:rPr lang="en-US" sz="2000" dirty="0">
                <a:latin typeface="Times New Roman" pitchFamily="18" charset="0"/>
                <a:cs typeface="Times New Roman" pitchFamily="18" charset="0"/>
              </a:rPr>
              <a:t> – Every RL agent doesn’t use a model of its environment. The agent’s view maps state-action pairs probability distributions over the states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4600" y="609600"/>
            <a:ext cx="4805226" cy="461665"/>
          </a:xfrm>
          <a:prstGeom prst="rect">
            <a:avLst/>
          </a:prstGeom>
        </p:spPr>
        <p:txBody>
          <a:bodyPr wrap="none">
            <a:spAutoFit/>
          </a:bodyPr>
          <a:lstStyle/>
          <a:p>
            <a:r>
              <a:rPr lang="en-US" sz="2400" b="1" dirty="0">
                <a:latin typeface="Times New Roman" pitchFamily="18" charset="0"/>
                <a:cs typeface="Times New Roman" pitchFamily="18" charset="0"/>
              </a:rPr>
              <a:t>Reinforcement Learning Workflow</a:t>
            </a:r>
            <a:endParaRPr lang="en-US" sz="2400" dirty="0">
              <a:latin typeface="Times New Roman" pitchFamily="18" charset="0"/>
              <a:cs typeface="Times New Roman" pitchFamily="18" charset="0"/>
            </a:endParaRPr>
          </a:p>
        </p:txBody>
      </p:sp>
      <p:pic>
        <p:nvPicPr>
          <p:cNvPr id="30722" name="Picture 2" descr="Reinforcement Learning Workflow - KDNuggets"/>
          <p:cNvPicPr>
            <a:picLocks noChangeAspect="1" noChangeArrowheads="1"/>
          </p:cNvPicPr>
          <p:nvPr/>
        </p:nvPicPr>
        <p:blipFill>
          <a:blip r:embed="rId2"/>
          <a:srcRect/>
          <a:stretch>
            <a:fillRect/>
          </a:stretch>
        </p:blipFill>
        <p:spPr bwMode="auto">
          <a:xfrm>
            <a:off x="990600" y="1600200"/>
            <a:ext cx="6791325" cy="1828800"/>
          </a:xfrm>
          <a:prstGeom prst="rect">
            <a:avLst/>
          </a:prstGeom>
          <a:noFill/>
        </p:spPr>
      </p:pic>
      <p:sp>
        <p:nvSpPr>
          <p:cNvPr id="4" name="Rectangle 3"/>
          <p:cNvSpPr/>
          <p:nvPr/>
        </p:nvSpPr>
        <p:spPr>
          <a:xfrm>
            <a:off x="0" y="3810000"/>
            <a:ext cx="4572000" cy="1938992"/>
          </a:xfrm>
          <a:prstGeom prst="rect">
            <a:avLst/>
          </a:prstGeom>
        </p:spPr>
        <p:txBody>
          <a:bodyPr wrap="square">
            <a:spAutoFit/>
          </a:bodyPr>
          <a:lstStyle/>
          <a:p>
            <a:r>
              <a:rPr lang="en-US" dirty="0"/>
              <a:t>-</a:t>
            </a:r>
            <a:r>
              <a:rPr lang="en-US" sz="2400" dirty="0">
                <a:latin typeface="Times New Roman" pitchFamily="18" charset="0"/>
                <a:cs typeface="Times New Roman" pitchFamily="18" charset="0"/>
              </a:rPr>
              <a:t>Create the Environment</a:t>
            </a:r>
          </a:p>
          <a:p>
            <a:r>
              <a:rPr lang="en-US" sz="2400" dirty="0">
                <a:latin typeface="Times New Roman" pitchFamily="18" charset="0"/>
                <a:cs typeface="Times New Roman" pitchFamily="18" charset="0"/>
              </a:rPr>
              <a:t>– Define the reward</a:t>
            </a:r>
          </a:p>
          <a:p>
            <a:r>
              <a:rPr lang="en-US" sz="2400" dirty="0">
                <a:latin typeface="Times New Roman" pitchFamily="18" charset="0"/>
                <a:cs typeface="Times New Roman" pitchFamily="18" charset="0"/>
              </a:rPr>
              <a:t>– Create the agent</a:t>
            </a:r>
            <a:br>
              <a:rPr lang="en-US" sz="2400" b="1" dirty="0">
                <a:latin typeface="Times New Roman" pitchFamily="18" charset="0"/>
                <a:cs typeface="Times New Roman" pitchFamily="18" charset="0"/>
              </a:rPr>
            </a:br>
            <a:r>
              <a:rPr lang="en-US" sz="2400" dirty="0">
                <a:latin typeface="Times New Roman" pitchFamily="18" charset="0"/>
                <a:cs typeface="Times New Roman" pitchFamily="18" charset="0"/>
              </a:rPr>
              <a:t>– Train and validate the agent</a:t>
            </a:r>
          </a:p>
          <a:p>
            <a:r>
              <a:rPr lang="en-US" sz="2400" dirty="0">
                <a:latin typeface="Times New Roman" pitchFamily="18" charset="0"/>
                <a:cs typeface="Times New Roman" pitchFamily="18" charset="0"/>
              </a:rPr>
              <a:t>– Deploy the policy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457200"/>
            <a:ext cx="8915400" cy="461665"/>
          </a:xfrm>
          <a:prstGeom prst="rect">
            <a:avLst/>
          </a:prstGeom>
        </p:spPr>
        <p:txBody>
          <a:bodyPr wrap="square">
            <a:spAutoFit/>
          </a:bodyPr>
          <a:lstStyle/>
          <a:p>
            <a:r>
              <a:rPr lang="en-US" sz="2400" b="1" dirty="0">
                <a:latin typeface="Times New Roman" pitchFamily="18" charset="0"/>
                <a:cs typeface="Times New Roman" pitchFamily="18" charset="0"/>
              </a:rPr>
              <a:t>How is reinforcement learning different from supervised learning?</a:t>
            </a:r>
            <a:endParaRPr lang="en-US" sz="2400" dirty="0">
              <a:latin typeface="Times New Roman" pitchFamily="18" charset="0"/>
              <a:cs typeface="Times New Roman" pitchFamily="18" charset="0"/>
            </a:endParaRPr>
          </a:p>
        </p:txBody>
      </p:sp>
      <p:sp>
        <p:nvSpPr>
          <p:cNvPr id="3" name="Rectangle 2"/>
          <p:cNvSpPr/>
          <p:nvPr/>
        </p:nvSpPr>
        <p:spPr>
          <a:xfrm>
            <a:off x="0" y="1295400"/>
            <a:ext cx="9144000" cy="1323439"/>
          </a:xfrm>
          <a:prstGeom prst="rect">
            <a:avLst/>
          </a:prstGeom>
        </p:spPr>
        <p:txBody>
          <a:bodyPr wrap="square">
            <a:spAutoFit/>
          </a:bodyPr>
          <a:lstStyle/>
          <a:p>
            <a:pPr algn="just"/>
            <a:r>
              <a:rPr lang="en-US" sz="2000" dirty="0">
                <a:latin typeface="Times New Roman" pitchFamily="18" charset="0"/>
                <a:cs typeface="Times New Roman" pitchFamily="18" charset="0"/>
              </a:rPr>
              <a:t>In supervised learning, the model is trained with a training dataset that has a correct answer key. The decision is done on the initial input given as it has all the data that’s required to train the machine. The decisions are independent of each other so each decision is represented through a label. Example: Object Recognition</a:t>
            </a:r>
          </a:p>
        </p:txBody>
      </p:sp>
      <p:pic>
        <p:nvPicPr>
          <p:cNvPr id="32770" name="Picture 2" descr="Difference between Supervised and Reinforcement Learning - purestudy"/>
          <p:cNvPicPr>
            <a:picLocks noChangeAspect="1" noChangeArrowheads="1"/>
          </p:cNvPicPr>
          <p:nvPr/>
        </p:nvPicPr>
        <p:blipFill>
          <a:blip r:embed="rId2"/>
          <a:srcRect/>
          <a:stretch>
            <a:fillRect/>
          </a:stretch>
        </p:blipFill>
        <p:spPr bwMode="auto">
          <a:xfrm>
            <a:off x="457200" y="2743200"/>
            <a:ext cx="7924800" cy="38862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412886C-6179-671E-6C7C-0818E98EAB58}"/>
              </a:ext>
            </a:extLst>
          </p:cNvPr>
          <p:cNvGraphicFramePr>
            <a:graphicFrameLocks noGrp="1"/>
          </p:cNvGraphicFramePr>
          <p:nvPr>
            <p:extLst>
              <p:ext uri="{D42A27DB-BD31-4B8C-83A1-F6EECF244321}">
                <p14:modId xmlns:p14="http://schemas.microsoft.com/office/powerpoint/2010/main" val="3230844218"/>
              </p:ext>
            </p:extLst>
          </p:nvPr>
        </p:nvGraphicFramePr>
        <p:xfrm>
          <a:off x="762001" y="838200"/>
          <a:ext cx="7696200" cy="5614147"/>
        </p:xfrm>
        <a:graphic>
          <a:graphicData uri="http://schemas.openxmlformats.org/drawingml/2006/table">
            <a:tbl>
              <a:tblPr/>
              <a:tblGrid>
                <a:gridCol w="2565400">
                  <a:extLst>
                    <a:ext uri="{9D8B030D-6E8A-4147-A177-3AD203B41FA5}">
                      <a16:colId xmlns:a16="http://schemas.microsoft.com/office/drawing/2014/main" val="3488369257"/>
                    </a:ext>
                  </a:extLst>
                </a:gridCol>
                <a:gridCol w="2565400">
                  <a:extLst>
                    <a:ext uri="{9D8B030D-6E8A-4147-A177-3AD203B41FA5}">
                      <a16:colId xmlns:a16="http://schemas.microsoft.com/office/drawing/2014/main" val="1053019245"/>
                    </a:ext>
                  </a:extLst>
                </a:gridCol>
                <a:gridCol w="2565400">
                  <a:extLst>
                    <a:ext uri="{9D8B030D-6E8A-4147-A177-3AD203B41FA5}">
                      <a16:colId xmlns:a16="http://schemas.microsoft.com/office/drawing/2014/main" val="793530823"/>
                    </a:ext>
                  </a:extLst>
                </a:gridCol>
              </a:tblGrid>
              <a:tr h="428059">
                <a:tc>
                  <a:txBody>
                    <a:bodyPr/>
                    <a:lstStyle/>
                    <a:p>
                      <a:pPr>
                        <a:buNone/>
                      </a:pPr>
                      <a:r>
                        <a:rPr lang="en-IN" sz="1600">
                          <a:latin typeface="Times New Roman" panose="02020603050405020304" pitchFamily="18" charset="0"/>
                          <a:cs typeface="Times New Roman" panose="02020603050405020304" pitchFamily="18" charset="0"/>
                        </a:rPr>
                        <a:t>Basis</a:t>
                      </a:r>
                    </a:p>
                  </a:txBody>
                  <a:tcPr marL="53881" marR="53881" marT="26940" marB="26940"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Supervised Learning</a:t>
                      </a:r>
                    </a:p>
                  </a:txBody>
                  <a:tcPr marL="53881" marR="53881" marT="26940" marB="26940"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Reinforcement Learning</a:t>
                      </a:r>
                    </a:p>
                  </a:txBody>
                  <a:tcPr marL="53881" marR="53881" marT="26940" marB="26940" anchor="ctr">
                    <a:lnL>
                      <a:noFill/>
                    </a:lnL>
                    <a:lnR>
                      <a:noFill/>
                    </a:lnR>
                    <a:lnT>
                      <a:noFill/>
                    </a:lnT>
                    <a:lnB>
                      <a:noFill/>
                    </a:lnB>
                    <a:noFill/>
                  </a:tcPr>
                </a:tc>
                <a:extLst>
                  <a:ext uri="{0D108BD9-81ED-4DB2-BD59-A6C34878D82A}">
                    <a16:rowId xmlns:a16="http://schemas.microsoft.com/office/drawing/2014/main" val="2863860286"/>
                  </a:ext>
                </a:extLst>
              </a:tr>
              <a:tr h="796852">
                <a:tc>
                  <a:txBody>
                    <a:bodyPr/>
                    <a:lstStyle/>
                    <a:p>
                      <a:pPr>
                        <a:buNone/>
                      </a:pPr>
                      <a:r>
                        <a:rPr lang="en-IN" sz="1600" b="1">
                          <a:latin typeface="Times New Roman" panose="02020603050405020304" pitchFamily="18" charset="0"/>
                          <a:cs typeface="Times New Roman" panose="02020603050405020304" pitchFamily="18" charset="0"/>
                        </a:rPr>
                        <a:t>Definition</a:t>
                      </a:r>
                      <a:endParaRPr lang="en-IN" sz="1600">
                        <a:latin typeface="Times New Roman" panose="02020603050405020304" pitchFamily="18" charset="0"/>
                        <a:cs typeface="Times New Roman" panose="02020603050405020304" pitchFamily="18" charset="0"/>
                      </a:endParaRPr>
                    </a:p>
                  </a:txBody>
                  <a:tcPr marL="53881" marR="53881" marT="26940" marB="26940" anchor="ctr">
                    <a:lnL>
                      <a:noFill/>
                    </a:lnL>
                    <a:lnR>
                      <a:noFill/>
                    </a:lnR>
                    <a:lnT>
                      <a:noFill/>
                    </a:lnT>
                    <a:lnB>
                      <a:noFill/>
                    </a:lnB>
                    <a:noFill/>
                  </a:tcPr>
                </a:tc>
                <a:tc>
                  <a:txBody>
                    <a:bodyPr/>
                    <a:lstStyle/>
                    <a:p>
                      <a:pPr>
                        <a:buNone/>
                      </a:pPr>
                      <a:r>
                        <a:rPr lang="en-US" sz="1600">
                          <a:latin typeface="Times New Roman" panose="02020603050405020304" pitchFamily="18" charset="0"/>
                          <a:cs typeface="Times New Roman" panose="02020603050405020304" pitchFamily="18" charset="0"/>
                        </a:rPr>
                        <a:t>Learns from a </a:t>
                      </a:r>
                      <a:r>
                        <a:rPr lang="en-US" sz="1600" b="1">
                          <a:latin typeface="Times New Roman" panose="02020603050405020304" pitchFamily="18" charset="0"/>
                          <a:cs typeface="Times New Roman" panose="02020603050405020304" pitchFamily="18" charset="0"/>
                        </a:rPr>
                        <a:t>labeled dataset</a:t>
                      </a:r>
                      <a:r>
                        <a:rPr lang="en-US" sz="1600">
                          <a:latin typeface="Times New Roman" panose="02020603050405020304" pitchFamily="18" charset="0"/>
                          <a:cs typeface="Times New Roman" panose="02020603050405020304" pitchFamily="18" charset="0"/>
                        </a:rPr>
                        <a:t> (input–output pairs).</a:t>
                      </a:r>
                    </a:p>
                  </a:txBody>
                  <a:tcPr marL="53881" marR="53881" marT="26940" marB="26940" anchor="ctr">
                    <a:lnL>
                      <a:noFill/>
                    </a:lnL>
                    <a:lnR>
                      <a:noFill/>
                    </a:lnR>
                    <a:lnT>
                      <a:noFill/>
                    </a:lnT>
                    <a:lnB>
                      <a:noFill/>
                    </a:lnB>
                    <a:noFill/>
                  </a:tcPr>
                </a:tc>
                <a:tc>
                  <a:txBody>
                    <a:bodyPr/>
                    <a:lstStyle/>
                    <a:p>
                      <a:pPr>
                        <a:buNone/>
                      </a:pPr>
                      <a:r>
                        <a:rPr lang="en-US" sz="1600">
                          <a:latin typeface="Times New Roman" panose="02020603050405020304" pitchFamily="18" charset="0"/>
                          <a:cs typeface="Times New Roman" panose="02020603050405020304" pitchFamily="18" charset="0"/>
                        </a:rPr>
                        <a:t>Learns by </a:t>
                      </a:r>
                      <a:r>
                        <a:rPr lang="en-US" sz="1600" b="1">
                          <a:latin typeface="Times New Roman" panose="02020603050405020304" pitchFamily="18" charset="0"/>
                          <a:cs typeface="Times New Roman" panose="02020603050405020304" pitchFamily="18" charset="0"/>
                        </a:rPr>
                        <a:t>interacting with an environment</a:t>
                      </a:r>
                      <a:r>
                        <a:rPr lang="en-US" sz="1600">
                          <a:latin typeface="Times New Roman" panose="02020603050405020304" pitchFamily="18" charset="0"/>
                          <a:cs typeface="Times New Roman" panose="02020603050405020304" pitchFamily="18" charset="0"/>
                        </a:rPr>
                        <a:t> using rewards and penalties.</a:t>
                      </a:r>
                    </a:p>
                  </a:txBody>
                  <a:tcPr marL="53881" marR="53881" marT="26940" marB="26940" anchor="ctr">
                    <a:lnL>
                      <a:noFill/>
                    </a:lnL>
                    <a:lnR>
                      <a:noFill/>
                    </a:lnR>
                    <a:lnT>
                      <a:noFill/>
                    </a:lnT>
                    <a:lnB>
                      <a:noFill/>
                    </a:lnB>
                    <a:noFill/>
                  </a:tcPr>
                </a:tc>
                <a:extLst>
                  <a:ext uri="{0D108BD9-81ED-4DB2-BD59-A6C34878D82A}">
                    <a16:rowId xmlns:a16="http://schemas.microsoft.com/office/drawing/2014/main" val="1301931673"/>
                  </a:ext>
                </a:extLst>
              </a:tr>
              <a:tr h="796852">
                <a:tc>
                  <a:txBody>
                    <a:bodyPr/>
                    <a:lstStyle/>
                    <a:p>
                      <a:pPr>
                        <a:buNone/>
                      </a:pPr>
                      <a:r>
                        <a:rPr lang="en-IN" sz="1600" b="1">
                          <a:latin typeface="Times New Roman" panose="02020603050405020304" pitchFamily="18" charset="0"/>
                          <a:cs typeface="Times New Roman" panose="02020603050405020304" pitchFamily="18" charset="0"/>
                        </a:rPr>
                        <a:t>Training Data</a:t>
                      </a:r>
                      <a:endParaRPr lang="en-IN" sz="1600">
                        <a:latin typeface="Times New Roman" panose="02020603050405020304" pitchFamily="18" charset="0"/>
                        <a:cs typeface="Times New Roman" panose="02020603050405020304" pitchFamily="18" charset="0"/>
                      </a:endParaRPr>
                    </a:p>
                  </a:txBody>
                  <a:tcPr marL="53881" marR="53881" marT="26940" marB="26940" anchor="ctr">
                    <a:lnL>
                      <a:noFill/>
                    </a:lnL>
                    <a:lnR>
                      <a:noFill/>
                    </a:lnR>
                    <a:lnT>
                      <a:noFill/>
                    </a:lnT>
                    <a:lnB>
                      <a:noFill/>
                    </a:lnB>
                    <a:noFill/>
                  </a:tcPr>
                </a:tc>
                <a:tc>
                  <a:txBody>
                    <a:bodyPr/>
                    <a:lstStyle/>
                    <a:p>
                      <a:pPr>
                        <a:buNone/>
                      </a:pPr>
                      <a:r>
                        <a:rPr lang="en-US" sz="1600">
                          <a:latin typeface="Times New Roman" panose="02020603050405020304" pitchFamily="18" charset="0"/>
                          <a:cs typeface="Times New Roman" panose="02020603050405020304" pitchFamily="18" charset="0"/>
                        </a:rPr>
                        <a:t>Given in advance with </a:t>
                      </a:r>
                      <a:r>
                        <a:rPr lang="en-US" sz="1600" b="1">
                          <a:latin typeface="Times New Roman" panose="02020603050405020304" pitchFamily="18" charset="0"/>
                          <a:cs typeface="Times New Roman" panose="02020603050405020304" pitchFamily="18" charset="0"/>
                        </a:rPr>
                        <a:t>correct answers (labels)</a:t>
                      </a:r>
                      <a:r>
                        <a:rPr lang="en-US" sz="1600">
                          <a:latin typeface="Times New Roman" panose="02020603050405020304" pitchFamily="18" charset="0"/>
                          <a:cs typeface="Times New Roman" panose="02020603050405020304" pitchFamily="18" charset="0"/>
                        </a:rPr>
                        <a:t>.</a:t>
                      </a:r>
                    </a:p>
                  </a:txBody>
                  <a:tcPr marL="53881" marR="53881" marT="26940" marB="26940" anchor="ctr">
                    <a:lnL>
                      <a:noFill/>
                    </a:lnL>
                    <a:lnR>
                      <a:noFill/>
                    </a:lnR>
                    <a:lnT>
                      <a:noFill/>
                    </a:lnT>
                    <a:lnB>
                      <a:noFill/>
                    </a:lnB>
                    <a:noFill/>
                  </a:tcPr>
                </a:tc>
                <a:tc>
                  <a:txBody>
                    <a:bodyPr/>
                    <a:lstStyle/>
                    <a:p>
                      <a:pPr>
                        <a:buNone/>
                      </a:pPr>
                      <a:r>
                        <a:rPr lang="en-US" sz="1600" b="1">
                          <a:latin typeface="Times New Roman" panose="02020603050405020304" pitchFamily="18" charset="0"/>
                          <a:cs typeface="Times New Roman" panose="02020603050405020304" pitchFamily="18" charset="0"/>
                        </a:rPr>
                        <a:t>No labeled data</a:t>
                      </a:r>
                      <a:r>
                        <a:rPr lang="en-US" sz="1600">
                          <a:latin typeface="Times New Roman" panose="02020603050405020304" pitchFamily="18" charset="0"/>
                          <a:cs typeface="Times New Roman" panose="02020603050405020304" pitchFamily="18" charset="0"/>
                        </a:rPr>
                        <a:t>; feedback comes as </a:t>
                      </a:r>
                      <a:r>
                        <a:rPr lang="en-US" sz="1600" b="1">
                          <a:latin typeface="Times New Roman" panose="02020603050405020304" pitchFamily="18" charset="0"/>
                          <a:cs typeface="Times New Roman" panose="02020603050405020304" pitchFamily="18" charset="0"/>
                        </a:rPr>
                        <a:t>reward or punishment</a:t>
                      </a:r>
                      <a:r>
                        <a:rPr lang="en-US" sz="1600">
                          <a:latin typeface="Times New Roman" panose="02020603050405020304" pitchFamily="18" charset="0"/>
                          <a:cs typeface="Times New Roman" panose="02020603050405020304" pitchFamily="18" charset="0"/>
                        </a:rPr>
                        <a:t>.</a:t>
                      </a:r>
                    </a:p>
                  </a:txBody>
                  <a:tcPr marL="53881" marR="53881" marT="26940" marB="26940" anchor="ctr">
                    <a:lnL>
                      <a:noFill/>
                    </a:lnL>
                    <a:lnR>
                      <a:noFill/>
                    </a:lnR>
                    <a:lnT>
                      <a:noFill/>
                    </a:lnT>
                    <a:lnB>
                      <a:noFill/>
                    </a:lnB>
                    <a:noFill/>
                  </a:tcPr>
                </a:tc>
                <a:extLst>
                  <a:ext uri="{0D108BD9-81ED-4DB2-BD59-A6C34878D82A}">
                    <a16:rowId xmlns:a16="http://schemas.microsoft.com/office/drawing/2014/main" val="1857970012"/>
                  </a:ext>
                </a:extLst>
              </a:tr>
              <a:tr h="612455">
                <a:tc>
                  <a:txBody>
                    <a:bodyPr/>
                    <a:lstStyle/>
                    <a:p>
                      <a:pPr>
                        <a:buNone/>
                      </a:pPr>
                      <a:r>
                        <a:rPr lang="en-IN" sz="1600" b="1">
                          <a:latin typeface="Times New Roman" panose="02020603050405020304" pitchFamily="18" charset="0"/>
                          <a:cs typeface="Times New Roman" panose="02020603050405020304" pitchFamily="18" charset="0"/>
                        </a:rPr>
                        <a:t>Goal</a:t>
                      </a:r>
                      <a:endParaRPr lang="en-IN" sz="1600">
                        <a:latin typeface="Times New Roman" panose="02020603050405020304" pitchFamily="18" charset="0"/>
                        <a:cs typeface="Times New Roman" panose="02020603050405020304" pitchFamily="18" charset="0"/>
                      </a:endParaRPr>
                    </a:p>
                  </a:txBody>
                  <a:tcPr marL="53881" marR="53881" marT="26940" marB="26940" anchor="ctr">
                    <a:lnL>
                      <a:noFill/>
                    </a:lnL>
                    <a:lnR>
                      <a:noFill/>
                    </a:lnR>
                    <a:lnT>
                      <a:noFill/>
                    </a:lnT>
                    <a:lnB>
                      <a:noFill/>
                    </a:lnB>
                    <a:noFill/>
                  </a:tcPr>
                </a:tc>
                <a:tc>
                  <a:txBody>
                    <a:bodyPr/>
                    <a:lstStyle/>
                    <a:p>
                      <a:pPr>
                        <a:buNone/>
                      </a:pPr>
                      <a:r>
                        <a:rPr lang="en-US" sz="1600">
                          <a:latin typeface="Times New Roman" panose="02020603050405020304" pitchFamily="18" charset="0"/>
                          <a:cs typeface="Times New Roman" panose="02020603050405020304" pitchFamily="18" charset="0"/>
                        </a:rPr>
                        <a:t>Minimize error between predicted and actual output.</a:t>
                      </a:r>
                    </a:p>
                  </a:txBody>
                  <a:tcPr marL="53881" marR="53881" marT="26940" marB="26940" anchor="ctr">
                    <a:lnL>
                      <a:noFill/>
                    </a:lnL>
                    <a:lnR>
                      <a:noFill/>
                    </a:lnR>
                    <a:lnT>
                      <a:noFill/>
                    </a:lnT>
                    <a:lnB>
                      <a:noFill/>
                    </a:lnB>
                    <a:noFill/>
                  </a:tcPr>
                </a:tc>
                <a:tc>
                  <a:txBody>
                    <a:bodyPr/>
                    <a:lstStyle/>
                    <a:p>
                      <a:pPr>
                        <a:buNone/>
                      </a:pPr>
                      <a:r>
                        <a:rPr lang="en-IN" sz="1600" dirty="0">
                          <a:latin typeface="Times New Roman" panose="02020603050405020304" pitchFamily="18" charset="0"/>
                          <a:cs typeface="Times New Roman" panose="02020603050405020304" pitchFamily="18" charset="0"/>
                        </a:rPr>
                        <a:t>Maximize </a:t>
                      </a:r>
                      <a:r>
                        <a:rPr lang="en-IN" sz="1600" b="1" dirty="0">
                          <a:latin typeface="Times New Roman" panose="02020603050405020304" pitchFamily="18" charset="0"/>
                          <a:cs typeface="Times New Roman" panose="02020603050405020304" pitchFamily="18" charset="0"/>
                        </a:rPr>
                        <a:t>cumulative (long-term) reward</a:t>
                      </a:r>
                      <a:r>
                        <a:rPr lang="en-IN" sz="1600" dirty="0">
                          <a:latin typeface="Times New Roman" panose="02020603050405020304" pitchFamily="18" charset="0"/>
                          <a:cs typeface="Times New Roman" panose="02020603050405020304" pitchFamily="18" charset="0"/>
                        </a:rPr>
                        <a:t>.</a:t>
                      </a:r>
                    </a:p>
                  </a:txBody>
                  <a:tcPr marL="53881" marR="53881" marT="26940" marB="26940" anchor="ctr">
                    <a:lnL>
                      <a:noFill/>
                    </a:lnL>
                    <a:lnR>
                      <a:noFill/>
                    </a:lnR>
                    <a:lnT>
                      <a:noFill/>
                    </a:lnT>
                    <a:lnB>
                      <a:noFill/>
                    </a:lnB>
                    <a:noFill/>
                  </a:tcPr>
                </a:tc>
                <a:extLst>
                  <a:ext uri="{0D108BD9-81ED-4DB2-BD59-A6C34878D82A}">
                    <a16:rowId xmlns:a16="http://schemas.microsoft.com/office/drawing/2014/main" val="1941551037"/>
                  </a:ext>
                </a:extLst>
              </a:tr>
              <a:tr h="612455">
                <a:tc>
                  <a:txBody>
                    <a:bodyPr/>
                    <a:lstStyle/>
                    <a:p>
                      <a:pPr>
                        <a:buNone/>
                      </a:pPr>
                      <a:r>
                        <a:rPr lang="en-IN" sz="1600" b="1">
                          <a:latin typeface="Times New Roman" panose="02020603050405020304" pitchFamily="18" charset="0"/>
                          <a:cs typeface="Times New Roman" panose="02020603050405020304" pitchFamily="18" charset="0"/>
                        </a:rPr>
                        <a:t>Learning Method</a:t>
                      </a:r>
                      <a:endParaRPr lang="en-IN" sz="1600">
                        <a:latin typeface="Times New Roman" panose="02020603050405020304" pitchFamily="18" charset="0"/>
                        <a:cs typeface="Times New Roman" panose="02020603050405020304" pitchFamily="18" charset="0"/>
                      </a:endParaRPr>
                    </a:p>
                  </a:txBody>
                  <a:tcPr marL="53881" marR="53881" marT="26940" marB="26940" anchor="ctr">
                    <a:lnL>
                      <a:noFill/>
                    </a:lnL>
                    <a:lnR>
                      <a:noFill/>
                    </a:lnR>
                    <a:lnT>
                      <a:noFill/>
                    </a:lnT>
                    <a:lnB>
                      <a:noFill/>
                    </a:lnB>
                    <a:noFill/>
                  </a:tcPr>
                </a:tc>
                <a:tc>
                  <a:txBody>
                    <a:bodyPr/>
                    <a:lstStyle/>
                    <a:p>
                      <a:pPr>
                        <a:buNone/>
                      </a:pPr>
                      <a:r>
                        <a:rPr lang="en-US" sz="1600">
                          <a:latin typeface="Times New Roman" panose="02020603050405020304" pitchFamily="18" charset="0"/>
                          <a:cs typeface="Times New Roman" panose="02020603050405020304" pitchFamily="18" charset="0"/>
                        </a:rPr>
                        <a:t>Learns a direct mapping: input → output.</a:t>
                      </a:r>
                    </a:p>
                  </a:txBody>
                  <a:tcPr marL="53881" marR="53881" marT="26940" marB="26940" anchor="ctr">
                    <a:lnL>
                      <a:noFill/>
                    </a:lnL>
                    <a:lnR>
                      <a:noFill/>
                    </a:lnR>
                    <a:lnT>
                      <a:noFill/>
                    </a:lnT>
                    <a:lnB>
                      <a:noFill/>
                    </a:lnB>
                    <a:noFill/>
                  </a:tcPr>
                </a:tc>
                <a:tc>
                  <a:txBody>
                    <a:bodyPr/>
                    <a:lstStyle/>
                    <a:p>
                      <a:pPr>
                        <a:buNone/>
                      </a:pPr>
                      <a:r>
                        <a:rPr lang="en-US" sz="1600" dirty="0">
                          <a:latin typeface="Times New Roman" panose="02020603050405020304" pitchFamily="18" charset="0"/>
                          <a:cs typeface="Times New Roman" panose="02020603050405020304" pitchFamily="18" charset="0"/>
                        </a:rPr>
                        <a:t>Learns a </a:t>
                      </a:r>
                      <a:r>
                        <a:rPr lang="en-US" sz="1600" b="1" dirty="0">
                          <a:latin typeface="Times New Roman" panose="02020603050405020304" pitchFamily="18" charset="0"/>
                          <a:cs typeface="Times New Roman" panose="02020603050405020304" pitchFamily="18" charset="0"/>
                        </a:rPr>
                        <a:t>policy</a:t>
                      </a:r>
                      <a:r>
                        <a:rPr lang="en-US" sz="1600" dirty="0">
                          <a:latin typeface="Times New Roman" panose="02020603050405020304" pitchFamily="18" charset="0"/>
                          <a:cs typeface="Times New Roman" panose="02020603050405020304" pitchFamily="18" charset="0"/>
                        </a:rPr>
                        <a:t>: state → action.</a:t>
                      </a:r>
                    </a:p>
                  </a:txBody>
                  <a:tcPr marL="53881" marR="53881" marT="26940" marB="26940" anchor="ctr">
                    <a:lnL>
                      <a:noFill/>
                    </a:lnL>
                    <a:lnR>
                      <a:noFill/>
                    </a:lnR>
                    <a:lnT>
                      <a:noFill/>
                    </a:lnT>
                    <a:lnB>
                      <a:noFill/>
                    </a:lnB>
                    <a:noFill/>
                  </a:tcPr>
                </a:tc>
                <a:extLst>
                  <a:ext uri="{0D108BD9-81ED-4DB2-BD59-A6C34878D82A}">
                    <a16:rowId xmlns:a16="http://schemas.microsoft.com/office/drawing/2014/main" val="774078877"/>
                  </a:ext>
                </a:extLst>
              </a:tr>
              <a:tr h="428059">
                <a:tc>
                  <a:txBody>
                    <a:bodyPr/>
                    <a:lstStyle/>
                    <a:p>
                      <a:pPr>
                        <a:buNone/>
                      </a:pPr>
                      <a:r>
                        <a:rPr lang="en-IN" sz="1600" b="1">
                          <a:latin typeface="Times New Roman" panose="02020603050405020304" pitchFamily="18" charset="0"/>
                          <a:cs typeface="Times New Roman" panose="02020603050405020304" pitchFamily="18" charset="0"/>
                        </a:rPr>
                        <a:t>Feedback Timing</a:t>
                      </a:r>
                      <a:endParaRPr lang="en-IN" sz="1600">
                        <a:latin typeface="Times New Roman" panose="02020603050405020304" pitchFamily="18" charset="0"/>
                        <a:cs typeface="Times New Roman" panose="02020603050405020304" pitchFamily="18" charset="0"/>
                      </a:endParaRPr>
                    </a:p>
                  </a:txBody>
                  <a:tcPr marL="53881" marR="53881" marT="26940" marB="26940"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Immediate and exact.</a:t>
                      </a:r>
                    </a:p>
                  </a:txBody>
                  <a:tcPr marL="53881" marR="53881" marT="26940" marB="26940"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Often </a:t>
                      </a:r>
                      <a:r>
                        <a:rPr lang="en-IN" sz="1600" b="1">
                          <a:latin typeface="Times New Roman" panose="02020603050405020304" pitchFamily="18" charset="0"/>
                          <a:cs typeface="Times New Roman" panose="02020603050405020304" pitchFamily="18" charset="0"/>
                        </a:rPr>
                        <a:t>delayed</a:t>
                      </a:r>
                      <a:r>
                        <a:rPr lang="en-IN" sz="1600">
                          <a:latin typeface="Times New Roman" panose="02020603050405020304" pitchFamily="18" charset="0"/>
                          <a:cs typeface="Times New Roman" panose="02020603050405020304" pitchFamily="18" charset="0"/>
                        </a:rPr>
                        <a:t> and indirect.</a:t>
                      </a:r>
                    </a:p>
                  </a:txBody>
                  <a:tcPr marL="53881" marR="53881" marT="26940" marB="26940" anchor="ctr">
                    <a:lnL>
                      <a:noFill/>
                    </a:lnL>
                    <a:lnR>
                      <a:noFill/>
                    </a:lnR>
                    <a:lnT>
                      <a:noFill/>
                    </a:lnT>
                    <a:lnB>
                      <a:noFill/>
                    </a:lnB>
                    <a:noFill/>
                  </a:tcPr>
                </a:tc>
                <a:extLst>
                  <a:ext uri="{0D108BD9-81ED-4DB2-BD59-A6C34878D82A}">
                    <a16:rowId xmlns:a16="http://schemas.microsoft.com/office/drawing/2014/main" val="29115071"/>
                  </a:ext>
                </a:extLst>
              </a:tr>
              <a:tr h="428059">
                <a:tc>
                  <a:txBody>
                    <a:bodyPr/>
                    <a:lstStyle/>
                    <a:p>
                      <a:pPr>
                        <a:buNone/>
                      </a:pPr>
                      <a:r>
                        <a:rPr lang="en-IN" sz="1600" b="1">
                          <a:latin typeface="Times New Roman" panose="02020603050405020304" pitchFamily="18" charset="0"/>
                          <a:cs typeface="Times New Roman" panose="02020603050405020304" pitchFamily="18" charset="0"/>
                        </a:rPr>
                        <a:t>Human Role</a:t>
                      </a:r>
                      <a:endParaRPr lang="en-IN" sz="1600">
                        <a:latin typeface="Times New Roman" panose="02020603050405020304" pitchFamily="18" charset="0"/>
                        <a:cs typeface="Times New Roman" panose="02020603050405020304" pitchFamily="18" charset="0"/>
                      </a:endParaRPr>
                    </a:p>
                  </a:txBody>
                  <a:tcPr marL="53881" marR="53881" marT="26940" marB="26940"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Human provides correct outputs.</a:t>
                      </a:r>
                    </a:p>
                  </a:txBody>
                  <a:tcPr marL="53881" marR="53881" marT="26940" marB="26940"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Environment provides rewards.</a:t>
                      </a:r>
                    </a:p>
                  </a:txBody>
                  <a:tcPr marL="53881" marR="53881" marT="26940" marB="26940" anchor="ctr">
                    <a:lnL>
                      <a:noFill/>
                    </a:lnL>
                    <a:lnR>
                      <a:noFill/>
                    </a:lnR>
                    <a:lnT>
                      <a:noFill/>
                    </a:lnT>
                    <a:lnB>
                      <a:noFill/>
                    </a:lnB>
                    <a:noFill/>
                  </a:tcPr>
                </a:tc>
                <a:extLst>
                  <a:ext uri="{0D108BD9-81ED-4DB2-BD59-A6C34878D82A}">
                    <a16:rowId xmlns:a16="http://schemas.microsoft.com/office/drawing/2014/main" val="4106081582"/>
                  </a:ext>
                </a:extLst>
              </a:tr>
              <a:tr h="612455">
                <a:tc>
                  <a:txBody>
                    <a:bodyPr/>
                    <a:lstStyle/>
                    <a:p>
                      <a:pPr>
                        <a:buNone/>
                      </a:pPr>
                      <a:r>
                        <a:rPr lang="en-IN" sz="1600" b="1">
                          <a:latin typeface="Times New Roman" panose="02020603050405020304" pitchFamily="18" charset="0"/>
                          <a:cs typeface="Times New Roman" panose="02020603050405020304" pitchFamily="18" charset="0"/>
                        </a:rPr>
                        <a:t>Examples (Algorithms)</a:t>
                      </a:r>
                      <a:endParaRPr lang="en-IN" sz="1600">
                        <a:latin typeface="Times New Roman" panose="02020603050405020304" pitchFamily="18" charset="0"/>
                        <a:cs typeface="Times New Roman" panose="02020603050405020304" pitchFamily="18" charset="0"/>
                      </a:endParaRPr>
                    </a:p>
                  </a:txBody>
                  <a:tcPr marL="53881" marR="53881" marT="26940" marB="26940" anchor="ctr">
                    <a:lnL>
                      <a:noFill/>
                    </a:lnL>
                    <a:lnR>
                      <a:noFill/>
                    </a:lnR>
                    <a:lnT>
                      <a:noFill/>
                    </a:lnT>
                    <a:lnB>
                      <a:noFill/>
                    </a:lnB>
                    <a:noFill/>
                  </a:tcPr>
                </a:tc>
                <a:tc>
                  <a:txBody>
                    <a:bodyPr/>
                    <a:lstStyle/>
                    <a:p>
                      <a:pPr>
                        <a:buNone/>
                      </a:pPr>
                      <a:r>
                        <a:rPr lang="en-US" sz="1600">
                          <a:latin typeface="Times New Roman" panose="02020603050405020304" pitchFamily="18" charset="0"/>
                          <a:cs typeface="Times New Roman" panose="02020603050405020304" pitchFamily="18" charset="0"/>
                        </a:rPr>
                        <a:t>Linear Regression, Decision Trees, SVM, Neural Networks.</a:t>
                      </a:r>
                    </a:p>
                  </a:txBody>
                  <a:tcPr marL="53881" marR="53881" marT="26940" marB="26940" anchor="ctr">
                    <a:lnL>
                      <a:noFill/>
                    </a:lnL>
                    <a:lnR>
                      <a:noFill/>
                    </a:lnR>
                    <a:lnT>
                      <a:noFill/>
                    </a:lnT>
                    <a:lnB>
                      <a:noFill/>
                    </a:lnB>
                    <a:noFill/>
                  </a:tcPr>
                </a:tc>
                <a:tc>
                  <a:txBody>
                    <a:bodyPr/>
                    <a:lstStyle/>
                    <a:p>
                      <a:pPr>
                        <a:buNone/>
                      </a:pPr>
                      <a:r>
                        <a:rPr lang="en-US" sz="1600">
                          <a:latin typeface="Times New Roman" panose="02020603050405020304" pitchFamily="18" charset="0"/>
                          <a:cs typeface="Times New Roman" panose="02020603050405020304" pitchFamily="18" charset="0"/>
                        </a:rPr>
                        <a:t>Q-Learning, SARSA, DQN, Policy Gradient.</a:t>
                      </a:r>
                    </a:p>
                  </a:txBody>
                  <a:tcPr marL="53881" marR="53881" marT="26940" marB="26940" anchor="ctr">
                    <a:lnL>
                      <a:noFill/>
                    </a:lnL>
                    <a:lnR>
                      <a:noFill/>
                    </a:lnR>
                    <a:lnT>
                      <a:noFill/>
                    </a:lnT>
                    <a:lnB>
                      <a:noFill/>
                    </a:lnB>
                    <a:noFill/>
                  </a:tcPr>
                </a:tc>
                <a:extLst>
                  <a:ext uri="{0D108BD9-81ED-4DB2-BD59-A6C34878D82A}">
                    <a16:rowId xmlns:a16="http://schemas.microsoft.com/office/drawing/2014/main" val="998476840"/>
                  </a:ext>
                </a:extLst>
              </a:tr>
              <a:tr h="612455">
                <a:tc>
                  <a:txBody>
                    <a:bodyPr/>
                    <a:lstStyle/>
                    <a:p>
                      <a:pPr>
                        <a:buNone/>
                      </a:pPr>
                      <a:r>
                        <a:rPr lang="en-IN" sz="1600" b="1">
                          <a:latin typeface="Times New Roman" panose="02020603050405020304" pitchFamily="18" charset="0"/>
                          <a:cs typeface="Times New Roman" panose="02020603050405020304" pitchFamily="18" charset="0"/>
                        </a:rPr>
                        <a:t>Real-life Example</a:t>
                      </a:r>
                      <a:endParaRPr lang="en-IN" sz="1600">
                        <a:latin typeface="Times New Roman" panose="02020603050405020304" pitchFamily="18" charset="0"/>
                        <a:cs typeface="Times New Roman" panose="02020603050405020304" pitchFamily="18" charset="0"/>
                      </a:endParaRPr>
                    </a:p>
                  </a:txBody>
                  <a:tcPr marL="53881" marR="53881" marT="26940" marB="26940" anchor="ctr">
                    <a:lnL>
                      <a:noFill/>
                    </a:lnL>
                    <a:lnR>
                      <a:noFill/>
                    </a:lnR>
                    <a:lnT>
                      <a:noFill/>
                    </a:lnT>
                    <a:lnB>
                      <a:noFill/>
                    </a:lnB>
                    <a:noFill/>
                  </a:tcPr>
                </a:tc>
                <a:tc>
                  <a:txBody>
                    <a:bodyPr/>
                    <a:lstStyle/>
                    <a:p>
                      <a:pPr>
                        <a:buNone/>
                      </a:pPr>
                      <a:r>
                        <a:rPr lang="en-US" sz="1600">
                          <a:latin typeface="Times New Roman" panose="02020603050405020304" pitchFamily="18" charset="0"/>
                          <a:cs typeface="Times New Roman" panose="02020603050405020304" pitchFamily="18" charset="0"/>
                        </a:rPr>
                        <a:t>Email spam detection using labeled emails.</a:t>
                      </a:r>
                    </a:p>
                  </a:txBody>
                  <a:tcPr marL="53881" marR="53881" marT="26940" marB="26940" anchor="ctr">
                    <a:lnL>
                      <a:noFill/>
                    </a:lnL>
                    <a:lnR>
                      <a:noFill/>
                    </a:lnR>
                    <a:lnT>
                      <a:noFill/>
                    </a:lnT>
                    <a:lnB>
                      <a:noFill/>
                    </a:lnB>
                    <a:noFill/>
                  </a:tcPr>
                </a:tc>
                <a:tc>
                  <a:txBody>
                    <a:bodyPr/>
                    <a:lstStyle/>
                    <a:p>
                      <a:pPr>
                        <a:buNone/>
                      </a:pPr>
                      <a:r>
                        <a:rPr lang="en-US" sz="1600" dirty="0">
                          <a:latin typeface="Times New Roman" panose="02020603050405020304" pitchFamily="18" charset="0"/>
                          <a:cs typeface="Times New Roman" panose="02020603050405020304" pitchFamily="18" charset="0"/>
                        </a:rPr>
                        <a:t>Robot learning to walk, game-playing AI.</a:t>
                      </a:r>
                    </a:p>
                  </a:txBody>
                  <a:tcPr marL="53881" marR="53881" marT="26940" marB="26940" anchor="ctr">
                    <a:lnL>
                      <a:noFill/>
                    </a:lnL>
                    <a:lnR>
                      <a:noFill/>
                    </a:lnR>
                    <a:lnT>
                      <a:noFill/>
                    </a:lnT>
                    <a:lnB>
                      <a:noFill/>
                    </a:lnB>
                    <a:noFill/>
                  </a:tcPr>
                </a:tc>
                <a:extLst>
                  <a:ext uri="{0D108BD9-81ED-4DB2-BD59-A6C34878D82A}">
                    <a16:rowId xmlns:a16="http://schemas.microsoft.com/office/drawing/2014/main" val="2244626528"/>
                  </a:ext>
                </a:extLst>
              </a:tr>
            </a:tbl>
          </a:graphicData>
        </a:graphic>
      </p:graphicFrame>
    </p:spTree>
    <p:extLst>
      <p:ext uri="{BB962C8B-B14F-4D97-AF65-F5344CB8AC3E}">
        <p14:creationId xmlns:p14="http://schemas.microsoft.com/office/powerpoint/2010/main" val="2134492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8E3EEB6-CC9B-1827-8E30-A0B566E79365}"/>
              </a:ext>
            </a:extLst>
          </p:cNvPr>
          <p:cNvGraphicFramePr>
            <a:graphicFrameLocks noGrp="1"/>
          </p:cNvGraphicFramePr>
          <p:nvPr>
            <p:extLst>
              <p:ext uri="{D42A27DB-BD31-4B8C-83A1-F6EECF244321}">
                <p14:modId xmlns:p14="http://schemas.microsoft.com/office/powerpoint/2010/main" val="2721975565"/>
              </p:ext>
            </p:extLst>
          </p:nvPr>
        </p:nvGraphicFramePr>
        <p:xfrm>
          <a:off x="533400" y="337680"/>
          <a:ext cx="7391400" cy="6520320"/>
        </p:xfrm>
        <a:graphic>
          <a:graphicData uri="http://schemas.openxmlformats.org/drawingml/2006/table">
            <a:tbl>
              <a:tblPr/>
              <a:tblGrid>
                <a:gridCol w="2463800">
                  <a:extLst>
                    <a:ext uri="{9D8B030D-6E8A-4147-A177-3AD203B41FA5}">
                      <a16:colId xmlns:a16="http://schemas.microsoft.com/office/drawing/2014/main" val="1238732721"/>
                    </a:ext>
                  </a:extLst>
                </a:gridCol>
                <a:gridCol w="2463800">
                  <a:extLst>
                    <a:ext uri="{9D8B030D-6E8A-4147-A177-3AD203B41FA5}">
                      <a16:colId xmlns:a16="http://schemas.microsoft.com/office/drawing/2014/main" val="4072995882"/>
                    </a:ext>
                  </a:extLst>
                </a:gridCol>
                <a:gridCol w="2463800">
                  <a:extLst>
                    <a:ext uri="{9D8B030D-6E8A-4147-A177-3AD203B41FA5}">
                      <a16:colId xmlns:a16="http://schemas.microsoft.com/office/drawing/2014/main" val="200092862"/>
                    </a:ext>
                  </a:extLst>
                </a:gridCol>
              </a:tblGrid>
              <a:tr h="484391">
                <a:tc>
                  <a:txBody>
                    <a:bodyPr/>
                    <a:lstStyle/>
                    <a:p>
                      <a:pPr>
                        <a:buNone/>
                      </a:pPr>
                      <a:r>
                        <a:rPr lang="en-IN" sz="1800">
                          <a:latin typeface="Times New Roman" panose="02020603050405020304" pitchFamily="18" charset="0"/>
                          <a:cs typeface="Times New Roman" panose="02020603050405020304" pitchFamily="18" charset="0"/>
                        </a:rPr>
                        <a:t>Basis</a:t>
                      </a:r>
                    </a:p>
                  </a:txBody>
                  <a:tcPr marL="58025" marR="58025" marT="29013" marB="29013" anchor="ctr">
                    <a:lnL>
                      <a:noFill/>
                    </a:lnL>
                    <a:lnR>
                      <a:noFill/>
                    </a:lnR>
                    <a:lnT>
                      <a:noFill/>
                    </a:lnT>
                    <a:lnB>
                      <a:noFill/>
                    </a:lnB>
                    <a:noFill/>
                  </a:tcPr>
                </a:tc>
                <a:tc>
                  <a:txBody>
                    <a:bodyPr/>
                    <a:lstStyle/>
                    <a:p>
                      <a:pPr>
                        <a:buNone/>
                      </a:pPr>
                      <a:r>
                        <a:rPr lang="en-IN" sz="1800">
                          <a:latin typeface="Times New Roman" panose="02020603050405020304" pitchFamily="18" charset="0"/>
                          <a:cs typeface="Times New Roman" panose="02020603050405020304" pitchFamily="18" charset="0"/>
                        </a:rPr>
                        <a:t>Unsupervised Learning</a:t>
                      </a:r>
                    </a:p>
                  </a:txBody>
                  <a:tcPr marL="58025" marR="58025" marT="29013" marB="29013" anchor="ctr">
                    <a:lnL>
                      <a:noFill/>
                    </a:lnL>
                    <a:lnR>
                      <a:noFill/>
                    </a:lnR>
                    <a:lnT>
                      <a:noFill/>
                    </a:lnT>
                    <a:lnB>
                      <a:noFill/>
                    </a:lnB>
                    <a:noFill/>
                  </a:tcPr>
                </a:tc>
                <a:tc>
                  <a:txBody>
                    <a:bodyPr/>
                    <a:lstStyle/>
                    <a:p>
                      <a:pPr>
                        <a:buNone/>
                      </a:pPr>
                      <a:r>
                        <a:rPr lang="en-IN" sz="1800">
                          <a:latin typeface="Times New Roman" panose="02020603050405020304" pitchFamily="18" charset="0"/>
                          <a:cs typeface="Times New Roman" panose="02020603050405020304" pitchFamily="18" charset="0"/>
                        </a:rPr>
                        <a:t>Reinforcement Learning</a:t>
                      </a:r>
                    </a:p>
                  </a:txBody>
                  <a:tcPr marL="58025" marR="58025" marT="29013" marB="29013" anchor="ctr">
                    <a:lnL>
                      <a:noFill/>
                    </a:lnL>
                    <a:lnR>
                      <a:noFill/>
                    </a:lnR>
                    <a:lnT>
                      <a:noFill/>
                    </a:lnT>
                    <a:lnB>
                      <a:noFill/>
                    </a:lnB>
                    <a:noFill/>
                  </a:tcPr>
                </a:tc>
                <a:extLst>
                  <a:ext uri="{0D108BD9-81ED-4DB2-BD59-A6C34878D82A}">
                    <a16:rowId xmlns:a16="http://schemas.microsoft.com/office/drawing/2014/main" val="3980131816"/>
                  </a:ext>
                </a:extLst>
              </a:tr>
              <a:tr h="899584">
                <a:tc>
                  <a:txBody>
                    <a:bodyPr/>
                    <a:lstStyle/>
                    <a:p>
                      <a:pPr>
                        <a:buNone/>
                      </a:pPr>
                      <a:r>
                        <a:rPr lang="en-IN" sz="1800" b="1">
                          <a:latin typeface="Times New Roman" panose="02020603050405020304" pitchFamily="18" charset="0"/>
                          <a:cs typeface="Times New Roman" panose="02020603050405020304" pitchFamily="18" charset="0"/>
                        </a:rPr>
                        <a:t>Definition</a:t>
                      </a:r>
                      <a:endParaRPr lang="en-IN" sz="1800">
                        <a:latin typeface="Times New Roman" panose="02020603050405020304" pitchFamily="18" charset="0"/>
                        <a:cs typeface="Times New Roman" panose="02020603050405020304" pitchFamily="18" charset="0"/>
                      </a:endParaRPr>
                    </a:p>
                  </a:txBody>
                  <a:tcPr marL="58025" marR="58025" marT="29013" marB="29013"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Learns patterns from </a:t>
                      </a:r>
                      <a:r>
                        <a:rPr lang="en-US" sz="1800" b="1">
                          <a:latin typeface="Times New Roman" panose="02020603050405020304" pitchFamily="18" charset="0"/>
                          <a:cs typeface="Times New Roman" panose="02020603050405020304" pitchFamily="18" charset="0"/>
                        </a:rPr>
                        <a:t>unlabeled data</a:t>
                      </a:r>
                      <a:r>
                        <a:rPr lang="en-US" sz="1800">
                          <a:latin typeface="Times New Roman" panose="02020603050405020304" pitchFamily="18" charset="0"/>
                          <a:cs typeface="Times New Roman" panose="02020603050405020304" pitchFamily="18" charset="0"/>
                        </a:rPr>
                        <a:t> without any predefined output.</a:t>
                      </a:r>
                    </a:p>
                  </a:txBody>
                  <a:tcPr marL="58025" marR="58025" marT="29013" marB="29013"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Learns by </a:t>
                      </a:r>
                      <a:r>
                        <a:rPr lang="en-US" sz="1800" b="1">
                          <a:latin typeface="Times New Roman" panose="02020603050405020304" pitchFamily="18" charset="0"/>
                          <a:cs typeface="Times New Roman" panose="02020603050405020304" pitchFamily="18" charset="0"/>
                        </a:rPr>
                        <a:t>interacting with an environment</a:t>
                      </a:r>
                      <a:r>
                        <a:rPr lang="en-US" sz="1800">
                          <a:latin typeface="Times New Roman" panose="02020603050405020304" pitchFamily="18" charset="0"/>
                          <a:cs typeface="Times New Roman" panose="02020603050405020304" pitchFamily="18" charset="0"/>
                        </a:rPr>
                        <a:t> using rewards and penalties.</a:t>
                      </a:r>
                    </a:p>
                  </a:txBody>
                  <a:tcPr marL="58025" marR="58025" marT="29013" marB="29013" anchor="ctr">
                    <a:lnL>
                      <a:noFill/>
                    </a:lnL>
                    <a:lnR>
                      <a:noFill/>
                    </a:lnR>
                    <a:lnT>
                      <a:noFill/>
                    </a:lnT>
                    <a:lnB>
                      <a:noFill/>
                    </a:lnB>
                    <a:noFill/>
                  </a:tcPr>
                </a:tc>
                <a:extLst>
                  <a:ext uri="{0D108BD9-81ED-4DB2-BD59-A6C34878D82A}">
                    <a16:rowId xmlns:a16="http://schemas.microsoft.com/office/drawing/2014/main" val="1897810909"/>
                  </a:ext>
                </a:extLst>
              </a:tr>
              <a:tr h="691987">
                <a:tc>
                  <a:txBody>
                    <a:bodyPr/>
                    <a:lstStyle/>
                    <a:p>
                      <a:pPr>
                        <a:buNone/>
                      </a:pPr>
                      <a:r>
                        <a:rPr lang="en-IN" sz="1800" b="1">
                          <a:latin typeface="Times New Roman" panose="02020603050405020304" pitchFamily="18" charset="0"/>
                          <a:cs typeface="Times New Roman" panose="02020603050405020304" pitchFamily="18" charset="0"/>
                        </a:rPr>
                        <a:t>Data Type</a:t>
                      </a:r>
                      <a:endParaRPr lang="en-IN" sz="1800">
                        <a:latin typeface="Times New Roman" panose="02020603050405020304" pitchFamily="18" charset="0"/>
                        <a:cs typeface="Times New Roman" panose="02020603050405020304" pitchFamily="18" charset="0"/>
                      </a:endParaRPr>
                    </a:p>
                  </a:txBody>
                  <a:tcPr marL="58025" marR="58025" marT="29013" marB="29013"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Only </a:t>
                      </a:r>
                      <a:r>
                        <a:rPr lang="en-US" sz="1800" b="1">
                          <a:latin typeface="Times New Roman" panose="02020603050405020304" pitchFamily="18" charset="0"/>
                          <a:cs typeface="Times New Roman" panose="02020603050405020304" pitchFamily="18" charset="0"/>
                        </a:rPr>
                        <a:t>input data</a:t>
                      </a:r>
                      <a:r>
                        <a:rPr lang="en-US" sz="1800">
                          <a:latin typeface="Times New Roman" panose="02020603050405020304" pitchFamily="18" charset="0"/>
                          <a:cs typeface="Times New Roman" panose="02020603050405020304" pitchFamily="18" charset="0"/>
                        </a:rPr>
                        <a:t>, no correct answers.</a:t>
                      </a:r>
                    </a:p>
                  </a:txBody>
                  <a:tcPr marL="58025" marR="58025" marT="29013" marB="29013"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No dataset in advance; learning happens through </a:t>
                      </a:r>
                      <a:r>
                        <a:rPr lang="en-US" sz="1800" b="1">
                          <a:latin typeface="Times New Roman" panose="02020603050405020304" pitchFamily="18" charset="0"/>
                          <a:cs typeface="Times New Roman" panose="02020603050405020304" pitchFamily="18" charset="0"/>
                        </a:rPr>
                        <a:t>experience</a:t>
                      </a:r>
                      <a:r>
                        <a:rPr lang="en-US" sz="1800">
                          <a:latin typeface="Times New Roman" panose="02020603050405020304" pitchFamily="18" charset="0"/>
                          <a:cs typeface="Times New Roman" panose="02020603050405020304" pitchFamily="18" charset="0"/>
                        </a:rPr>
                        <a:t>.</a:t>
                      </a:r>
                    </a:p>
                  </a:txBody>
                  <a:tcPr marL="58025" marR="58025" marT="29013" marB="29013" anchor="ctr">
                    <a:lnL>
                      <a:noFill/>
                    </a:lnL>
                    <a:lnR>
                      <a:noFill/>
                    </a:lnR>
                    <a:lnT>
                      <a:noFill/>
                    </a:lnT>
                    <a:lnB>
                      <a:noFill/>
                    </a:lnB>
                    <a:noFill/>
                  </a:tcPr>
                </a:tc>
                <a:extLst>
                  <a:ext uri="{0D108BD9-81ED-4DB2-BD59-A6C34878D82A}">
                    <a16:rowId xmlns:a16="http://schemas.microsoft.com/office/drawing/2014/main" val="1782349202"/>
                  </a:ext>
                </a:extLst>
              </a:tr>
              <a:tr h="691987">
                <a:tc>
                  <a:txBody>
                    <a:bodyPr/>
                    <a:lstStyle/>
                    <a:p>
                      <a:pPr>
                        <a:buNone/>
                      </a:pPr>
                      <a:r>
                        <a:rPr lang="en-IN" sz="1800" b="1">
                          <a:latin typeface="Times New Roman" panose="02020603050405020304" pitchFamily="18" charset="0"/>
                          <a:cs typeface="Times New Roman" panose="02020603050405020304" pitchFamily="18" charset="0"/>
                        </a:rPr>
                        <a:t>Goal</a:t>
                      </a:r>
                      <a:endParaRPr lang="en-IN" sz="1800">
                        <a:latin typeface="Times New Roman" panose="02020603050405020304" pitchFamily="18" charset="0"/>
                        <a:cs typeface="Times New Roman" panose="02020603050405020304" pitchFamily="18" charset="0"/>
                      </a:endParaRPr>
                    </a:p>
                  </a:txBody>
                  <a:tcPr marL="58025" marR="58025" marT="29013" marB="29013" anchor="ctr">
                    <a:lnL>
                      <a:noFill/>
                    </a:lnL>
                    <a:lnR>
                      <a:noFill/>
                    </a:lnR>
                    <a:lnT>
                      <a:noFill/>
                    </a:lnT>
                    <a:lnB>
                      <a:noFill/>
                    </a:lnB>
                    <a:noFill/>
                  </a:tcPr>
                </a:tc>
                <a:tc>
                  <a:txBody>
                    <a:bodyPr/>
                    <a:lstStyle/>
                    <a:p>
                      <a:pPr>
                        <a:buNone/>
                      </a:pPr>
                      <a:r>
                        <a:rPr lang="en-IN" sz="1800" dirty="0">
                          <a:latin typeface="Times New Roman" panose="02020603050405020304" pitchFamily="18" charset="0"/>
                          <a:cs typeface="Times New Roman" panose="02020603050405020304" pitchFamily="18" charset="0"/>
                        </a:rPr>
                        <a:t>Discover </a:t>
                      </a:r>
                      <a:r>
                        <a:rPr lang="en-IN" sz="1800" b="1" dirty="0">
                          <a:latin typeface="Times New Roman" panose="02020603050405020304" pitchFamily="18" charset="0"/>
                          <a:cs typeface="Times New Roman" panose="02020603050405020304" pitchFamily="18" charset="0"/>
                        </a:rPr>
                        <a:t>hidden structure/patterns</a:t>
                      </a:r>
                      <a:r>
                        <a:rPr lang="en-IN" sz="1800" dirty="0">
                          <a:latin typeface="Times New Roman" panose="02020603050405020304" pitchFamily="18" charset="0"/>
                          <a:cs typeface="Times New Roman" panose="02020603050405020304" pitchFamily="18" charset="0"/>
                        </a:rPr>
                        <a:t> in data.</a:t>
                      </a:r>
                    </a:p>
                  </a:txBody>
                  <a:tcPr marL="58025" marR="58025" marT="29013" marB="29013" anchor="ctr">
                    <a:lnL>
                      <a:noFill/>
                    </a:lnL>
                    <a:lnR>
                      <a:noFill/>
                    </a:lnR>
                    <a:lnT>
                      <a:noFill/>
                    </a:lnT>
                    <a:lnB>
                      <a:noFill/>
                    </a:lnB>
                    <a:noFill/>
                  </a:tcPr>
                </a:tc>
                <a:tc>
                  <a:txBody>
                    <a:bodyPr/>
                    <a:lstStyle/>
                    <a:p>
                      <a:pPr>
                        <a:buNone/>
                      </a:pPr>
                      <a:r>
                        <a:rPr lang="en-IN" sz="1800">
                          <a:latin typeface="Times New Roman" panose="02020603050405020304" pitchFamily="18" charset="0"/>
                          <a:cs typeface="Times New Roman" panose="02020603050405020304" pitchFamily="18" charset="0"/>
                        </a:rPr>
                        <a:t>Maximize </a:t>
                      </a:r>
                      <a:r>
                        <a:rPr lang="en-IN" sz="1800" b="1">
                          <a:latin typeface="Times New Roman" panose="02020603050405020304" pitchFamily="18" charset="0"/>
                          <a:cs typeface="Times New Roman" panose="02020603050405020304" pitchFamily="18" charset="0"/>
                        </a:rPr>
                        <a:t>cumulative (long-term) reward</a:t>
                      </a:r>
                      <a:r>
                        <a:rPr lang="en-IN" sz="1800">
                          <a:latin typeface="Times New Roman" panose="02020603050405020304" pitchFamily="18" charset="0"/>
                          <a:cs typeface="Times New Roman" panose="02020603050405020304" pitchFamily="18" charset="0"/>
                        </a:rPr>
                        <a:t>.</a:t>
                      </a:r>
                    </a:p>
                  </a:txBody>
                  <a:tcPr marL="58025" marR="58025" marT="29013" marB="29013" anchor="ctr">
                    <a:lnL>
                      <a:noFill/>
                    </a:lnL>
                    <a:lnR>
                      <a:noFill/>
                    </a:lnR>
                    <a:lnT>
                      <a:noFill/>
                    </a:lnT>
                    <a:lnB>
                      <a:noFill/>
                    </a:lnB>
                    <a:noFill/>
                  </a:tcPr>
                </a:tc>
                <a:extLst>
                  <a:ext uri="{0D108BD9-81ED-4DB2-BD59-A6C34878D82A}">
                    <a16:rowId xmlns:a16="http://schemas.microsoft.com/office/drawing/2014/main" val="1782713345"/>
                  </a:ext>
                </a:extLst>
              </a:tr>
              <a:tr h="484391">
                <a:tc>
                  <a:txBody>
                    <a:bodyPr/>
                    <a:lstStyle/>
                    <a:p>
                      <a:pPr>
                        <a:buNone/>
                      </a:pPr>
                      <a:r>
                        <a:rPr lang="en-IN" sz="1800" b="1">
                          <a:latin typeface="Times New Roman" panose="02020603050405020304" pitchFamily="18" charset="0"/>
                          <a:cs typeface="Times New Roman" panose="02020603050405020304" pitchFamily="18" charset="0"/>
                        </a:rPr>
                        <a:t>Feedback</a:t>
                      </a:r>
                      <a:endParaRPr lang="en-IN" sz="1800">
                        <a:latin typeface="Times New Roman" panose="02020603050405020304" pitchFamily="18" charset="0"/>
                        <a:cs typeface="Times New Roman" panose="02020603050405020304" pitchFamily="18" charset="0"/>
                      </a:endParaRPr>
                    </a:p>
                  </a:txBody>
                  <a:tcPr marL="58025" marR="58025" marT="29013" marB="29013" anchor="ctr">
                    <a:lnL>
                      <a:noFill/>
                    </a:lnL>
                    <a:lnR>
                      <a:noFill/>
                    </a:lnR>
                    <a:lnT>
                      <a:noFill/>
                    </a:lnT>
                    <a:lnB>
                      <a:noFill/>
                    </a:lnB>
                    <a:noFill/>
                  </a:tcPr>
                </a:tc>
                <a:tc>
                  <a:txBody>
                    <a:bodyPr/>
                    <a:lstStyle/>
                    <a:p>
                      <a:pPr>
                        <a:buNone/>
                      </a:pPr>
                      <a:r>
                        <a:rPr lang="en-US" sz="1800" b="1">
                          <a:latin typeface="Times New Roman" panose="02020603050405020304" pitchFamily="18" charset="0"/>
                          <a:cs typeface="Times New Roman" panose="02020603050405020304" pitchFamily="18" charset="0"/>
                        </a:rPr>
                        <a:t>No feedback</a:t>
                      </a:r>
                      <a:r>
                        <a:rPr lang="en-US" sz="1800">
                          <a:latin typeface="Times New Roman" panose="02020603050405020304" pitchFamily="18" charset="0"/>
                          <a:cs typeface="Times New Roman" panose="02020603050405020304" pitchFamily="18" charset="0"/>
                        </a:rPr>
                        <a:t> (no reward/penalty).</a:t>
                      </a:r>
                    </a:p>
                  </a:txBody>
                  <a:tcPr marL="58025" marR="58025" marT="29013" marB="29013" anchor="ctr">
                    <a:lnL>
                      <a:noFill/>
                    </a:lnL>
                    <a:lnR>
                      <a:noFill/>
                    </a:lnR>
                    <a:lnT>
                      <a:noFill/>
                    </a:lnT>
                    <a:lnB>
                      <a:noFill/>
                    </a:lnB>
                    <a:noFill/>
                  </a:tcPr>
                </a:tc>
                <a:tc>
                  <a:txBody>
                    <a:bodyPr/>
                    <a:lstStyle/>
                    <a:p>
                      <a:pPr>
                        <a:buNone/>
                      </a:pPr>
                      <a:r>
                        <a:rPr lang="en-IN" sz="1800" b="1">
                          <a:latin typeface="Times New Roman" panose="02020603050405020304" pitchFamily="18" charset="0"/>
                          <a:cs typeface="Times New Roman" panose="02020603050405020304" pitchFamily="18" charset="0"/>
                        </a:rPr>
                        <a:t>Reward signal</a:t>
                      </a:r>
                      <a:r>
                        <a:rPr lang="en-IN" sz="1800">
                          <a:latin typeface="Times New Roman" panose="02020603050405020304" pitchFamily="18" charset="0"/>
                          <a:cs typeface="Times New Roman" panose="02020603050405020304" pitchFamily="18" charset="0"/>
                        </a:rPr>
                        <a:t> guides learning.</a:t>
                      </a:r>
                    </a:p>
                  </a:txBody>
                  <a:tcPr marL="58025" marR="58025" marT="29013" marB="29013" anchor="ctr">
                    <a:lnL>
                      <a:noFill/>
                    </a:lnL>
                    <a:lnR>
                      <a:noFill/>
                    </a:lnR>
                    <a:lnT>
                      <a:noFill/>
                    </a:lnT>
                    <a:lnB>
                      <a:noFill/>
                    </a:lnB>
                    <a:noFill/>
                  </a:tcPr>
                </a:tc>
                <a:extLst>
                  <a:ext uri="{0D108BD9-81ED-4DB2-BD59-A6C34878D82A}">
                    <a16:rowId xmlns:a16="http://schemas.microsoft.com/office/drawing/2014/main" val="1004966022"/>
                  </a:ext>
                </a:extLst>
              </a:tr>
              <a:tr h="484391">
                <a:tc>
                  <a:txBody>
                    <a:bodyPr/>
                    <a:lstStyle/>
                    <a:p>
                      <a:pPr>
                        <a:buNone/>
                      </a:pPr>
                      <a:r>
                        <a:rPr lang="en-IN" sz="1800" b="1">
                          <a:latin typeface="Times New Roman" panose="02020603050405020304" pitchFamily="18" charset="0"/>
                          <a:cs typeface="Times New Roman" panose="02020603050405020304" pitchFamily="18" charset="0"/>
                        </a:rPr>
                        <a:t>Output</a:t>
                      </a:r>
                      <a:endParaRPr lang="en-IN" sz="1800">
                        <a:latin typeface="Times New Roman" panose="02020603050405020304" pitchFamily="18" charset="0"/>
                        <a:cs typeface="Times New Roman" panose="02020603050405020304" pitchFamily="18" charset="0"/>
                      </a:endParaRPr>
                    </a:p>
                  </a:txBody>
                  <a:tcPr marL="58025" marR="58025" marT="29013" marB="29013" anchor="ctr">
                    <a:lnL>
                      <a:noFill/>
                    </a:lnL>
                    <a:lnR>
                      <a:noFill/>
                    </a:lnR>
                    <a:lnT>
                      <a:noFill/>
                    </a:lnT>
                    <a:lnB>
                      <a:noFill/>
                    </a:lnB>
                    <a:noFill/>
                  </a:tcPr>
                </a:tc>
                <a:tc>
                  <a:txBody>
                    <a:bodyPr/>
                    <a:lstStyle/>
                    <a:p>
                      <a:pPr>
                        <a:buNone/>
                      </a:pPr>
                      <a:r>
                        <a:rPr lang="en-IN" sz="1800">
                          <a:latin typeface="Times New Roman" panose="02020603050405020304" pitchFamily="18" charset="0"/>
                          <a:cs typeface="Times New Roman" panose="02020603050405020304" pitchFamily="18" charset="0"/>
                        </a:rPr>
                        <a:t>Clusters, associations, reduced features.</a:t>
                      </a:r>
                    </a:p>
                  </a:txBody>
                  <a:tcPr marL="58025" marR="58025" marT="29013" marB="29013"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Policy (best actions), value function.</a:t>
                      </a:r>
                    </a:p>
                  </a:txBody>
                  <a:tcPr marL="58025" marR="58025" marT="29013" marB="29013" anchor="ctr">
                    <a:lnL>
                      <a:noFill/>
                    </a:lnL>
                    <a:lnR>
                      <a:noFill/>
                    </a:lnR>
                    <a:lnT>
                      <a:noFill/>
                    </a:lnT>
                    <a:lnB>
                      <a:noFill/>
                    </a:lnB>
                    <a:noFill/>
                  </a:tcPr>
                </a:tc>
                <a:extLst>
                  <a:ext uri="{0D108BD9-81ED-4DB2-BD59-A6C34878D82A}">
                    <a16:rowId xmlns:a16="http://schemas.microsoft.com/office/drawing/2014/main" val="1865360115"/>
                  </a:ext>
                </a:extLst>
              </a:tr>
              <a:tr h="276795">
                <a:tc>
                  <a:txBody>
                    <a:bodyPr/>
                    <a:lstStyle/>
                    <a:p>
                      <a:pPr>
                        <a:buNone/>
                      </a:pPr>
                      <a:r>
                        <a:rPr lang="en-IN" sz="1800" b="1">
                          <a:latin typeface="Times New Roman" panose="02020603050405020304" pitchFamily="18" charset="0"/>
                          <a:cs typeface="Times New Roman" panose="02020603050405020304" pitchFamily="18" charset="0"/>
                        </a:rPr>
                        <a:t>Environment</a:t>
                      </a:r>
                      <a:endParaRPr lang="en-IN" sz="1800">
                        <a:latin typeface="Times New Roman" panose="02020603050405020304" pitchFamily="18" charset="0"/>
                        <a:cs typeface="Times New Roman" panose="02020603050405020304" pitchFamily="18" charset="0"/>
                      </a:endParaRPr>
                    </a:p>
                  </a:txBody>
                  <a:tcPr marL="58025" marR="58025" marT="29013" marB="29013" anchor="ctr">
                    <a:lnL>
                      <a:noFill/>
                    </a:lnL>
                    <a:lnR>
                      <a:noFill/>
                    </a:lnR>
                    <a:lnT>
                      <a:noFill/>
                    </a:lnT>
                    <a:lnB>
                      <a:noFill/>
                    </a:lnB>
                    <a:noFill/>
                  </a:tcPr>
                </a:tc>
                <a:tc>
                  <a:txBody>
                    <a:bodyPr/>
                    <a:lstStyle/>
                    <a:p>
                      <a:pPr>
                        <a:buNone/>
                      </a:pPr>
                      <a:r>
                        <a:rPr lang="en-IN" sz="1800">
                          <a:latin typeface="Times New Roman" panose="02020603050405020304" pitchFamily="18" charset="0"/>
                          <a:cs typeface="Times New Roman" panose="02020603050405020304" pitchFamily="18" charset="0"/>
                        </a:rPr>
                        <a:t>Static dataset.</a:t>
                      </a:r>
                    </a:p>
                  </a:txBody>
                  <a:tcPr marL="58025" marR="58025" marT="29013" marB="29013" anchor="ctr">
                    <a:lnL>
                      <a:noFill/>
                    </a:lnL>
                    <a:lnR>
                      <a:noFill/>
                    </a:lnR>
                    <a:lnT>
                      <a:noFill/>
                    </a:lnT>
                    <a:lnB>
                      <a:noFill/>
                    </a:lnB>
                    <a:noFill/>
                  </a:tcPr>
                </a:tc>
                <a:tc>
                  <a:txBody>
                    <a:bodyPr/>
                    <a:lstStyle/>
                    <a:p>
                      <a:pPr>
                        <a:buNone/>
                      </a:pPr>
                      <a:r>
                        <a:rPr lang="en-IN" sz="1800">
                          <a:latin typeface="Times New Roman" panose="02020603050405020304" pitchFamily="18" charset="0"/>
                          <a:cs typeface="Times New Roman" panose="02020603050405020304" pitchFamily="18" charset="0"/>
                        </a:rPr>
                        <a:t>Dynamic environment.</a:t>
                      </a:r>
                    </a:p>
                  </a:txBody>
                  <a:tcPr marL="58025" marR="58025" marT="29013" marB="29013" anchor="ctr">
                    <a:lnL>
                      <a:noFill/>
                    </a:lnL>
                    <a:lnR>
                      <a:noFill/>
                    </a:lnR>
                    <a:lnT>
                      <a:noFill/>
                    </a:lnT>
                    <a:lnB>
                      <a:noFill/>
                    </a:lnB>
                    <a:noFill/>
                  </a:tcPr>
                </a:tc>
                <a:extLst>
                  <a:ext uri="{0D108BD9-81ED-4DB2-BD59-A6C34878D82A}">
                    <a16:rowId xmlns:a16="http://schemas.microsoft.com/office/drawing/2014/main" val="4137970866"/>
                  </a:ext>
                </a:extLst>
              </a:tr>
              <a:tr h="691987">
                <a:tc>
                  <a:txBody>
                    <a:bodyPr/>
                    <a:lstStyle/>
                    <a:p>
                      <a:pPr>
                        <a:buNone/>
                      </a:pPr>
                      <a:r>
                        <a:rPr lang="en-IN" sz="1800" b="1">
                          <a:latin typeface="Times New Roman" panose="02020603050405020304" pitchFamily="18" charset="0"/>
                          <a:cs typeface="Times New Roman" panose="02020603050405020304" pitchFamily="18" charset="0"/>
                        </a:rPr>
                        <a:t>Examples (Algorithms)</a:t>
                      </a:r>
                      <a:endParaRPr lang="en-IN" sz="1800">
                        <a:latin typeface="Times New Roman" panose="02020603050405020304" pitchFamily="18" charset="0"/>
                        <a:cs typeface="Times New Roman" panose="02020603050405020304" pitchFamily="18" charset="0"/>
                      </a:endParaRPr>
                    </a:p>
                  </a:txBody>
                  <a:tcPr marL="58025" marR="58025" marT="29013" marB="29013" anchor="ctr">
                    <a:lnL>
                      <a:noFill/>
                    </a:lnL>
                    <a:lnR>
                      <a:noFill/>
                    </a:lnR>
                    <a:lnT>
                      <a:noFill/>
                    </a:lnT>
                    <a:lnB>
                      <a:noFill/>
                    </a:lnB>
                    <a:noFill/>
                  </a:tcPr>
                </a:tc>
                <a:tc>
                  <a:txBody>
                    <a:bodyPr/>
                    <a:lstStyle/>
                    <a:p>
                      <a:pPr>
                        <a:buNone/>
                      </a:pPr>
                      <a:r>
                        <a:rPr lang="en-US" sz="1800">
                          <a:latin typeface="Times New Roman" panose="02020603050405020304" pitchFamily="18" charset="0"/>
                          <a:cs typeface="Times New Roman" panose="02020603050405020304" pitchFamily="18" charset="0"/>
                        </a:rPr>
                        <a:t>K-means, Hierarchical clustering, DBSCAN, Apriori, PCA.</a:t>
                      </a:r>
                    </a:p>
                  </a:txBody>
                  <a:tcPr marL="58025" marR="58025" marT="29013" marB="29013" anchor="ctr">
                    <a:lnL>
                      <a:noFill/>
                    </a:lnL>
                    <a:lnR>
                      <a:noFill/>
                    </a:lnR>
                    <a:lnT>
                      <a:noFill/>
                    </a:lnT>
                    <a:lnB>
                      <a:noFill/>
                    </a:lnB>
                    <a:noFill/>
                  </a:tcPr>
                </a:tc>
                <a:tc>
                  <a:txBody>
                    <a:bodyPr/>
                    <a:lstStyle/>
                    <a:p>
                      <a:pPr>
                        <a:buNone/>
                      </a:pPr>
                      <a:r>
                        <a:rPr lang="en-IN" sz="1800">
                          <a:latin typeface="Times New Roman" panose="02020603050405020304" pitchFamily="18" charset="0"/>
                          <a:cs typeface="Times New Roman" panose="02020603050405020304" pitchFamily="18" charset="0"/>
                        </a:rPr>
                        <a:t>Q-Learning, SARSA, DQN, PPO.</a:t>
                      </a:r>
                    </a:p>
                  </a:txBody>
                  <a:tcPr marL="58025" marR="58025" marT="29013" marB="29013" anchor="ctr">
                    <a:lnL>
                      <a:noFill/>
                    </a:lnL>
                    <a:lnR>
                      <a:noFill/>
                    </a:lnR>
                    <a:lnT>
                      <a:noFill/>
                    </a:lnT>
                    <a:lnB>
                      <a:noFill/>
                    </a:lnB>
                    <a:noFill/>
                  </a:tcPr>
                </a:tc>
                <a:extLst>
                  <a:ext uri="{0D108BD9-81ED-4DB2-BD59-A6C34878D82A}">
                    <a16:rowId xmlns:a16="http://schemas.microsoft.com/office/drawing/2014/main" val="3670412824"/>
                  </a:ext>
                </a:extLst>
              </a:tr>
              <a:tr h="691987">
                <a:tc>
                  <a:txBody>
                    <a:bodyPr/>
                    <a:lstStyle/>
                    <a:p>
                      <a:pPr>
                        <a:buNone/>
                      </a:pPr>
                      <a:r>
                        <a:rPr lang="en-IN" sz="1800" b="1">
                          <a:latin typeface="Times New Roman" panose="02020603050405020304" pitchFamily="18" charset="0"/>
                          <a:cs typeface="Times New Roman" panose="02020603050405020304" pitchFamily="18" charset="0"/>
                        </a:rPr>
                        <a:t>Real-life Example</a:t>
                      </a:r>
                      <a:endParaRPr lang="en-IN" sz="1800">
                        <a:latin typeface="Times New Roman" panose="02020603050405020304" pitchFamily="18" charset="0"/>
                        <a:cs typeface="Times New Roman" panose="02020603050405020304" pitchFamily="18" charset="0"/>
                      </a:endParaRPr>
                    </a:p>
                  </a:txBody>
                  <a:tcPr marL="58025" marR="58025" marT="29013" marB="29013" anchor="ctr">
                    <a:lnL>
                      <a:noFill/>
                    </a:lnL>
                    <a:lnR>
                      <a:noFill/>
                    </a:lnR>
                    <a:lnT>
                      <a:noFill/>
                    </a:lnT>
                    <a:lnB>
                      <a:noFill/>
                    </a:lnB>
                    <a:noFill/>
                  </a:tcPr>
                </a:tc>
                <a:tc>
                  <a:txBody>
                    <a:bodyPr/>
                    <a:lstStyle/>
                    <a:p>
                      <a:pPr>
                        <a:buNone/>
                      </a:pPr>
                      <a:r>
                        <a:rPr lang="en-IN" sz="1800">
                          <a:latin typeface="Times New Roman" panose="02020603050405020304" pitchFamily="18" charset="0"/>
                          <a:cs typeface="Times New Roman" panose="02020603050405020304" pitchFamily="18" charset="0"/>
                        </a:rPr>
                        <a:t>Customer segmentation in marketing.</a:t>
                      </a:r>
                    </a:p>
                  </a:txBody>
                  <a:tcPr marL="58025" marR="58025" marT="29013" marB="29013" anchor="ctr">
                    <a:lnL>
                      <a:noFill/>
                    </a:lnL>
                    <a:lnR>
                      <a:noFill/>
                    </a:lnR>
                    <a:lnT>
                      <a:noFill/>
                    </a:lnT>
                    <a:lnB>
                      <a:noFill/>
                    </a:lnB>
                    <a:noFill/>
                  </a:tcPr>
                </a:tc>
                <a:tc>
                  <a:txBody>
                    <a:bodyPr/>
                    <a:lstStyle/>
                    <a:p>
                      <a:pPr>
                        <a:buNone/>
                      </a:pPr>
                      <a:r>
                        <a:rPr lang="en-US" sz="1800" dirty="0">
                          <a:latin typeface="Times New Roman" panose="02020603050405020304" pitchFamily="18" charset="0"/>
                          <a:cs typeface="Times New Roman" panose="02020603050405020304" pitchFamily="18" charset="0"/>
                        </a:rPr>
                        <a:t>Robot learning to walk, game-playing AI.</a:t>
                      </a:r>
                    </a:p>
                  </a:txBody>
                  <a:tcPr marL="58025" marR="58025" marT="29013" marB="29013" anchor="ctr">
                    <a:lnL>
                      <a:noFill/>
                    </a:lnL>
                    <a:lnR>
                      <a:noFill/>
                    </a:lnR>
                    <a:lnT>
                      <a:noFill/>
                    </a:lnT>
                    <a:lnB>
                      <a:noFill/>
                    </a:lnB>
                    <a:noFill/>
                  </a:tcPr>
                </a:tc>
                <a:extLst>
                  <a:ext uri="{0D108BD9-81ED-4DB2-BD59-A6C34878D82A}">
                    <a16:rowId xmlns:a16="http://schemas.microsoft.com/office/drawing/2014/main" val="381122162"/>
                  </a:ext>
                </a:extLst>
              </a:tr>
            </a:tbl>
          </a:graphicData>
        </a:graphic>
      </p:graphicFrame>
    </p:spTree>
    <p:extLst>
      <p:ext uri="{BB962C8B-B14F-4D97-AF65-F5344CB8AC3E}">
        <p14:creationId xmlns:p14="http://schemas.microsoft.com/office/powerpoint/2010/main" val="2479012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443841"/>
            <a:ext cx="8534400" cy="4457952"/>
          </a:xfrm>
          <a:prstGeom prst="rect">
            <a:avLst/>
          </a:prstGeom>
        </p:spPr>
        <p:txBody>
          <a:bodyPr wrap="square">
            <a:spAutoFit/>
          </a:bodyPr>
          <a:lstStyle/>
          <a:p>
            <a:pPr algn="just">
              <a:lnSpc>
                <a:spcPct val="150000"/>
              </a:lnSpc>
            </a:pPr>
            <a:r>
              <a:rPr lang="en-US" sz="2400" dirty="0">
                <a:latin typeface="Times New Roman" pitchFamily="18" charset="0"/>
                <a:cs typeface="Times New Roman" pitchFamily="18" charset="0"/>
              </a:rPr>
              <a:t>In reinforcement learning, there isn’t any answer and the reinforcement agent decides what to be done to perform the required task. As the training dataset isn’t available, the agent had to learn from its experience. It’s all about compiling the decisions in a sequential manner. To be said in simpler words, the output relies on the current input state and the next input relies on the output of the previous input. We give labels to the sequence of dependent decisions. Decisions are dependent. Example: Chess Game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62000"/>
            <a:ext cx="8839200" cy="2308324"/>
          </a:xfrm>
          <a:prstGeom prst="rect">
            <a:avLst/>
          </a:prstGeom>
        </p:spPr>
        <p:txBody>
          <a:bodyPr wrap="square">
            <a:spAutoFit/>
          </a:bodyPr>
          <a:lstStyle/>
          <a:p>
            <a:r>
              <a:rPr lang="en-US" sz="2400" b="1" dirty="0">
                <a:latin typeface="Times New Roman" pitchFamily="18" charset="0"/>
                <a:cs typeface="Times New Roman" pitchFamily="18" charset="0"/>
              </a:rPr>
              <a:t>Characteristics of Reinforcement Learning</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 No supervision, only a real value or reward signal</a:t>
            </a:r>
          </a:p>
          <a:p>
            <a:r>
              <a:rPr lang="en-US" sz="2400" dirty="0">
                <a:latin typeface="Times New Roman" pitchFamily="18" charset="0"/>
                <a:cs typeface="Times New Roman" pitchFamily="18" charset="0"/>
              </a:rPr>
              <a:t>– Decision making is sequential</a:t>
            </a:r>
          </a:p>
          <a:p>
            <a:r>
              <a:rPr lang="en-US" sz="2400" dirty="0">
                <a:latin typeface="Times New Roman" pitchFamily="18" charset="0"/>
                <a:cs typeface="Times New Roman" pitchFamily="18" charset="0"/>
              </a:rPr>
              <a:t>– Time plays a major role in reinforcement problems</a:t>
            </a:r>
          </a:p>
          <a:p>
            <a:r>
              <a:rPr lang="en-US" sz="2400" dirty="0">
                <a:latin typeface="Times New Roman" pitchFamily="18" charset="0"/>
                <a:cs typeface="Times New Roman" pitchFamily="18" charset="0"/>
              </a:rPr>
              <a:t>– Feedback isn’t prompt but delayed</a:t>
            </a:r>
          </a:p>
          <a:p>
            <a:r>
              <a:rPr lang="en-US" sz="2400" dirty="0">
                <a:latin typeface="Times New Roman" pitchFamily="18" charset="0"/>
                <a:cs typeface="Times New Roman" pitchFamily="18" charset="0"/>
              </a:rPr>
              <a:t>– The following data it receives is determined by the agent’s actions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976F63-C7CC-B2BA-18DB-EBCBE7109BC8}"/>
              </a:ext>
            </a:extLst>
          </p:cNvPr>
          <p:cNvSpPr txBox="1"/>
          <p:nvPr/>
        </p:nvSpPr>
        <p:spPr>
          <a:xfrm>
            <a:off x="0" y="304800"/>
            <a:ext cx="8915400" cy="5078313"/>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Challenges of Reinforcement Learning</a:t>
            </a:r>
          </a:p>
          <a:p>
            <a:pPr>
              <a:buNone/>
            </a:pPr>
            <a:r>
              <a:rPr lang="en-US" dirty="0">
                <a:latin typeface="Times New Roman" panose="02020603050405020304" pitchFamily="18" charset="0"/>
                <a:cs typeface="Times New Roman" panose="02020603050405020304" pitchFamily="18" charset="0"/>
              </a:rPr>
              <a:t>Although Reinforcement Learning (RL) is a powerful approach, applying it to real-world problems involves several significant challenges.</a:t>
            </a:r>
          </a:p>
          <a:p>
            <a:pPr>
              <a:buNone/>
            </a:pPr>
            <a:r>
              <a:rPr lang="en-US" b="1" dirty="0">
                <a:latin typeface="Times New Roman" panose="02020603050405020304" pitchFamily="18" charset="0"/>
                <a:cs typeface="Times New Roman" panose="02020603050405020304" pitchFamily="18" charset="0"/>
              </a:rPr>
              <a:t>1. Exploration vs. Exploitation Trade-off</a:t>
            </a:r>
          </a:p>
          <a:p>
            <a:pPr>
              <a:buNone/>
            </a:pPr>
            <a:r>
              <a:rPr lang="en-US" dirty="0">
                <a:latin typeface="Times New Roman" panose="02020603050405020304" pitchFamily="18" charset="0"/>
                <a:cs typeface="Times New Roman" panose="02020603050405020304" pitchFamily="18" charset="0"/>
              </a:rPr>
              <a:t>An agent must choose between exploring new actions to discover better rewards and exploiting known actions that already give good results. Balancing these two is difficult; too much exploration slows learning, while too much exploitation may lead to sub-optimal solutions.</a:t>
            </a:r>
          </a:p>
          <a:p>
            <a:pPr>
              <a:buNone/>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Sparse and Delayed Rewards</a:t>
            </a:r>
          </a:p>
          <a:p>
            <a:r>
              <a:rPr lang="en-US" dirty="0">
                <a:latin typeface="Times New Roman" panose="02020603050405020304" pitchFamily="18" charset="0"/>
                <a:cs typeface="Times New Roman" panose="02020603050405020304" pitchFamily="18" charset="0"/>
              </a:rPr>
              <a:t>In many environments, rewards are infrequent or received only after a long sequence of actions. This makes it hard for the agent to identify which actions were responsible for success or failure. Like in chess.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3. Large State and Action Space</a:t>
            </a:r>
          </a:p>
          <a:p>
            <a:r>
              <a:rPr lang="en-US" dirty="0">
                <a:latin typeface="Times New Roman" panose="02020603050405020304" pitchFamily="18" charset="0"/>
                <a:cs typeface="Times New Roman" panose="02020603050405020304" pitchFamily="18" charset="0"/>
              </a:rPr>
              <a:t>Real-world problems often involve a huge number of possible states and actions (for example, robotics or autonomous driving). This increases computational complexity and makes learning slow and resource-intensive.</a:t>
            </a:r>
          </a:p>
          <a:p>
            <a:pPr>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6600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B7D937-277C-DF4F-94BC-00A7BB444705}"/>
              </a:ext>
            </a:extLst>
          </p:cNvPr>
          <p:cNvSpPr txBox="1"/>
          <p:nvPr/>
        </p:nvSpPr>
        <p:spPr>
          <a:xfrm>
            <a:off x="190500" y="150350"/>
            <a:ext cx="8763000" cy="6463308"/>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4. Sample Inefficiency</a:t>
            </a:r>
          </a:p>
          <a:p>
            <a:pPr>
              <a:buNone/>
            </a:pPr>
            <a:r>
              <a:rPr lang="en-US" dirty="0">
                <a:latin typeface="Times New Roman" panose="02020603050405020304" pitchFamily="18" charset="0"/>
                <a:cs typeface="Times New Roman" panose="02020603050405020304" pitchFamily="18" charset="0"/>
              </a:rPr>
              <a:t>Reinforcement learning usually requires a very large number of interactions with the environment. In real systems, collecting such data can be expensive, time-consuming, or unsafe.</a:t>
            </a:r>
          </a:p>
          <a:p>
            <a:pPr>
              <a:buNone/>
            </a:pPr>
            <a:endParaRPr lang="en-US" b="1"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5. Training Instability and Convergence Issues</a:t>
            </a:r>
          </a:p>
          <a:p>
            <a:pPr>
              <a:buNone/>
            </a:pPr>
            <a:r>
              <a:rPr lang="en-US" dirty="0">
                <a:latin typeface="Times New Roman" panose="02020603050405020304" pitchFamily="18" charset="0"/>
                <a:cs typeface="Times New Roman" panose="02020603050405020304" pitchFamily="18" charset="0"/>
              </a:rPr>
              <a:t>Many RL algorithms, especially those using deep neural networks, can be unstable. They may oscillate, diverge, or fail to converge to an optimal solution.</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6. Reward Design Problem</a:t>
            </a:r>
          </a:p>
          <a:p>
            <a:pPr>
              <a:buNone/>
            </a:pPr>
            <a:r>
              <a:rPr lang="en-US" dirty="0">
                <a:latin typeface="Times New Roman" panose="02020603050405020304" pitchFamily="18" charset="0"/>
                <a:cs typeface="Times New Roman" panose="02020603050405020304" pitchFamily="18" charset="0"/>
              </a:rPr>
              <a:t>Designing an appropriate reward function is difficult. A poorly designed reward can lead the agent to learn unintended or harmful behaviors.</a:t>
            </a:r>
          </a:p>
          <a:p>
            <a:r>
              <a:rPr lang="en-US" b="1" dirty="0"/>
              <a:t>simple example (robot):</a:t>
            </a:r>
          </a:p>
          <a:p>
            <a:r>
              <a:rPr lang="en-US" dirty="0"/>
              <a:t>If a cleaning robot is rewarded only for “collecting trash,”</a:t>
            </a:r>
            <a:br>
              <a:rPr lang="en-US" dirty="0"/>
            </a:br>
            <a:r>
              <a:rPr lang="en-US" dirty="0"/>
              <a:t>it may knock objects onto the floor just to collect more trash and increase reward.</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7. Safety and Ethical Issues</a:t>
            </a:r>
          </a:p>
          <a:p>
            <a:r>
              <a:rPr lang="en-US" dirty="0">
                <a:latin typeface="Times New Roman" panose="02020603050405020304" pitchFamily="18" charset="0"/>
                <a:cs typeface="Times New Roman" panose="02020603050405020304" pitchFamily="18" charset="0"/>
              </a:rPr>
              <a:t>During learning, agents may take dangerous actions that can damage equipment, systems, or even endanger humans. Ensuring safe learning is a major challenge.</a:t>
            </a:r>
            <a:endParaRPr lang="en-US" b="1" dirty="0">
              <a:latin typeface="Times New Roman" panose="02020603050405020304" pitchFamily="18" charset="0"/>
              <a:cs typeface="Times New Roman" panose="02020603050405020304" pitchFamily="18" charset="0"/>
            </a:endParaRPr>
          </a:p>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(robot </a:t>
            </a:r>
            <a:r>
              <a:rPr lang="en-US" dirty="0" err="1">
                <a:latin typeface="Times New Roman" panose="02020603050405020304" pitchFamily="18" charset="0"/>
                <a:cs typeface="Times New Roman" panose="02020603050405020304" pitchFamily="18" charset="0"/>
              </a:rPr>
              <a:t>girna</a:t>
            </a:r>
            <a:r>
              <a:rPr lang="en-US" dirty="0">
                <a:latin typeface="Times New Roman" panose="02020603050405020304" pitchFamily="18" charset="0"/>
                <a:cs typeface="Times New Roman" panose="02020603050405020304" pitchFamily="18" charset="0"/>
              </a:rPr>
              <a:t>, system crash, human risk).</a:t>
            </a:r>
          </a:p>
          <a:p>
            <a:pPr>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9577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F90581-3D32-E86E-6EBE-4CA349AA8094}"/>
              </a:ext>
            </a:extLst>
          </p:cNvPr>
          <p:cNvSpPr txBox="1"/>
          <p:nvPr/>
        </p:nvSpPr>
        <p:spPr>
          <a:xfrm>
            <a:off x="97971" y="152400"/>
            <a:ext cx="9067800" cy="6370975"/>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Applications of Reinforcement Learning</a:t>
            </a:r>
          </a:p>
          <a:p>
            <a:pPr>
              <a:buNone/>
            </a:pPr>
            <a:r>
              <a:rPr lang="en-US" sz="2400" dirty="0">
                <a:latin typeface="Times New Roman" panose="02020603050405020304" pitchFamily="18" charset="0"/>
                <a:cs typeface="Times New Roman" panose="02020603050405020304" pitchFamily="18" charset="0"/>
              </a:rPr>
              <a:t>Reinforcement Learning (RL) is widely used in problems where an agent must make a sequence of decisions and learn from interaction with the environment. Some important applications are:</a:t>
            </a:r>
          </a:p>
          <a:p>
            <a:pPr>
              <a:buNone/>
            </a:pPr>
            <a:r>
              <a:rPr lang="en-US" sz="2400" b="1" dirty="0">
                <a:latin typeface="Times New Roman" panose="02020603050405020304" pitchFamily="18" charset="0"/>
                <a:cs typeface="Times New Roman" panose="02020603050405020304" pitchFamily="18" charset="0"/>
              </a:rPr>
              <a:t>1. Robotics and Automation</a:t>
            </a:r>
          </a:p>
          <a:p>
            <a:pPr>
              <a:buNone/>
            </a:pPr>
            <a:r>
              <a:rPr lang="en-US" sz="2400" dirty="0">
                <a:latin typeface="Times New Roman" panose="02020603050405020304" pitchFamily="18" charset="0"/>
                <a:cs typeface="Times New Roman" panose="02020603050405020304" pitchFamily="18" charset="0"/>
              </a:rPr>
              <a:t>RL is used to train robots to perform tasks such as walking, picking objects, assembling parts, and navigating environments.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robot learns optimal actions through trial and error.</a:t>
            </a:r>
          </a:p>
          <a:p>
            <a:pPr>
              <a:buNone/>
            </a:pPr>
            <a:r>
              <a:rPr lang="en-US" sz="2400" i="1" dirty="0">
                <a:latin typeface="Times New Roman" panose="02020603050405020304" pitchFamily="18" charset="0"/>
                <a:cs typeface="Times New Roman" panose="02020603050405020304" pitchFamily="18" charset="0"/>
              </a:rPr>
              <a:t>Examples:</a:t>
            </a:r>
            <a:r>
              <a:rPr lang="en-US" sz="2400" dirty="0">
                <a:latin typeface="Times New Roman" panose="02020603050405020304" pitchFamily="18" charset="0"/>
                <a:cs typeface="Times New Roman" panose="02020603050405020304" pitchFamily="18" charset="0"/>
              </a:rPr>
              <a:t> robotic arms in factories, warehouse robots</a:t>
            </a:r>
          </a:p>
          <a:p>
            <a:pPr>
              <a:buNone/>
            </a:pP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2. Game Playing and Simulations</a:t>
            </a:r>
          </a:p>
          <a:p>
            <a:pPr>
              <a:buNone/>
            </a:pPr>
            <a:r>
              <a:rPr lang="en-US" sz="2400" dirty="0">
                <a:latin typeface="Times New Roman" panose="02020603050405020304" pitchFamily="18" charset="0"/>
                <a:cs typeface="Times New Roman" panose="02020603050405020304" pitchFamily="18" charset="0"/>
              </a:rPr>
              <a:t>RL has achieved great success in games by learning strategies that maximize winning chances.</a:t>
            </a:r>
          </a:p>
          <a:p>
            <a:pPr>
              <a:buNone/>
            </a:pPr>
            <a:r>
              <a:rPr lang="en-US" sz="2400" i="1" dirty="0">
                <a:latin typeface="Times New Roman" panose="02020603050405020304" pitchFamily="18" charset="0"/>
                <a:cs typeface="Times New Roman" panose="02020603050405020304" pitchFamily="18" charset="0"/>
              </a:rPr>
              <a:t>Examples:</a:t>
            </a:r>
            <a:r>
              <a:rPr lang="en-US" sz="2400" dirty="0">
                <a:latin typeface="Times New Roman" panose="02020603050405020304" pitchFamily="18" charset="0"/>
                <a:cs typeface="Times New Roman" panose="02020603050405020304" pitchFamily="18" charset="0"/>
              </a:rPr>
              <a:t> AlphaGo (Go game), chess engines, Atari game agents.</a:t>
            </a:r>
          </a:p>
          <a:p>
            <a:pPr>
              <a:buNone/>
            </a:pPr>
            <a:br>
              <a:rPr lang="en-US" sz="2400"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6052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EC7AB2-F8F0-AA99-C5D1-7342E23EDFC2}"/>
              </a:ext>
            </a:extLst>
          </p:cNvPr>
          <p:cNvSpPr txBox="1"/>
          <p:nvPr/>
        </p:nvSpPr>
        <p:spPr>
          <a:xfrm>
            <a:off x="457200" y="75175"/>
            <a:ext cx="8534400" cy="6740307"/>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3. Autonomous Vehicles</a:t>
            </a:r>
          </a:p>
          <a:p>
            <a:pPr>
              <a:buNone/>
            </a:pPr>
            <a:r>
              <a:rPr lang="en-US" sz="2400" dirty="0">
                <a:latin typeface="Times New Roman" panose="02020603050405020304" pitchFamily="18" charset="0"/>
                <a:cs typeface="Times New Roman" panose="02020603050405020304" pitchFamily="18" charset="0"/>
              </a:rPr>
              <a:t>Self-driving cars use RL to learn lane changing, speed control, obstacle avoidance, and decision-making in traffic.</a:t>
            </a:r>
          </a:p>
          <a:p>
            <a:pPr>
              <a:buNone/>
            </a:pPr>
            <a:r>
              <a:rPr lang="en-US" sz="2400" i="1" dirty="0">
                <a:latin typeface="Times New Roman" panose="02020603050405020304" pitchFamily="18" charset="0"/>
                <a:cs typeface="Times New Roman" panose="02020603050405020304" pitchFamily="18" charset="0"/>
              </a:rPr>
              <a:t>Examples:</a:t>
            </a:r>
            <a:r>
              <a:rPr lang="en-US" sz="2400" dirty="0">
                <a:latin typeface="Times New Roman" panose="02020603050405020304" pitchFamily="18" charset="0"/>
                <a:cs typeface="Times New Roman" panose="02020603050405020304" pitchFamily="18" charset="0"/>
              </a:rPr>
              <a:t> route planning, parking systems.</a:t>
            </a:r>
          </a:p>
          <a:p>
            <a:pPr>
              <a:buNone/>
            </a:pP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4. Recommendation Systems</a:t>
            </a:r>
          </a:p>
          <a:p>
            <a:pPr>
              <a:buNone/>
            </a:pPr>
            <a:r>
              <a:rPr lang="en-US" sz="2400" dirty="0">
                <a:latin typeface="Times New Roman" panose="02020603050405020304" pitchFamily="18" charset="0"/>
                <a:cs typeface="Times New Roman" panose="02020603050405020304" pitchFamily="18" charset="0"/>
              </a:rPr>
              <a:t>RL is used to recommend products, movies, or videos by learning user preferences over time.</a:t>
            </a:r>
          </a:p>
          <a:p>
            <a:pPr>
              <a:buNone/>
            </a:pPr>
            <a:r>
              <a:rPr lang="en-US" sz="2400" i="1" dirty="0">
                <a:latin typeface="Times New Roman" panose="02020603050405020304" pitchFamily="18" charset="0"/>
                <a:cs typeface="Times New Roman" panose="02020603050405020304" pitchFamily="18" charset="0"/>
              </a:rPr>
              <a:t>Examples:</a:t>
            </a:r>
            <a:r>
              <a:rPr lang="en-US" sz="2400" dirty="0">
                <a:latin typeface="Times New Roman" panose="02020603050405020304" pitchFamily="18" charset="0"/>
                <a:cs typeface="Times New Roman" panose="02020603050405020304" pitchFamily="18" charset="0"/>
              </a:rPr>
              <a:t> Netflix recommendations, YouTube video suggestions, online ads.</a:t>
            </a:r>
          </a:p>
          <a:p>
            <a:pPr>
              <a:buNone/>
            </a:pP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5. Healthcare</a:t>
            </a:r>
          </a:p>
          <a:p>
            <a:pPr>
              <a:buNone/>
            </a:pPr>
            <a:r>
              <a:rPr lang="en-US" sz="2400" dirty="0">
                <a:latin typeface="Times New Roman" panose="02020603050405020304" pitchFamily="18" charset="0"/>
                <a:cs typeface="Times New Roman" panose="02020603050405020304" pitchFamily="18" charset="0"/>
              </a:rPr>
              <a:t>RL helps in optimizing treatment strategies and personalized medicine.</a:t>
            </a:r>
          </a:p>
          <a:p>
            <a:pPr>
              <a:buNone/>
            </a:pPr>
            <a:r>
              <a:rPr lang="en-US" sz="2400" i="1" dirty="0">
                <a:latin typeface="Times New Roman" panose="02020603050405020304" pitchFamily="18" charset="0"/>
                <a:cs typeface="Times New Roman" panose="02020603050405020304" pitchFamily="18" charset="0"/>
              </a:rPr>
              <a:t>Examples:</a:t>
            </a:r>
            <a:r>
              <a:rPr lang="en-US" sz="2400" dirty="0">
                <a:latin typeface="Times New Roman" panose="02020603050405020304" pitchFamily="18" charset="0"/>
                <a:cs typeface="Times New Roman" panose="02020603050405020304" pitchFamily="18" charset="0"/>
              </a:rPr>
              <a:t> drug dosage control, treatment planning, hospital resource management.</a:t>
            </a:r>
          </a:p>
        </p:txBody>
      </p:sp>
    </p:spTree>
    <p:extLst>
      <p:ext uri="{BB962C8B-B14F-4D97-AF65-F5344CB8AC3E}">
        <p14:creationId xmlns:p14="http://schemas.microsoft.com/office/powerpoint/2010/main" val="4208442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36E949-3C44-7F94-4622-9C4BDE1420CF}"/>
              </a:ext>
            </a:extLst>
          </p:cNvPr>
          <p:cNvSpPr txBox="1"/>
          <p:nvPr/>
        </p:nvSpPr>
        <p:spPr>
          <a:xfrm>
            <a:off x="0" y="75175"/>
            <a:ext cx="8991600" cy="5632311"/>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6. Finance and Trading</a:t>
            </a:r>
          </a:p>
          <a:p>
            <a:pPr>
              <a:buNone/>
            </a:pPr>
            <a:r>
              <a:rPr lang="en-US" sz="2400" dirty="0">
                <a:latin typeface="Times New Roman" panose="02020603050405020304" pitchFamily="18" charset="0"/>
                <a:cs typeface="Times New Roman" panose="02020603050405020304" pitchFamily="18" charset="0"/>
              </a:rPr>
              <a:t>RL is applied to portfolio management, automated trading, and risk optimization.</a:t>
            </a:r>
          </a:p>
          <a:p>
            <a:pPr>
              <a:buNone/>
            </a:pPr>
            <a:r>
              <a:rPr lang="en-US" sz="2400" i="1" dirty="0">
                <a:latin typeface="Times New Roman" panose="02020603050405020304" pitchFamily="18" charset="0"/>
                <a:cs typeface="Times New Roman" panose="02020603050405020304" pitchFamily="18" charset="0"/>
              </a:rPr>
              <a:t>Examples:</a:t>
            </a:r>
            <a:r>
              <a:rPr lang="en-US" sz="2400" dirty="0">
                <a:latin typeface="Times New Roman" panose="02020603050405020304" pitchFamily="18" charset="0"/>
                <a:cs typeface="Times New Roman" panose="02020603050405020304" pitchFamily="18" charset="0"/>
              </a:rPr>
              <a:t> stock trading bots, fraud detection strategies.</a:t>
            </a:r>
          </a:p>
          <a:p>
            <a:pPr>
              <a:buNone/>
            </a:pP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7. Resource Management and Scheduling</a:t>
            </a:r>
          </a:p>
          <a:p>
            <a:pPr>
              <a:buNone/>
            </a:pPr>
            <a:r>
              <a:rPr lang="en-US" sz="2400" dirty="0">
                <a:latin typeface="Times New Roman" panose="02020603050405020304" pitchFamily="18" charset="0"/>
                <a:cs typeface="Times New Roman" panose="02020603050405020304" pitchFamily="18" charset="0"/>
              </a:rPr>
              <a:t>RL is used to optimize the use of limited resources.</a:t>
            </a:r>
          </a:p>
          <a:p>
            <a:pPr>
              <a:buNone/>
            </a:pPr>
            <a:r>
              <a:rPr lang="en-US" sz="2400" i="1" dirty="0">
                <a:latin typeface="Times New Roman" panose="02020603050405020304" pitchFamily="18" charset="0"/>
                <a:cs typeface="Times New Roman" panose="02020603050405020304" pitchFamily="18" charset="0"/>
              </a:rPr>
              <a:t>Examples:</a:t>
            </a:r>
            <a:r>
              <a:rPr lang="en-US" sz="2400" dirty="0">
                <a:latin typeface="Times New Roman" panose="02020603050405020304" pitchFamily="18" charset="0"/>
                <a:cs typeface="Times New Roman" panose="02020603050405020304" pitchFamily="18" charset="0"/>
              </a:rPr>
              <a:t> traffic signal control,  network routing.</a:t>
            </a:r>
          </a:p>
          <a:p>
            <a:pPr>
              <a:buNone/>
            </a:pP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8. Natural Language and Dialogue Systems</a:t>
            </a:r>
          </a:p>
          <a:p>
            <a:pPr>
              <a:buNone/>
            </a:pPr>
            <a:r>
              <a:rPr lang="en-US" sz="2400" dirty="0">
                <a:latin typeface="Times New Roman" panose="02020603050405020304" pitchFamily="18" charset="0"/>
                <a:cs typeface="Times New Roman" panose="02020603050405020304" pitchFamily="18" charset="0"/>
              </a:rPr>
              <a:t>RL improves conversational agents by optimizing responses based on user feedback.</a:t>
            </a:r>
          </a:p>
          <a:p>
            <a:pPr>
              <a:buNone/>
            </a:pPr>
            <a:r>
              <a:rPr lang="en-US" sz="2400" i="1" dirty="0">
                <a:latin typeface="Times New Roman" panose="02020603050405020304" pitchFamily="18" charset="0"/>
                <a:cs typeface="Times New Roman" panose="02020603050405020304" pitchFamily="18" charset="0"/>
              </a:rPr>
              <a:t>Examples:</a:t>
            </a:r>
            <a:r>
              <a:rPr lang="en-US" sz="2400" dirty="0">
                <a:latin typeface="Times New Roman" panose="02020603050405020304" pitchFamily="18" charset="0"/>
                <a:cs typeface="Times New Roman" panose="02020603050405020304" pitchFamily="18" charset="0"/>
              </a:rPr>
              <a:t> chatbots, virtual assistants, customer support systems.</a:t>
            </a:r>
          </a:p>
        </p:txBody>
      </p:sp>
    </p:spTree>
    <p:extLst>
      <p:ext uri="{BB962C8B-B14F-4D97-AF65-F5344CB8AC3E}">
        <p14:creationId xmlns:p14="http://schemas.microsoft.com/office/powerpoint/2010/main" val="1849548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1B6044-23F2-2D74-7B17-A70BBB0E06CF}"/>
              </a:ext>
            </a:extLst>
          </p:cNvPr>
          <p:cNvSpPr txBox="1"/>
          <p:nvPr/>
        </p:nvSpPr>
        <p:spPr>
          <a:xfrm>
            <a:off x="0" y="751344"/>
            <a:ext cx="9144000" cy="5324535"/>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Healthcare Applications of Reinforcement Learning (In Detail)</a:t>
            </a:r>
          </a:p>
          <a:p>
            <a:pPr>
              <a:buNone/>
            </a:pPr>
            <a:r>
              <a:rPr lang="en-US" sz="2000" dirty="0">
                <a:latin typeface="Times New Roman" panose="02020603050405020304" pitchFamily="18" charset="0"/>
                <a:cs typeface="Times New Roman" panose="02020603050405020304" pitchFamily="18" charset="0"/>
              </a:rPr>
              <a:t>Reinforcement Learning (RL) is increasingly being used in healthcare to support </a:t>
            </a:r>
            <a:r>
              <a:rPr lang="en-US" sz="2000" b="1" dirty="0">
                <a:latin typeface="Times New Roman" panose="02020603050405020304" pitchFamily="18" charset="0"/>
                <a:cs typeface="Times New Roman" panose="02020603050405020304" pitchFamily="18" charset="0"/>
              </a:rPr>
              <a:t>clinical decision-making</a:t>
            </a:r>
            <a:r>
              <a:rPr lang="en-US" sz="2000" dirty="0">
                <a:latin typeface="Times New Roman" panose="02020603050405020304" pitchFamily="18" charset="0"/>
                <a:cs typeface="Times New Roman" panose="02020603050405020304" pitchFamily="18" charset="0"/>
              </a:rPr>
              <a:t>, optimize treatments, and improve hospital operations. Unlike traditional machine learning, RL focuses on </a:t>
            </a:r>
            <a:r>
              <a:rPr lang="en-US" sz="2000" b="1" dirty="0">
                <a:latin typeface="Times New Roman" panose="02020603050405020304" pitchFamily="18" charset="0"/>
                <a:cs typeface="Times New Roman" panose="02020603050405020304" pitchFamily="18" charset="0"/>
              </a:rPr>
              <a:t>sequential decision problems</a:t>
            </a:r>
            <a:r>
              <a:rPr lang="en-US" sz="2000" dirty="0">
                <a:latin typeface="Times New Roman" panose="02020603050405020304" pitchFamily="18" charset="0"/>
                <a:cs typeface="Times New Roman" panose="02020603050405020304" pitchFamily="18" charset="0"/>
              </a:rPr>
              <a:t>, which are very common in medical practice.</a:t>
            </a:r>
          </a:p>
          <a:p>
            <a:pPr>
              <a:buNone/>
            </a:pP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1. Personalized Treatment and Drug Dosage Optimization</a:t>
            </a:r>
          </a:p>
          <a:p>
            <a:pPr>
              <a:buNone/>
            </a:pPr>
            <a:r>
              <a:rPr lang="en-US" sz="2000" dirty="0">
                <a:latin typeface="Times New Roman" panose="02020603050405020304" pitchFamily="18" charset="0"/>
                <a:cs typeface="Times New Roman" panose="02020603050405020304" pitchFamily="18" charset="0"/>
              </a:rPr>
              <a:t>Every patient responds differently to treatment. RL can learn an </a:t>
            </a:r>
            <a:r>
              <a:rPr lang="en-US" sz="2000" b="1" dirty="0">
                <a:latin typeface="Times New Roman" panose="02020603050405020304" pitchFamily="18" charset="0"/>
                <a:cs typeface="Times New Roman" panose="02020603050405020304" pitchFamily="18" charset="0"/>
              </a:rPr>
              <a:t>optimal treatment policy</a:t>
            </a:r>
            <a:r>
              <a:rPr lang="en-US" sz="2000" dirty="0">
                <a:latin typeface="Times New Roman" panose="02020603050405020304" pitchFamily="18" charset="0"/>
                <a:cs typeface="Times New Roman" panose="02020603050405020304" pitchFamily="18" charset="0"/>
              </a:rPr>
              <a:t> by continuously observing a patient’s condition and adjusting medication accordingly.</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States:</a:t>
            </a:r>
            <a:r>
              <a:rPr lang="en-US" sz="2000" dirty="0">
                <a:latin typeface="Times New Roman" panose="02020603050405020304" pitchFamily="18" charset="0"/>
                <a:cs typeface="Times New Roman" panose="02020603050405020304" pitchFamily="18" charset="0"/>
              </a:rPr>
              <a:t> patient health indicators (blood pressure, glucose level, heart rate, lab reports)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Actions:</a:t>
            </a:r>
            <a:r>
              <a:rPr lang="en-US" sz="2000" dirty="0">
                <a:latin typeface="Times New Roman" panose="02020603050405020304" pitchFamily="18" charset="0"/>
                <a:cs typeface="Times New Roman" panose="02020603050405020304" pitchFamily="18" charset="0"/>
              </a:rPr>
              <a:t> choice of drug, dosage level, treatment timing</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Reward:</a:t>
            </a:r>
            <a:r>
              <a:rPr lang="en-US" sz="2000" dirty="0">
                <a:latin typeface="Times New Roman" panose="02020603050405020304" pitchFamily="18" charset="0"/>
                <a:cs typeface="Times New Roman" panose="02020603050405020304" pitchFamily="18" charset="0"/>
              </a:rPr>
              <a:t> patient improvement, recovery rate, fewer side effects</a:t>
            </a:r>
          </a:p>
          <a:p>
            <a:pPr>
              <a:buNone/>
            </a:pPr>
            <a:r>
              <a:rPr lang="en-US" sz="2000" b="1" dirty="0">
                <a:latin typeface="Times New Roman" panose="02020603050405020304" pitchFamily="18" charset="0"/>
                <a:cs typeface="Times New Roman" panose="02020603050405020304" pitchFamily="18" charset="0"/>
              </a:rPr>
              <a:t>📌 Example:</a:t>
            </a:r>
          </a:p>
          <a:p>
            <a:pPr>
              <a:buNone/>
            </a:pPr>
            <a:r>
              <a:rPr lang="en-US" sz="2000" dirty="0">
                <a:latin typeface="Times New Roman" panose="02020603050405020304" pitchFamily="18" charset="0"/>
                <a:cs typeface="Times New Roman" panose="02020603050405020304" pitchFamily="18" charset="0"/>
              </a:rPr>
              <a:t>In diabetes care, an RL system can suggest </a:t>
            </a:r>
            <a:r>
              <a:rPr lang="en-US" sz="2000" b="1" dirty="0">
                <a:latin typeface="Times New Roman" panose="02020603050405020304" pitchFamily="18" charset="0"/>
                <a:cs typeface="Times New Roman" panose="02020603050405020304" pitchFamily="18" charset="0"/>
              </a:rPr>
              <a:t>insulin dosage</a:t>
            </a:r>
            <a:r>
              <a:rPr lang="en-US" sz="2000" dirty="0">
                <a:latin typeface="Times New Roman" panose="02020603050405020304" pitchFamily="18" charset="0"/>
                <a:cs typeface="Times New Roman" panose="02020603050405020304" pitchFamily="18" charset="0"/>
              </a:rPr>
              <a:t> based on real-time glucose levels to keep them within a healthy range.</a:t>
            </a:r>
          </a:p>
          <a:p>
            <a:pPr>
              <a:buNone/>
            </a:pPr>
            <a:r>
              <a:rPr lang="en-US" sz="2000">
                <a:latin typeface="Times New Roman" panose="02020603050405020304" pitchFamily="18" charset="0"/>
                <a:cs typeface="Times New Roman" panose="02020603050405020304" pitchFamily="18" charset="0"/>
              </a:rPr>
              <a:t>Benefit</a:t>
            </a:r>
            <a:r>
              <a:rPr lang="en-US" sz="2000" dirty="0">
                <a:latin typeface="Times New Roman" panose="02020603050405020304" pitchFamily="18" charset="0"/>
                <a:cs typeface="Times New Roman" panose="02020603050405020304" pitchFamily="18" charset="0"/>
              </a:rPr>
              <a:t>: personalized medicine, fewer complications, faster recovery.</a:t>
            </a:r>
          </a:p>
        </p:txBody>
      </p:sp>
    </p:spTree>
    <p:extLst>
      <p:ext uri="{BB962C8B-B14F-4D97-AF65-F5344CB8AC3E}">
        <p14:creationId xmlns:p14="http://schemas.microsoft.com/office/powerpoint/2010/main" val="1755263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0B462D-A654-0426-F290-03A730D7FE01}"/>
              </a:ext>
            </a:extLst>
          </p:cNvPr>
          <p:cNvSpPr txBox="1"/>
          <p:nvPr/>
        </p:nvSpPr>
        <p:spPr>
          <a:xfrm>
            <a:off x="228600" y="533400"/>
            <a:ext cx="8763000" cy="5632311"/>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2. Disease Diagnosis and Clinical Decision Support</a:t>
            </a:r>
          </a:p>
          <a:p>
            <a:pPr>
              <a:buNone/>
            </a:pPr>
            <a:r>
              <a:rPr lang="en-US" sz="2000" dirty="0">
                <a:latin typeface="Times New Roman" panose="02020603050405020304" pitchFamily="18" charset="0"/>
                <a:cs typeface="Times New Roman" panose="02020603050405020304" pitchFamily="18" charset="0"/>
              </a:rPr>
              <a:t>RL can assist doctors in choosing the </a:t>
            </a:r>
            <a:r>
              <a:rPr lang="en-US" sz="2000" b="1" dirty="0">
                <a:latin typeface="Times New Roman" panose="02020603050405020304" pitchFamily="18" charset="0"/>
                <a:cs typeface="Times New Roman" panose="02020603050405020304" pitchFamily="18" charset="0"/>
              </a:rPr>
              <a:t>best diagnostic or treatment steps</a:t>
            </a:r>
            <a:r>
              <a:rPr lang="en-US" sz="2000" dirty="0">
                <a:latin typeface="Times New Roman" panose="02020603050405020304" pitchFamily="18" charset="0"/>
                <a:cs typeface="Times New Roman" panose="02020603050405020304" pitchFamily="18" charset="0"/>
              </a:rPr>
              <a:t> over time.</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learns which sequence of tests and treatments leads to better patient outcomes.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can reduce unnecessary tests and improve early detection.</a:t>
            </a:r>
          </a:p>
          <a:p>
            <a:pPr>
              <a:buNone/>
            </a:pPr>
            <a:r>
              <a:rPr lang="en-US" sz="2000" b="1" dirty="0">
                <a:latin typeface="Times New Roman" panose="02020603050405020304" pitchFamily="18" charset="0"/>
                <a:cs typeface="Times New Roman" panose="02020603050405020304" pitchFamily="18" charset="0"/>
              </a:rPr>
              <a:t>📌 Example:</a:t>
            </a:r>
          </a:p>
          <a:p>
            <a:pPr>
              <a:buNone/>
            </a:pPr>
            <a:r>
              <a:rPr lang="en-US" sz="2000" dirty="0">
                <a:latin typeface="Times New Roman" panose="02020603050405020304" pitchFamily="18" charset="0"/>
                <a:cs typeface="Times New Roman" panose="02020603050405020304" pitchFamily="18" charset="0"/>
              </a:rPr>
              <a:t>In cancer treatment, RL can help decide the </a:t>
            </a:r>
            <a:r>
              <a:rPr lang="en-US" sz="2000" b="1" dirty="0">
                <a:latin typeface="Times New Roman" panose="02020603050405020304" pitchFamily="18" charset="0"/>
                <a:cs typeface="Times New Roman" panose="02020603050405020304" pitchFamily="18" charset="0"/>
              </a:rPr>
              <a:t>optimal sequence of chemotherapy, radiation, and rest periods</a:t>
            </a:r>
            <a:r>
              <a:rPr lang="en-US" sz="2000" dirty="0">
                <a:latin typeface="Times New Roman" panose="02020603050405020304" pitchFamily="18" charset="0"/>
                <a:cs typeface="Times New Roman" panose="02020603050405020304" pitchFamily="18" charset="0"/>
              </a:rPr>
              <a:t> to maximize effectiveness and minimize side effects.</a:t>
            </a:r>
          </a:p>
          <a:p>
            <a:pPr>
              <a:buNone/>
            </a:pPr>
            <a:r>
              <a:rPr lang="en-US" sz="2000" dirty="0">
                <a:latin typeface="Times New Roman" panose="02020603050405020304" pitchFamily="18" charset="0"/>
                <a:cs typeface="Times New Roman" panose="02020603050405020304" pitchFamily="18" charset="0"/>
              </a:rPr>
              <a:t>Benefit: improved survival rates, optimized treatment paths.</a:t>
            </a:r>
          </a:p>
          <a:p>
            <a:pPr>
              <a:buNone/>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 3. Robotic Surgery and Medical Robotics</a:t>
            </a:r>
          </a:p>
          <a:p>
            <a:pPr>
              <a:buNone/>
            </a:pPr>
            <a:r>
              <a:rPr lang="en-US" sz="2000" dirty="0">
                <a:latin typeface="Times New Roman" panose="02020603050405020304" pitchFamily="18" charset="0"/>
                <a:cs typeface="Times New Roman" panose="02020603050405020304" pitchFamily="18" charset="0"/>
              </a:rPr>
              <a:t>RL is used to train surgical robots and rehabilitation robots.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Robots learn precise movements through </a:t>
            </a:r>
            <a:r>
              <a:rPr lang="en-US" sz="2000" b="1" dirty="0">
                <a:latin typeface="Times New Roman" panose="02020603050405020304" pitchFamily="18" charset="0"/>
                <a:cs typeface="Times New Roman" panose="02020603050405020304" pitchFamily="18" charset="0"/>
              </a:rPr>
              <a:t>trial and feedback</a:t>
            </a:r>
            <a:r>
              <a:rPr lang="en-US" sz="20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RL improves accuracy, stability, and safety.</a:t>
            </a:r>
          </a:p>
          <a:p>
            <a:pPr>
              <a:buNone/>
            </a:pPr>
            <a:r>
              <a:rPr lang="en-US" sz="2000" b="1" dirty="0">
                <a:latin typeface="Times New Roman" panose="02020603050405020304" pitchFamily="18" charset="0"/>
                <a:cs typeface="Times New Roman" panose="02020603050405020304" pitchFamily="18" charset="0"/>
              </a:rPr>
              <a:t>📌 Example:</a:t>
            </a:r>
          </a:p>
          <a:p>
            <a:pPr>
              <a:buNone/>
            </a:pPr>
            <a:r>
              <a:rPr lang="en-US" sz="2000" dirty="0">
                <a:latin typeface="Times New Roman" panose="02020603050405020304" pitchFamily="18" charset="0"/>
                <a:cs typeface="Times New Roman" panose="02020603050405020304" pitchFamily="18" charset="0"/>
              </a:rPr>
              <a:t>Robotic arms learning how to assist in minimally invasive surgery or help patients relearn walking after paralysis.</a:t>
            </a:r>
          </a:p>
          <a:p>
            <a:pPr>
              <a:buNone/>
            </a:pPr>
            <a:r>
              <a:rPr lang="en-US" sz="2000" dirty="0">
                <a:latin typeface="Times New Roman" panose="02020603050405020304" pitchFamily="18" charset="0"/>
                <a:cs typeface="Times New Roman" panose="02020603050405020304" pitchFamily="18" charset="0"/>
              </a:rPr>
              <a:t>Benefit: higher precision, reduced surgical errors, faster patient recovery.</a:t>
            </a:r>
          </a:p>
        </p:txBody>
      </p:sp>
    </p:spTree>
    <p:extLst>
      <p:ext uri="{BB962C8B-B14F-4D97-AF65-F5344CB8AC3E}">
        <p14:creationId xmlns:p14="http://schemas.microsoft.com/office/powerpoint/2010/main" val="36799935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AC5236-2F15-46AF-C638-5CB184B4A1D4}"/>
              </a:ext>
            </a:extLst>
          </p:cNvPr>
          <p:cNvSpPr txBox="1"/>
          <p:nvPr/>
        </p:nvSpPr>
        <p:spPr>
          <a:xfrm>
            <a:off x="228600" y="457200"/>
            <a:ext cx="8915400" cy="6247864"/>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4. Patient Monitoring and ICU Decision Support</a:t>
            </a:r>
          </a:p>
          <a:p>
            <a:pPr>
              <a:buNone/>
            </a:pPr>
            <a:r>
              <a:rPr lang="en-US" sz="2000" dirty="0">
                <a:latin typeface="Times New Roman" panose="02020603050405020304" pitchFamily="18" charset="0"/>
                <a:cs typeface="Times New Roman" panose="02020603050405020304" pitchFamily="18" charset="0"/>
              </a:rPr>
              <a:t>In Intensive Care Units (ICUs), patients’ conditions change rapidly. RL models can help in making </a:t>
            </a:r>
            <a:r>
              <a:rPr lang="en-US" sz="2000" b="1" dirty="0">
                <a:latin typeface="Times New Roman" panose="02020603050405020304" pitchFamily="18" charset="0"/>
                <a:cs typeface="Times New Roman" panose="02020603050405020304" pitchFamily="18" charset="0"/>
              </a:rPr>
              <a:t>real-time decisions</a:t>
            </a:r>
            <a:r>
              <a:rPr lang="en-US" sz="20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States:</a:t>
            </a:r>
            <a:r>
              <a:rPr lang="en-US" sz="2000" dirty="0">
                <a:latin typeface="Times New Roman" panose="02020603050405020304" pitchFamily="18" charset="0"/>
                <a:cs typeface="Times New Roman" panose="02020603050405020304" pitchFamily="18" charset="0"/>
              </a:rPr>
              <a:t> vital signs, oxygen level, organ function</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Actions:</a:t>
            </a:r>
            <a:r>
              <a:rPr lang="en-US" sz="2000" dirty="0">
                <a:latin typeface="Times New Roman" panose="02020603050405020304" pitchFamily="18" charset="0"/>
                <a:cs typeface="Times New Roman" panose="02020603050405020304" pitchFamily="18" charset="0"/>
              </a:rPr>
              <a:t> ventilator settings, fluid administration, medication changes</a:t>
            </a: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Reward:</a:t>
            </a:r>
            <a:r>
              <a:rPr lang="en-US" sz="2000" dirty="0">
                <a:latin typeface="Times New Roman" panose="02020603050405020304" pitchFamily="18" charset="0"/>
                <a:cs typeface="Times New Roman" panose="02020603050405020304" pitchFamily="18" charset="0"/>
              </a:rPr>
              <a:t> patient stabilization, reduced mortality risk</a:t>
            </a:r>
          </a:p>
          <a:p>
            <a:pPr>
              <a:buNone/>
            </a:pPr>
            <a:r>
              <a:rPr lang="en-US" sz="2000" b="1" dirty="0">
                <a:latin typeface="Times New Roman" panose="02020603050405020304" pitchFamily="18" charset="0"/>
                <a:cs typeface="Times New Roman" panose="02020603050405020304" pitchFamily="18" charset="0"/>
              </a:rPr>
              <a:t>📌 Example:</a:t>
            </a:r>
          </a:p>
          <a:p>
            <a:pPr>
              <a:buNone/>
            </a:pPr>
            <a:r>
              <a:rPr lang="en-US" sz="2000" dirty="0">
                <a:latin typeface="Times New Roman" panose="02020603050405020304" pitchFamily="18" charset="0"/>
                <a:cs typeface="Times New Roman" panose="02020603050405020304" pitchFamily="18" charset="0"/>
              </a:rPr>
              <a:t>RL systems can recommend how to adjust </a:t>
            </a:r>
            <a:r>
              <a:rPr lang="en-US" sz="2000" b="1" dirty="0">
                <a:latin typeface="Times New Roman" panose="02020603050405020304" pitchFamily="18" charset="0"/>
                <a:cs typeface="Times New Roman" panose="02020603050405020304" pitchFamily="18" charset="0"/>
              </a:rPr>
              <a:t>ventilator pressure or sepsis treatment strategies</a:t>
            </a:r>
            <a:r>
              <a:rPr lang="en-US" sz="2000" dirty="0">
                <a:latin typeface="Times New Roman" panose="02020603050405020304" pitchFamily="18" charset="0"/>
                <a:cs typeface="Times New Roman" panose="02020603050405020304" pitchFamily="18" charset="0"/>
              </a:rPr>
              <a:t>.</a:t>
            </a:r>
          </a:p>
          <a:p>
            <a:pPr>
              <a:buNone/>
            </a:pPr>
            <a:r>
              <a:rPr lang="en-US" sz="2000" dirty="0">
                <a:latin typeface="Times New Roman" panose="02020603050405020304" pitchFamily="18" charset="0"/>
                <a:cs typeface="Times New Roman" panose="02020603050405020304" pitchFamily="18" charset="0"/>
              </a:rPr>
              <a:t>Benefit: early intervention, reduced human error, better survival outcomes.</a:t>
            </a:r>
          </a:p>
          <a:p>
            <a:pPr>
              <a:buNone/>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 5. Hospital Resource and Workflow Optimization</a:t>
            </a:r>
          </a:p>
          <a:p>
            <a:pPr>
              <a:buNone/>
            </a:pPr>
            <a:r>
              <a:rPr lang="en-US" sz="2000" dirty="0">
                <a:latin typeface="Times New Roman" panose="02020603050405020304" pitchFamily="18" charset="0"/>
                <a:cs typeface="Times New Roman" panose="02020603050405020304" pitchFamily="18" charset="0"/>
              </a:rPr>
              <a:t>RL is also used at the </a:t>
            </a:r>
            <a:r>
              <a:rPr lang="en-US" sz="2000" b="1" dirty="0">
                <a:latin typeface="Times New Roman" panose="02020603050405020304" pitchFamily="18" charset="0"/>
                <a:cs typeface="Times New Roman" panose="02020603050405020304" pitchFamily="18" charset="0"/>
              </a:rPr>
              <a:t>hospital management level</a:t>
            </a:r>
            <a:r>
              <a:rPr lang="en-US" sz="20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Optimizes bed allocation, staff scheduling, and emergency room operations.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Reduces waiting time and improves patient flow.</a:t>
            </a:r>
          </a:p>
          <a:p>
            <a:pPr>
              <a:buNone/>
            </a:pPr>
            <a:r>
              <a:rPr lang="en-US" sz="2000" b="1" dirty="0">
                <a:latin typeface="Times New Roman" panose="02020603050405020304" pitchFamily="18" charset="0"/>
                <a:cs typeface="Times New Roman" panose="02020603050405020304" pitchFamily="18" charset="0"/>
              </a:rPr>
              <a:t>📌 Example:</a:t>
            </a:r>
          </a:p>
          <a:p>
            <a:pPr>
              <a:buNone/>
            </a:pPr>
            <a:r>
              <a:rPr lang="en-US" sz="2000" dirty="0">
                <a:latin typeface="Times New Roman" panose="02020603050405020304" pitchFamily="18" charset="0"/>
                <a:cs typeface="Times New Roman" panose="02020603050405020304" pitchFamily="18" charset="0"/>
              </a:rPr>
              <a:t>An RL model can learn to </a:t>
            </a:r>
            <a:r>
              <a:rPr lang="en-US" sz="2000" b="1" dirty="0">
                <a:latin typeface="Times New Roman" panose="02020603050405020304" pitchFamily="18" charset="0"/>
                <a:cs typeface="Times New Roman" panose="02020603050405020304" pitchFamily="18" charset="0"/>
              </a:rPr>
              <a:t>dynamically assign ICU beds</a:t>
            </a:r>
            <a:r>
              <a:rPr lang="en-US" sz="2000" dirty="0">
                <a:latin typeface="Times New Roman" panose="02020603050405020304" pitchFamily="18" charset="0"/>
                <a:cs typeface="Times New Roman" panose="02020603050405020304" pitchFamily="18" charset="0"/>
              </a:rPr>
              <a:t> or schedule doctors based on patient inflow patterns.</a:t>
            </a:r>
          </a:p>
          <a:p>
            <a:pPr>
              <a:buNone/>
            </a:pPr>
            <a:r>
              <a:rPr lang="en-US" sz="2000" dirty="0">
                <a:latin typeface="Times New Roman" panose="02020603050405020304" pitchFamily="18" charset="0"/>
                <a:cs typeface="Times New Roman" panose="02020603050405020304" pitchFamily="18" charset="0"/>
              </a:rPr>
              <a:t>Benefit: lower costs, better efficiency, improved patient care quality.</a:t>
            </a:r>
          </a:p>
        </p:txBody>
      </p:sp>
    </p:spTree>
    <p:extLst>
      <p:ext uri="{BB962C8B-B14F-4D97-AF65-F5344CB8AC3E}">
        <p14:creationId xmlns:p14="http://schemas.microsoft.com/office/powerpoint/2010/main" val="31704244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95C877-BEF7-D196-928D-89488C016C38}"/>
              </a:ext>
            </a:extLst>
          </p:cNvPr>
          <p:cNvSpPr txBox="1"/>
          <p:nvPr/>
        </p:nvSpPr>
        <p:spPr>
          <a:xfrm>
            <a:off x="304800" y="1598669"/>
            <a:ext cx="8458200" cy="3046988"/>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6. Mental Health and Digital Therapeutics</a:t>
            </a:r>
          </a:p>
          <a:p>
            <a:pPr>
              <a:buNone/>
            </a:pPr>
            <a:r>
              <a:rPr lang="en-IN" sz="2400" dirty="0">
                <a:latin typeface="Times New Roman" panose="02020603050405020304" pitchFamily="18" charset="0"/>
                <a:cs typeface="Times New Roman" panose="02020603050405020304" pitchFamily="18" charset="0"/>
              </a:rPr>
              <a:t>RL-based apps adapt therapy techniques based on patient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and progress.</a:t>
            </a:r>
          </a:p>
          <a:p>
            <a:pPr>
              <a:buNone/>
            </a:pPr>
            <a:r>
              <a:rPr lang="en-IN" sz="2400" b="1" dirty="0">
                <a:latin typeface="Times New Roman" panose="02020603050405020304" pitchFamily="18" charset="0"/>
                <a:cs typeface="Times New Roman" panose="02020603050405020304" pitchFamily="18" charset="0"/>
              </a:rPr>
              <a:t>📌 Example:</a:t>
            </a:r>
          </a:p>
          <a:p>
            <a:pPr>
              <a:buNone/>
            </a:pPr>
            <a:r>
              <a:rPr lang="en-IN" sz="2400" dirty="0">
                <a:latin typeface="Times New Roman" panose="02020603050405020304" pitchFamily="18" charset="0"/>
                <a:cs typeface="Times New Roman" panose="02020603050405020304" pitchFamily="18" charset="0"/>
              </a:rPr>
              <a:t>Mental health chatbots that personalize </a:t>
            </a:r>
            <a:r>
              <a:rPr lang="en-IN" sz="2400" b="1" dirty="0">
                <a:latin typeface="Times New Roman" panose="02020603050405020304" pitchFamily="18" charset="0"/>
                <a:cs typeface="Times New Roman" panose="02020603050405020304" pitchFamily="18" charset="0"/>
              </a:rPr>
              <a:t>cognitive </a:t>
            </a:r>
            <a:r>
              <a:rPr lang="en-IN" sz="2400" b="1" dirty="0" err="1">
                <a:latin typeface="Times New Roman" panose="02020603050405020304" pitchFamily="18" charset="0"/>
                <a:cs typeface="Times New Roman" panose="02020603050405020304" pitchFamily="18" charset="0"/>
              </a:rPr>
              <a:t>behavioral</a:t>
            </a:r>
            <a:r>
              <a:rPr lang="en-IN" sz="2400" b="1" dirty="0">
                <a:latin typeface="Times New Roman" panose="02020603050405020304" pitchFamily="18" charset="0"/>
                <a:cs typeface="Times New Roman" panose="02020603050405020304" pitchFamily="18" charset="0"/>
              </a:rPr>
              <a:t> therapy (CBT)</a:t>
            </a:r>
            <a:r>
              <a:rPr lang="en-IN" sz="2400" dirty="0">
                <a:latin typeface="Times New Roman" panose="02020603050405020304" pitchFamily="18" charset="0"/>
                <a:cs typeface="Times New Roman" panose="02020603050405020304" pitchFamily="18" charset="0"/>
              </a:rPr>
              <a:t> sessions depending on user responses.</a:t>
            </a:r>
          </a:p>
          <a:p>
            <a:pPr>
              <a:buNone/>
            </a:pPr>
            <a:r>
              <a:rPr lang="en-IN" sz="2400" dirty="0">
                <a:latin typeface="Times New Roman" panose="02020603050405020304" pitchFamily="18" charset="0"/>
                <a:cs typeface="Times New Roman" panose="02020603050405020304" pitchFamily="18" charset="0"/>
              </a:rPr>
              <a:t>Benefit: personalized care, continuous support, improved engagement.</a:t>
            </a:r>
          </a:p>
        </p:txBody>
      </p:sp>
    </p:spTree>
    <p:extLst>
      <p:ext uri="{BB962C8B-B14F-4D97-AF65-F5344CB8AC3E}">
        <p14:creationId xmlns:p14="http://schemas.microsoft.com/office/powerpoint/2010/main" val="21531034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596</TotalTime>
  <Words>2137</Words>
  <Application>Microsoft Office PowerPoint</Application>
  <PresentationFormat>On-screen Show (4:3)</PresentationFormat>
  <Paragraphs>188</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Lucida Sans Unicode</vt:lpstr>
      <vt:lpstr>Times New Roman</vt:lpstr>
      <vt:lpstr>Verdana</vt:lpstr>
      <vt:lpstr>Wingdings 2</vt:lpstr>
      <vt:lpstr>Wingdings 3</vt:lpstr>
      <vt:lpstr>Concourse</vt:lpstr>
      <vt:lpstr>Introduction to Reinforcement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Reinforcement Learning</dc:title>
  <dc:creator>klp_mmu</dc:creator>
  <cp:lastModifiedBy>Sonali Goyal</cp:lastModifiedBy>
  <cp:revision>16</cp:revision>
  <dcterms:created xsi:type="dcterms:W3CDTF">2006-08-16T00:00:00Z</dcterms:created>
  <dcterms:modified xsi:type="dcterms:W3CDTF">2026-01-09T04:16:33Z</dcterms:modified>
</cp:coreProperties>
</file>