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D1BB51-A04D-41E7-ADC2-87E49953C710}" v="3" dt="2026-02-16T04:18:28.2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ali Goyal" userId="23d9571fe247782f" providerId="LiveId" clId="{8C5539D1-D469-4169-9425-A1A8DAB8619A}"/>
    <pc:docChg chg="addSld modSld">
      <pc:chgData name="Sonali Goyal" userId="23d9571fe247782f" providerId="LiveId" clId="{8C5539D1-D469-4169-9425-A1A8DAB8619A}" dt="2026-02-16T04:29:54.643" v="102" actId="14100"/>
      <pc:docMkLst>
        <pc:docMk/>
      </pc:docMkLst>
      <pc:sldChg chg="modSp new mod">
        <pc:chgData name="Sonali Goyal" userId="23d9571fe247782f" providerId="LiveId" clId="{8C5539D1-D469-4169-9425-A1A8DAB8619A}" dt="2026-02-16T04:15:59.036" v="20" actId="20577"/>
        <pc:sldMkLst>
          <pc:docMk/>
          <pc:sldMk cId="2846835112" sldId="256"/>
        </pc:sldMkLst>
        <pc:spChg chg="mod">
          <ac:chgData name="Sonali Goyal" userId="23d9571fe247782f" providerId="LiveId" clId="{8C5539D1-D469-4169-9425-A1A8DAB8619A}" dt="2026-02-16T04:15:59.036" v="20" actId="20577"/>
          <ac:spMkLst>
            <pc:docMk/>
            <pc:sldMk cId="2846835112" sldId="256"/>
            <ac:spMk id="2" creationId="{8B046D7F-C43D-E961-73FD-41B76CABA9C8}"/>
          </ac:spMkLst>
        </pc:spChg>
      </pc:sldChg>
      <pc:sldChg chg="addSp modSp new mod">
        <pc:chgData name="Sonali Goyal" userId="23d9571fe247782f" providerId="LiveId" clId="{8C5539D1-D469-4169-9425-A1A8DAB8619A}" dt="2026-02-16T04:18:28.254" v="72"/>
        <pc:sldMkLst>
          <pc:docMk/>
          <pc:sldMk cId="1498099281" sldId="257"/>
        </pc:sldMkLst>
        <pc:spChg chg="add">
          <ac:chgData name="Sonali Goyal" userId="23d9571fe247782f" providerId="LiveId" clId="{8C5539D1-D469-4169-9425-A1A8DAB8619A}" dt="2026-02-16T04:16:03.669" v="22"/>
          <ac:spMkLst>
            <pc:docMk/>
            <pc:sldMk cId="1498099281" sldId="257"/>
            <ac:spMk id="3" creationId="{23CE485B-6503-15E4-1C8B-2139B04413BB}"/>
          </ac:spMkLst>
        </pc:spChg>
        <pc:spChg chg="add">
          <ac:chgData name="Sonali Goyal" userId="23d9571fe247782f" providerId="LiveId" clId="{8C5539D1-D469-4169-9425-A1A8DAB8619A}" dt="2026-02-16T04:16:03.669" v="22"/>
          <ac:spMkLst>
            <pc:docMk/>
            <pc:sldMk cId="1498099281" sldId="257"/>
            <ac:spMk id="4" creationId="{6A0544F8-0AFA-C412-0D29-C7368E526198}"/>
          </ac:spMkLst>
        </pc:spChg>
        <pc:spChg chg="add">
          <ac:chgData name="Sonali Goyal" userId="23d9571fe247782f" providerId="LiveId" clId="{8C5539D1-D469-4169-9425-A1A8DAB8619A}" dt="2026-02-16T04:16:03.669" v="22"/>
          <ac:spMkLst>
            <pc:docMk/>
            <pc:sldMk cId="1498099281" sldId="257"/>
            <ac:spMk id="5" creationId="{B00BF459-D80E-E222-3BA0-A9FCB0E658A5}"/>
          </ac:spMkLst>
        </pc:spChg>
        <pc:spChg chg="add">
          <ac:chgData name="Sonali Goyal" userId="23d9571fe247782f" providerId="LiveId" clId="{8C5539D1-D469-4169-9425-A1A8DAB8619A}" dt="2026-02-16T04:16:03.669" v="22"/>
          <ac:spMkLst>
            <pc:docMk/>
            <pc:sldMk cId="1498099281" sldId="257"/>
            <ac:spMk id="8" creationId="{AE72174B-DAF8-9B9C-AA40-4E90B1F8BF1E}"/>
          </ac:spMkLst>
        </pc:spChg>
        <pc:spChg chg="add">
          <ac:chgData name="Sonali Goyal" userId="23d9571fe247782f" providerId="LiveId" clId="{8C5539D1-D469-4169-9425-A1A8DAB8619A}" dt="2026-02-16T04:16:03.669" v="22"/>
          <ac:spMkLst>
            <pc:docMk/>
            <pc:sldMk cId="1498099281" sldId="257"/>
            <ac:spMk id="9" creationId="{7005E3D8-AB36-84E8-497E-23A0E334D07E}"/>
          </ac:spMkLst>
        </pc:spChg>
        <pc:spChg chg="add">
          <ac:chgData name="Sonali Goyal" userId="23d9571fe247782f" providerId="LiveId" clId="{8C5539D1-D469-4169-9425-A1A8DAB8619A}" dt="2026-02-16T04:16:03.669" v="22"/>
          <ac:spMkLst>
            <pc:docMk/>
            <pc:sldMk cId="1498099281" sldId="257"/>
            <ac:spMk id="11" creationId="{2F88D77C-D67A-B834-9AB0-D19B3A67E29C}"/>
          </ac:spMkLst>
        </pc:spChg>
        <pc:spChg chg="add">
          <ac:chgData name="Sonali Goyal" userId="23d9571fe247782f" providerId="LiveId" clId="{8C5539D1-D469-4169-9425-A1A8DAB8619A}" dt="2026-02-16T04:16:03.669" v="22"/>
          <ac:spMkLst>
            <pc:docMk/>
            <pc:sldMk cId="1498099281" sldId="257"/>
            <ac:spMk id="14" creationId="{A11C49EB-FC0D-05FF-92BB-DA0AEF7838F9}"/>
          </ac:spMkLst>
        </pc:spChg>
        <pc:spChg chg="add">
          <ac:chgData name="Sonali Goyal" userId="23d9571fe247782f" providerId="LiveId" clId="{8C5539D1-D469-4169-9425-A1A8DAB8619A}" dt="2026-02-16T04:16:03.669" v="22"/>
          <ac:spMkLst>
            <pc:docMk/>
            <pc:sldMk cId="1498099281" sldId="257"/>
            <ac:spMk id="15" creationId="{1C419A09-BA93-6CA0-65DD-DC7663487946}"/>
          </ac:spMkLst>
        </pc:spChg>
        <pc:spChg chg="add">
          <ac:chgData name="Sonali Goyal" userId="23d9571fe247782f" providerId="LiveId" clId="{8C5539D1-D469-4169-9425-A1A8DAB8619A}" dt="2026-02-16T04:16:03.669" v="22"/>
          <ac:spMkLst>
            <pc:docMk/>
            <pc:sldMk cId="1498099281" sldId="257"/>
            <ac:spMk id="19" creationId="{4CF1AA8A-CB73-45F6-B386-82ED45E22D67}"/>
          </ac:spMkLst>
        </pc:spChg>
        <pc:spChg chg="add">
          <ac:chgData name="Sonali Goyal" userId="23d9571fe247782f" providerId="LiveId" clId="{8C5539D1-D469-4169-9425-A1A8DAB8619A}" dt="2026-02-16T04:16:03.669" v="22"/>
          <ac:spMkLst>
            <pc:docMk/>
            <pc:sldMk cId="1498099281" sldId="257"/>
            <ac:spMk id="22" creationId="{EACF5E5A-E0D1-D9B8-BB1A-4EB9F4BC8733}"/>
          </ac:spMkLst>
        </pc:spChg>
        <pc:spChg chg="add mod">
          <ac:chgData name="Sonali Goyal" userId="23d9571fe247782f" providerId="LiveId" clId="{8C5539D1-D469-4169-9425-A1A8DAB8619A}" dt="2026-02-16T04:18:28.254" v="72"/>
          <ac:spMkLst>
            <pc:docMk/>
            <pc:sldMk cId="1498099281" sldId="257"/>
            <ac:spMk id="26" creationId="{6389099C-85E6-C71C-8E2E-9008BDAC0B11}"/>
          </ac:spMkLst>
        </pc:spChg>
      </pc:sldChg>
      <pc:sldChg chg="addSp modSp new mod">
        <pc:chgData name="Sonali Goyal" userId="23d9571fe247782f" providerId="LiveId" clId="{8C5539D1-D469-4169-9425-A1A8DAB8619A}" dt="2026-02-16T04:19:03.738" v="79" actId="14100"/>
        <pc:sldMkLst>
          <pc:docMk/>
          <pc:sldMk cId="3143953923" sldId="258"/>
        </pc:sldMkLst>
        <pc:spChg chg="add mod">
          <ac:chgData name="Sonali Goyal" userId="23d9571fe247782f" providerId="LiveId" clId="{8C5539D1-D469-4169-9425-A1A8DAB8619A}" dt="2026-02-16T04:18:45.767" v="76" actId="14100"/>
          <ac:spMkLst>
            <pc:docMk/>
            <pc:sldMk cId="3143953923" sldId="258"/>
            <ac:spMk id="3" creationId="{C2BC0EF0-2C2B-31D7-092F-4A20B76B1C17}"/>
          </ac:spMkLst>
        </pc:spChg>
        <pc:spChg chg="add mod">
          <ac:chgData name="Sonali Goyal" userId="23d9571fe247782f" providerId="LiveId" clId="{8C5539D1-D469-4169-9425-A1A8DAB8619A}" dt="2026-02-16T04:19:03.738" v="79" actId="14100"/>
          <ac:spMkLst>
            <pc:docMk/>
            <pc:sldMk cId="3143953923" sldId="258"/>
            <ac:spMk id="5" creationId="{C6EFF3E6-794B-590D-4CB6-A299A38FDC8F}"/>
          </ac:spMkLst>
        </pc:spChg>
      </pc:sldChg>
      <pc:sldChg chg="addSp modSp new mod">
        <pc:chgData name="Sonali Goyal" userId="23d9571fe247782f" providerId="LiveId" clId="{8C5539D1-D469-4169-9425-A1A8DAB8619A}" dt="2026-02-16T04:19:58.714" v="88" actId="20577"/>
        <pc:sldMkLst>
          <pc:docMk/>
          <pc:sldMk cId="290849054" sldId="259"/>
        </pc:sldMkLst>
        <pc:spChg chg="add mod">
          <ac:chgData name="Sonali Goyal" userId="23d9571fe247782f" providerId="LiveId" clId="{8C5539D1-D469-4169-9425-A1A8DAB8619A}" dt="2026-02-16T04:19:26.624" v="83" actId="14100"/>
          <ac:spMkLst>
            <pc:docMk/>
            <pc:sldMk cId="290849054" sldId="259"/>
            <ac:spMk id="3" creationId="{40C39B99-E9D3-0087-EAF7-B50AEEC493AA}"/>
          </ac:spMkLst>
        </pc:spChg>
        <pc:spChg chg="add mod">
          <ac:chgData name="Sonali Goyal" userId="23d9571fe247782f" providerId="LiveId" clId="{8C5539D1-D469-4169-9425-A1A8DAB8619A}" dt="2026-02-16T04:19:58.714" v="88" actId="20577"/>
          <ac:spMkLst>
            <pc:docMk/>
            <pc:sldMk cId="290849054" sldId="259"/>
            <ac:spMk id="5" creationId="{AFF741DD-ED71-9350-BA25-61E5408CE2A0}"/>
          </ac:spMkLst>
        </pc:spChg>
      </pc:sldChg>
      <pc:sldChg chg="addSp modSp new mod">
        <pc:chgData name="Sonali Goyal" userId="23d9571fe247782f" providerId="LiveId" clId="{8C5539D1-D469-4169-9425-A1A8DAB8619A}" dt="2026-02-16T04:20:26.695" v="95" actId="14100"/>
        <pc:sldMkLst>
          <pc:docMk/>
          <pc:sldMk cId="955642889" sldId="260"/>
        </pc:sldMkLst>
        <pc:spChg chg="add mod">
          <ac:chgData name="Sonali Goyal" userId="23d9571fe247782f" providerId="LiveId" clId="{8C5539D1-D469-4169-9425-A1A8DAB8619A}" dt="2026-02-16T04:20:15.272" v="92" actId="14100"/>
          <ac:spMkLst>
            <pc:docMk/>
            <pc:sldMk cId="955642889" sldId="260"/>
            <ac:spMk id="3" creationId="{FAB15A6D-F411-49C5-A593-F72BEEEC3D23}"/>
          </ac:spMkLst>
        </pc:spChg>
        <pc:spChg chg="add mod">
          <ac:chgData name="Sonali Goyal" userId="23d9571fe247782f" providerId="LiveId" clId="{8C5539D1-D469-4169-9425-A1A8DAB8619A}" dt="2026-02-16T04:20:26.695" v="95" actId="14100"/>
          <ac:spMkLst>
            <pc:docMk/>
            <pc:sldMk cId="955642889" sldId="260"/>
            <ac:spMk id="5" creationId="{03DE2B7E-6C2B-A09A-5C3E-4EE184AE903F}"/>
          </ac:spMkLst>
        </pc:spChg>
      </pc:sldChg>
      <pc:sldChg chg="addSp modSp new mod">
        <pc:chgData name="Sonali Goyal" userId="23d9571fe247782f" providerId="LiveId" clId="{8C5539D1-D469-4169-9425-A1A8DAB8619A}" dt="2026-02-16T04:29:54.643" v="102" actId="14100"/>
        <pc:sldMkLst>
          <pc:docMk/>
          <pc:sldMk cId="3707511566" sldId="261"/>
        </pc:sldMkLst>
        <pc:spChg chg="add mod">
          <ac:chgData name="Sonali Goyal" userId="23d9571fe247782f" providerId="LiveId" clId="{8C5539D1-D469-4169-9425-A1A8DAB8619A}" dt="2026-02-16T04:29:38.920" v="99" actId="14100"/>
          <ac:spMkLst>
            <pc:docMk/>
            <pc:sldMk cId="3707511566" sldId="261"/>
            <ac:spMk id="3" creationId="{89C17175-E983-70A6-343D-456438AB7BD3}"/>
          </ac:spMkLst>
        </pc:spChg>
        <pc:spChg chg="add mod">
          <ac:chgData name="Sonali Goyal" userId="23d9571fe247782f" providerId="LiveId" clId="{8C5539D1-D469-4169-9425-A1A8DAB8619A}" dt="2026-02-16T04:29:54.643" v="102" actId="14100"/>
          <ac:spMkLst>
            <pc:docMk/>
            <pc:sldMk cId="3707511566" sldId="261"/>
            <ac:spMk id="5" creationId="{8F06A42D-2A59-6A00-2CD9-6C3CAFDE526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85A7-05FC-6CF1-8291-FFA1F0BADE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DA05DC-1F73-E86C-FC4F-94BFE9D61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D159B-E07B-0786-9D33-130ED8254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DDEEF-041A-400A-8330-C7EF6773BDD3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870CD1-B1A3-F358-5008-CEC20BCAA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10B64-EDB3-8128-5DF2-7ED1E8369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6D333-38F8-4C0B-8F05-B220948FA9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9109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2B0FF-260B-C334-A071-D65FBBC74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65FFF-7272-6FCC-D739-0CE498888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34921-1269-9D07-4AC6-BE92EDF55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DDEEF-041A-400A-8330-C7EF6773BDD3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072BE-BEAF-BD13-F7E5-C3726DFB1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D1F91-EB0E-C58F-C4CB-884B7C9E0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6D333-38F8-4C0B-8F05-B220948FA9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2780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C439B-ECC2-4C09-E86D-8684C9C4A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9ED67E-3081-BB36-4382-B9789EA103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E06CD-DD94-7030-D82C-ECED46A62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DDEEF-041A-400A-8330-C7EF6773BDD3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6D4DA-B026-7432-FEA6-76CA55E66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20BC8-D889-B3C4-C9BA-DD24C730D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6D333-38F8-4C0B-8F05-B220948FA9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2200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69E2D-6322-96E0-6B15-7CCE2F0DF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44EE6-8A75-8D5A-48A8-9DDE6380EC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4CECEC-770D-B960-8B6B-A41C0363D5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591DB5-C148-C4B4-B559-6928CA1D8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DDEEF-041A-400A-8330-C7EF6773BDD3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16AC01-9C59-02B9-AA04-02018B338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9B267B-8CE3-CD9F-A89C-75B2B0594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6D333-38F8-4C0B-8F05-B220948FA9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0348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9DB0D-3135-1E11-857D-9AD36A360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AEFDA7-DB37-F8F2-8F46-7B10EFBFB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F3387D-2319-8081-2304-96FF70A523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745CDA-59D9-534B-58E7-5665B7503A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BDDF98-ABC7-90F0-15CA-365157904E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406363-E25B-8103-3674-E2A6699B8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DDEEF-041A-400A-8330-C7EF6773BDD3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A1E13A-D774-4E91-3168-1937553AC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816B92-28A2-3046-972A-64D1EF3EA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6D333-38F8-4C0B-8F05-B220948FA9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222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E0E2E-D1B6-A85B-B8E0-620EFE156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7203E1-1159-F6D7-182B-0609BF876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DDEEF-041A-400A-8330-C7EF6773BDD3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B36179-AF88-15F2-56C6-82CCCF447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00F12E-CD7D-1EA2-22E1-F5C45BAA2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6D333-38F8-4C0B-8F05-B220948FA9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6125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7A9B8E-BA74-C951-F52D-B11790874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DDEEF-041A-400A-8330-C7EF6773BDD3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B6135C-1265-B55B-BE3F-C11FB8BB4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D36D81-F01B-543A-AE7D-2BAD17B09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6D333-38F8-4C0B-8F05-B220948FA9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4294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72A67-1C03-3F91-4952-DC9E3DC1B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0FB88-739E-10BE-6EF4-13EF1493F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71279A-409A-9E22-917E-82CAFF4AA3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087DF9-5334-DC10-ECDC-E75B6ED2E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DDEEF-041A-400A-8330-C7EF6773BDD3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EB0E44-A140-A610-3919-34F8F4936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95426-80E8-9FC6-F905-22628E3EC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6D333-38F8-4C0B-8F05-B220948FA9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8196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214AB-38AD-8CF6-630B-3E3E2FD73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A361C0-E03B-6F98-AC24-9C35302A05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F5B106-B5AA-1886-F01F-4CB60ED299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1D2D35-CFD0-0AF7-8A30-2EC2CC409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DDEEF-041A-400A-8330-C7EF6773BDD3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61F460-1047-736F-451C-6BADA3B4C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2BCF90-B6F2-A146-9BFB-27476BE9B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6D333-38F8-4C0B-8F05-B220948FA9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9082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71990-4CAC-D000-9E2C-DE75B2E07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DDD50C-C2C2-703C-D730-BB9647296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B7AC62-EBD3-0F8F-AC52-084173817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DDEEF-041A-400A-8330-C7EF6773BDD3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91566-3B4C-4F3A-5486-06C352F76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E900E-E425-ECEE-C922-502AB500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6D333-38F8-4C0B-8F05-B220948FA9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8449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4142AA-CD3F-9A6C-A23C-1E80D54713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BF9E12-6125-E0CA-DEE5-4B5CDC19AA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13C49-3FD6-3FAE-BBD8-1F4114DB2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DDEEF-041A-400A-8330-C7EF6773BDD3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305BCE-3AD5-C758-6D8D-9EAFD067A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619F2-D931-507E-6EC5-B8E17445D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6D333-38F8-4C0B-8F05-B220948FA9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2248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2DFAC4-34B5-5B61-81AF-6F15DB5B1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DCD7FC-E7F1-4186-0772-E4C705AB33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C7CEF-5348-6D2B-AEDF-E859AD2FE2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1DDEEF-041A-400A-8330-C7EF6773BDD3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6A384-A77F-12F0-D5D6-9B7B854838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0966C-342D-1CE1-ED4C-1D5A00D34B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E6D333-38F8-4C0B-8F05-B220948FA9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302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46D7F-C43D-E961-73FD-41B76CABA9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Monte Carlo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E5675A-0473-830F-BBCF-00C756D243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6835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6389099C-85E6-C71C-8E2E-9008BDAC0B11}"/>
              </a:ext>
            </a:extLst>
          </p:cNvPr>
          <p:cNvSpPr txBox="1"/>
          <p:nvPr/>
        </p:nvSpPr>
        <p:spPr>
          <a:xfrm>
            <a:off x="261257" y="580855"/>
            <a:ext cx="11495313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Monte Carlo Learning </a:t>
            </a:r>
          </a:p>
          <a:p>
            <a:pPr>
              <a:buNone/>
            </a:pPr>
            <a:r>
              <a:rPr lang="en-US" dirty="0"/>
              <a:t>Monte Carlo learning is a way for a computer (agent) to </a:t>
            </a:r>
            <a:r>
              <a:rPr lang="en-US" b="1" dirty="0"/>
              <a:t>learn from experience by playing full games (episodes)</a:t>
            </a:r>
            <a:r>
              <a:rPr lang="en-US" dirty="0"/>
              <a:t> and then learning from the final result.</a:t>
            </a:r>
          </a:p>
          <a:p>
            <a:pPr>
              <a:buNone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Simple Idea</a:t>
            </a:r>
          </a:p>
          <a:p>
            <a:r>
              <a:rPr lang="en-US" b="1" dirty="0"/>
              <a:t>Play the whole game.</a:t>
            </a:r>
            <a:br>
              <a:rPr lang="en-US" dirty="0"/>
            </a:br>
            <a:r>
              <a:rPr lang="en-US" b="1" dirty="0"/>
              <a:t>See the final result (win/lose/score).</a:t>
            </a:r>
            <a:br>
              <a:rPr lang="en-US" dirty="0"/>
            </a:br>
            <a:r>
              <a:rPr lang="en-US" b="1" dirty="0"/>
              <a:t>Give credit (or blame) to the moves you made.</a:t>
            </a:r>
            <a:br>
              <a:rPr lang="en-US" dirty="0"/>
            </a:br>
            <a:r>
              <a:rPr lang="en-US" b="1" dirty="0"/>
              <a:t>Repeat many times and average the results.</a:t>
            </a:r>
          </a:p>
          <a:p>
            <a:endParaRPr lang="en-US" b="1" dirty="0"/>
          </a:p>
          <a:p>
            <a:r>
              <a:rPr lang="en-US" b="1" dirty="0"/>
              <a:t>Imagine This Example</a:t>
            </a:r>
          </a:p>
          <a:p>
            <a:r>
              <a:rPr lang="en-US" dirty="0"/>
              <a:t>You are learning to play a video game.</a:t>
            </a:r>
          </a:p>
          <a:p>
            <a:r>
              <a:rPr lang="en-US" dirty="0"/>
              <a:t>You start playing.</a:t>
            </a:r>
          </a:p>
          <a:p>
            <a:r>
              <a:rPr lang="en-US" dirty="0"/>
              <a:t>You make many moves.</a:t>
            </a:r>
          </a:p>
          <a:p>
            <a:r>
              <a:rPr lang="en-US" dirty="0"/>
              <a:t>The game ends.</a:t>
            </a:r>
          </a:p>
          <a:p>
            <a:r>
              <a:rPr lang="en-US" dirty="0"/>
              <a:t>You see your final score.</a:t>
            </a:r>
          </a:p>
          <a:p>
            <a:r>
              <a:rPr lang="en-US" dirty="0"/>
              <a:t>You think:</a:t>
            </a:r>
          </a:p>
          <a:p>
            <a:pPr lvl="1"/>
            <a:r>
              <a:rPr lang="en-US" dirty="0"/>
              <a:t>“When I was in that position, I usually win.”</a:t>
            </a:r>
          </a:p>
          <a:p>
            <a:pPr lvl="1"/>
            <a:r>
              <a:rPr lang="en-US" dirty="0"/>
              <a:t>“When I go left there, I usually lose.”</a:t>
            </a:r>
          </a:p>
          <a:p>
            <a:r>
              <a:rPr lang="en-US" dirty="0"/>
              <a:t>After many games, you learn which situations are good and which are bad.</a:t>
            </a:r>
          </a:p>
          <a:p>
            <a:r>
              <a:rPr lang="en-US" dirty="0"/>
              <a:t>That process is Monte Carlo learning.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099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BC0EF0-2C2B-31D7-092F-4A20B76B1C17}"/>
              </a:ext>
            </a:extLst>
          </p:cNvPr>
          <p:cNvSpPr txBox="1"/>
          <p:nvPr/>
        </p:nvSpPr>
        <p:spPr>
          <a:xfrm>
            <a:off x="261257" y="399481"/>
            <a:ext cx="1128848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Does It Learn?</a:t>
            </a:r>
          </a:p>
          <a:p>
            <a:pPr>
              <a:buNone/>
            </a:pPr>
            <a:r>
              <a:rPr lang="en-US" dirty="0"/>
              <a:t>It learns: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 good a </a:t>
            </a:r>
            <a:r>
              <a:rPr lang="en-US" b="1" dirty="0"/>
              <a:t>situation (state)</a:t>
            </a:r>
            <a:r>
              <a:rPr lang="en-US" dirty="0"/>
              <a:t> is</a:t>
            </a:r>
            <a:br>
              <a:rPr lang="en-US" dirty="0"/>
            </a:br>
            <a:r>
              <a:rPr lang="en-US" dirty="0"/>
              <a:t>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 good a </a:t>
            </a:r>
            <a:r>
              <a:rPr lang="en-US" b="1" dirty="0"/>
              <a:t>move (action)</a:t>
            </a:r>
            <a:r>
              <a:rPr lang="en-US" dirty="0"/>
              <a:t> is</a:t>
            </a:r>
          </a:p>
          <a:p>
            <a:pPr>
              <a:buNone/>
            </a:pPr>
            <a:r>
              <a:rPr lang="en-US" dirty="0"/>
              <a:t>It does this by taking the </a:t>
            </a:r>
            <a:r>
              <a:rPr lang="en-US" b="1" dirty="0"/>
              <a:t>average result</a:t>
            </a:r>
            <a:r>
              <a:rPr lang="en-US" dirty="0"/>
              <a:t> after being in that situation.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EFF3E6-794B-590D-4CB6-A299A38FDC8F}"/>
              </a:ext>
            </a:extLst>
          </p:cNvPr>
          <p:cNvSpPr txBox="1"/>
          <p:nvPr/>
        </p:nvSpPr>
        <p:spPr>
          <a:xfrm>
            <a:off x="261256" y="2332282"/>
            <a:ext cx="1128848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Real-Life Analogy</a:t>
            </a:r>
          </a:p>
          <a:p>
            <a:pPr>
              <a:buNone/>
            </a:pPr>
            <a:r>
              <a:rPr lang="en-US" dirty="0"/>
              <a:t>Imagine trying a new restaurant.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First visit → food was great.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Second visit → average.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Third visit → excellent.</a:t>
            </a:r>
          </a:p>
          <a:p>
            <a:pPr>
              <a:buNone/>
            </a:pPr>
            <a:r>
              <a:rPr lang="en-US" dirty="0"/>
              <a:t>Now you think:</a:t>
            </a:r>
          </a:p>
          <a:p>
            <a:pPr>
              <a:buNone/>
            </a:pPr>
            <a:r>
              <a:rPr lang="en-US" dirty="0"/>
              <a:t>“On average, this restaurant is good.”</a:t>
            </a:r>
          </a:p>
          <a:p>
            <a:pPr>
              <a:buNone/>
            </a:pPr>
            <a:r>
              <a:rPr lang="en-US" dirty="0"/>
              <a:t>Monte Carlo learning works the same way:</a:t>
            </a:r>
            <a:br>
              <a:rPr lang="en-US" dirty="0"/>
            </a:br>
            <a:r>
              <a:rPr lang="en-US" dirty="0"/>
              <a:t>It averages results from experience.</a:t>
            </a:r>
          </a:p>
        </p:txBody>
      </p:sp>
    </p:spTree>
    <p:extLst>
      <p:ext uri="{BB962C8B-B14F-4D97-AF65-F5344CB8AC3E}">
        <p14:creationId xmlns:p14="http://schemas.microsoft.com/office/powerpoint/2010/main" val="3143953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C39B99-E9D3-0087-EAF7-B50AEEC493AA}"/>
              </a:ext>
            </a:extLst>
          </p:cNvPr>
          <p:cNvSpPr txBox="1"/>
          <p:nvPr/>
        </p:nvSpPr>
        <p:spPr>
          <a:xfrm>
            <a:off x="315685" y="508338"/>
            <a:ext cx="1109254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Why Is It Called “Monte Carlo”?</a:t>
            </a:r>
          </a:p>
          <a:p>
            <a:pPr>
              <a:buNone/>
            </a:pPr>
            <a:r>
              <a:rPr lang="en-US" dirty="0"/>
              <a:t>Because it uses </a:t>
            </a:r>
            <a:r>
              <a:rPr lang="en-US" b="1" dirty="0"/>
              <a:t>random experiences and averaging</a:t>
            </a:r>
            <a:r>
              <a:rPr lang="en-US" dirty="0"/>
              <a:t>, like casino simulations in Monte Carlo (the place).</a:t>
            </a:r>
          </a:p>
          <a:p>
            <a:pPr>
              <a:buNone/>
            </a:pPr>
            <a:r>
              <a:rPr lang="en-US" dirty="0"/>
              <a:t>It learns by: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Trying many times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Using random outcomes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Averaging the results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F741DD-ED71-9350-BA25-61E5408CE2A0}"/>
              </a:ext>
            </a:extLst>
          </p:cNvPr>
          <p:cNvSpPr txBox="1"/>
          <p:nvPr/>
        </p:nvSpPr>
        <p:spPr>
          <a:xfrm>
            <a:off x="315684" y="2379344"/>
            <a:ext cx="1013460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How It Works (Very Simple Steps)</a:t>
            </a:r>
          </a:p>
          <a:p>
            <a:pPr>
              <a:buFont typeface="+mj-lt"/>
              <a:buAutoNum type="arabicPeriod"/>
            </a:pPr>
            <a:r>
              <a:rPr lang="en-US" dirty="0"/>
              <a:t>Play one full episode.</a:t>
            </a:r>
          </a:p>
          <a:p>
            <a:pPr>
              <a:buFont typeface="+mj-lt"/>
              <a:buAutoNum type="arabicPeriod"/>
            </a:pPr>
            <a:r>
              <a:rPr lang="en-US" dirty="0"/>
              <a:t>Write down all states you visited.</a:t>
            </a:r>
          </a:p>
          <a:p>
            <a:pPr>
              <a:buFont typeface="+mj-lt"/>
              <a:buAutoNum type="arabicPeriod"/>
            </a:pPr>
            <a:r>
              <a:rPr lang="en-US" dirty="0"/>
              <a:t>Calculate total reward (final result).</a:t>
            </a:r>
          </a:p>
          <a:p>
            <a:pPr>
              <a:buFont typeface="+mj-lt"/>
              <a:buAutoNum type="arabicPeriod"/>
            </a:pPr>
            <a:r>
              <a:rPr lang="en-US" dirty="0"/>
              <a:t>Update the value of those states.</a:t>
            </a:r>
          </a:p>
          <a:p>
            <a:pPr>
              <a:buFont typeface="+mj-lt"/>
              <a:buAutoNum type="arabicPeriod"/>
            </a:pPr>
            <a:r>
              <a:rPr lang="en-US" dirty="0"/>
              <a:t>Repeat many times.</a:t>
            </a:r>
          </a:p>
          <a:p>
            <a:pPr>
              <a:buNone/>
            </a:pPr>
            <a:r>
              <a:rPr lang="en-US" dirty="0"/>
              <a:t>Over time, values become accurate.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Very simple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Easy to understand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need to know how the environment 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Learns from real experience</a:t>
            </a:r>
          </a:p>
        </p:txBody>
      </p:sp>
    </p:spTree>
    <p:extLst>
      <p:ext uri="{BB962C8B-B14F-4D97-AF65-F5344CB8AC3E}">
        <p14:creationId xmlns:p14="http://schemas.microsoft.com/office/powerpoint/2010/main" val="290849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B15A6D-F411-49C5-A593-F72BEEEC3D23}"/>
              </a:ext>
            </a:extLst>
          </p:cNvPr>
          <p:cNvSpPr txBox="1"/>
          <p:nvPr/>
        </p:nvSpPr>
        <p:spPr>
          <a:xfrm>
            <a:off x="304800" y="423093"/>
            <a:ext cx="108312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Disadvantages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Must wait until the game ends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Learning can be slow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Results can vary a lot at the beginning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DE2B7E-6C2B-A09A-5C3E-4EE184AE903F}"/>
              </a:ext>
            </a:extLst>
          </p:cNvPr>
          <p:cNvSpPr txBox="1"/>
          <p:nvPr/>
        </p:nvSpPr>
        <p:spPr>
          <a:xfrm>
            <a:off x="304799" y="1819479"/>
            <a:ext cx="965562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Simple Difference from Other Methods</a:t>
            </a:r>
          </a:p>
          <a:p>
            <a:pPr>
              <a:buNone/>
            </a:pPr>
            <a:r>
              <a:rPr lang="en-US" dirty="0"/>
              <a:t>Monte Carlo:</a:t>
            </a:r>
          </a:p>
          <a:p>
            <a:pPr>
              <a:buNone/>
            </a:pPr>
            <a:r>
              <a:rPr lang="en-US" dirty="0"/>
              <a:t>“Finish the whole game, then learn.”</a:t>
            </a:r>
          </a:p>
          <a:p>
            <a:pPr>
              <a:buNone/>
            </a:pPr>
            <a:r>
              <a:rPr lang="en-US" dirty="0"/>
              <a:t>Other methods (like TD learning):</a:t>
            </a:r>
          </a:p>
          <a:p>
            <a:pPr>
              <a:buNone/>
            </a:pPr>
            <a:r>
              <a:rPr lang="en-US" dirty="0"/>
              <a:t>“Learn step by step while playing.”</a:t>
            </a:r>
          </a:p>
        </p:txBody>
      </p:sp>
    </p:spTree>
    <p:extLst>
      <p:ext uri="{BB962C8B-B14F-4D97-AF65-F5344CB8AC3E}">
        <p14:creationId xmlns:p14="http://schemas.microsoft.com/office/powerpoint/2010/main" val="955642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9C17175-E983-70A6-343D-456438AB7BD3}"/>
                  </a:ext>
                </a:extLst>
              </p:cNvPr>
              <p:cNvSpPr txBox="1"/>
              <p:nvPr/>
            </p:nvSpPr>
            <p:spPr>
              <a:xfrm>
                <a:off x="500741" y="282752"/>
                <a:ext cx="11125201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Return (Important Concept)</a:t>
                </a:r>
              </a:p>
              <a:p>
                <a:pPr>
                  <a:buNone/>
                </a:pPr>
                <a:r>
                  <a:rPr lang="en-IN" dirty="0"/>
                  <a:t>The return at time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IN" dirty="0"/>
                  <a:t>is: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+⋯+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IN" dirty="0"/>
                  <a:t>Where: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IN" dirty="0"/>
                  <a:t>= discount factor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IN" dirty="0"/>
                  <a:t>= terminal time step</a:t>
                </a:r>
              </a:p>
              <a:p>
                <a:pPr>
                  <a:buNone/>
                </a:pPr>
                <a:r>
                  <a:rPr lang="en-IN" dirty="0"/>
                  <a:t>Monte Carlo methods use this </a:t>
                </a:r>
                <a:r>
                  <a:rPr lang="en-IN" b="1" dirty="0"/>
                  <a:t>actual observed return</a:t>
                </a:r>
                <a:r>
                  <a:rPr lang="en-IN" dirty="0"/>
                  <a:t> to update values.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9C17175-E983-70A6-343D-456438AB7B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741" y="282752"/>
                <a:ext cx="11125201" cy="2031325"/>
              </a:xfrm>
              <a:prstGeom prst="rect">
                <a:avLst/>
              </a:prstGeom>
              <a:blipFill>
                <a:blip r:embed="rId2"/>
                <a:stretch>
                  <a:fillRect l="-438" t="-1497" b="-359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F06A42D-2A59-6A00-2CD9-6C3CAFDE5264}"/>
                  </a:ext>
                </a:extLst>
              </p:cNvPr>
              <p:cNvSpPr txBox="1"/>
              <p:nvPr/>
            </p:nvSpPr>
            <p:spPr>
              <a:xfrm>
                <a:off x="500740" y="2526383"/>
                <a:ext cx="11223173" cy="3416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Monte Carlo Prediction (Policy Evaluation)</a:t>
                </a:r>
              </a:p>
              <a:p>
                <a:pPr>
                  <a:buNone/>
                </a:pPr>
                <a:r>
                  <a:rPr lang="en-IN" dirty="0"/>
                  <a:t>Goal: Estimate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ar-AE" dirty="0"/>
              </a:p>
              <a:p>
                <a:pPr>
                  <a:buNone/>
                </a:pPr>
                <a:r>
                  <a:rPr lang="en-IN" dirty="0"/>
                  <a:t>According to the book: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IN" b="1" dirty="0"/>
                  <a:t>Algorithm (First-Visit MC):</a:t>
                </a:r>
              </a:p>
              <a:p>
                <a:pPr>
                  <a:buNone/>
                </a:pPr>
                <a:r>
                  <a:rPr lang="en-IN" dirty="0"/>
                  <a:t>For each episode:</a:t>
                </a:r>
              </a:p>
              <a:p>
                <a:pPr>
                  <a:buFont typeface="+mj-lt"/>
                  <a:buAutoNum type="arabicPeriod"/>
                </a:pPr>
                <a:r>
                  <a:rPr lang="en-IN" dirty="0"/>
                  <a:t>Generate episode following policy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IN" dirty="0"/>
              </a:p>
              <a:p>
                <a:pPr>
                  <a:buFont typeface="+mj-lt"/>
                  <a:buAutoNum type="arabicPeriod"/>
                </a:pPr>
                <a:r>
                  <a:rPr lang="en-IN" dirty="0"/>
                  <a:t>For each state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IN" dirty="0"/>
                  <a:t>in episode: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en-IN" dirty="0"/>
                  <a:t>Compute return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ar-AE" dirty="0"/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en-IN" dirty="0"/>
                  <a:t>If first visit to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IN" dirty="0"/>
                  <a:t>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m:rPr>
                          <m:nor/>
                        </m:rPr>
                        <a:rPr lang="en-IN" b="0" i="1">
                          <a:latin typeface="Cambria Math" panose="02040503050406030204" pitchFamily="18" charset="0"/>
                        </a:rPr>
                        <m:t>average</m:t>
                      </m:r>
                      <m:r>
                        <m:rPr>
                          <m:nor/>
                        </m:rPr>
                        <a:rPr lang="en-IN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b="0" i="1">
                          <a:latin typeface="Cambria Math" panose="02040503050406030204" pitchFamily="18" charset="0"/>
                        </a:rPr>
                        <m:t>of</m:t>
                      </m:r>
                      <m:r>
                        <m:rPr>
                          <m:nor/>
                        </m:rPr>
                        <a:rPr lang="en-IN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b="0" i="1">
                          <a:latin typeface="Cambria Math" panose="02040503050406030204" pitchFamily="18" charset="0"/>
                        </a:rPr>
                        <m:t>returns</m:t>
                      </m:r>
                      <m:r>
                        <m:rPr>
                          <m:nor/>
                        </m:rPr>
                        <a:rPr lang="en-IN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b="0" i="1">
                          <a:latin typeface="Cambria Math" panose="02040503050406030204" pitchFamily="18" charset="0"/>
                        </a:rPr>
                        <m:t>observed</m:t>
                      </m:r>
                      <m:r>
                        <m:rPr>
                          <m:nor/>
                        </m:rPr>
                        <a:rPr lang="en-IN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b="0" i="1">
                          <a:latin typeface="Cambria Math" panose="02040503050406030204" pitchFamily="18" charset="0"/>
                        </a:rPr>
                        <m:t>for</m:t>
                      </m:r>
                      <m:r>
                        <m:rPr>
                          <m:nor/>
                        </m:rPr>
                        <a:rPr lang="en-IN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IN" b="0" dirty="0"/>
              </a:p>
              <a:p>
                <a:pPr>
                  <a:buNone/>
                </a:pPr>
                <a:r>
                  <a:rPr lang="en-IN" dirty="0"/>
                  <a:t>This converges to the true value function with enough episodes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F06A42D-2A59-6A00-2CD9-6C3CAFDE52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740" y="2526383"/>
                <a:ext cx="11223173" cy="3416320"/>
              </a:xfrm>
              <a:prstGeom prst="rect">
                <a:avLst/>
              </a:prstGeom>
              <a:blipFill>
                <a:blip r:embed="rId3"/>
                <a:stretch>
                  <a:fillRect l="-435" t="-891" b="-178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7511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524</Words>
  <Application>Microsoft Office PowerPoint</Application>
  <PresentationFormat>Widescreen</PresentationFormat>
  <Paragraphs>78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Office Theme</vt:lpstr>
      <vt:lpstr>Monte Carlo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Sonali Goyal</dc:creator>
  <cp:lastModifiedBy>Sonali Goyal</cp:lastModifiedBy>
  <cp:revision>1</cp:revision>
  <dcterms:created xsi:type="dcterms:W3CDTF">2026-02-16T04:15:50Z</dcterms:created>
  <dcterms:modified xsi:type="dcterms:W3CDTF">2026-02-16T04:30:01Z</dcterms:modified>
</cp:coreProperties>
</file>