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8" r:id="rId6"/>
    <p:sldId id="274" r:id="rId7"/>
    <p:sldId id="269" r:id="rId8"/>
    <p:sldId id="270" r:id="rId9"/>
    <p:sldId id="271" r:id="rId10"/>
    <p:sldId id="279" r:id="rId11"/>
    <p:sldId id="280" r:id="rId12"/>
    <p:sldId id="281" r:id="rId13"/>
    <p:sldId id="282" r:id="rId14"/>
    <p:sldId id="283" r:id="rId15"/>
    <p:sldId id="284" r:id="rId16"/>
    <p:sldId id="272" r:id="rId17"/>
    <p:sldId id="273" r:id="rId18"/>
    <p:sldId id="260" r:id="rId19"/>
    <p:sldId id="261" r:id="rId20"/>
    <p:sldId id="262" r:id="rId21"/>
    <p:sldId id="263" r:id="rId22"/>
    <p:sldId id="275" r:id="rId23"/>
    <p:sldId id="276" r:id="rId24"/>
    <p:sldId id="277" r:id="rId25"/>
    <p:sldId id="278" r:id="rId26"/>
    <p:sldId id="264" r:id="rId27"/>
    <p:sldId id="265" r:id="rId28"/>
    <p:sldId id="266" r:id="rId29"/>
    <p:sldId id="26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Goyal" userId="23d9571fe247782f" providerId="LiveId" clId="{8C5539D1-D469-4169-9425-A1A8DAB8619A}"/>
    <pc:docChg chg="modSld">
      <pc:chgData name="Sonali Goyal" userId="23d9571fe247782f" providerId="LiveId" clId="{8C5539D1-D469-4169-9425-A1A8DAB8619A}" dt="2026-01-21T04:13:59.755" v="3" actId="20577"/>
      <pc:docMkLst>
        <pc:docMk/>
      </pc:docMkLst>
      <pc:sldChg chg="modSp mod">
        <pc:chgData name="Sonali Goyal" userId="23d9571fe247782f" providerId="LiveId" clId="{8C5539D1-D469-4169-9425-A1A8DAB8619A}" dt="2026-01-21T04:06:01.871" v="0" actId="6549"/>
        <pc:sldMkLst>
          <pc:docMk/>
          <pc:sldMk cId="0" sldId="257"/>
        </pc:sldMkLst>
        <pc:spChg chg="mod">
          <ac:chgData name="Sonali Goyal" userId="23d9571fe247782f" providerId="LiveId" clId="{8C5539D1-D469-4169-9425-A1A8DAB8619A}" dt="2026-01-21T04:06:01.871" v="0" actId="6549"/>
          <ac:spMkLst>
            <pc:docMk/>
            <pc:sldMk cId="0" sldId="257"/>
            <ac:spMk id="2" creationId="{00000000-0000-0000-0000-000000000000}"/>
          </ac:spMkLst>
        </pc:spChg>
      </pc:sldChg>
      <pc:sldChg chg="modSp mod">
        <pc:chgData name="Sonali Goyal" userId="23d9571fe247782f" providerId="LiveId" clId="{8C5539D1-D469-4169-9425-A1A8DAB8619A}" dt="2026-01-21T04:06:35.894" v="1" actId="20577"/>
        <pc:sldMkLst>
          <pc:docMk/>
          <pc:sldMk cId="0" sldId="258"/>
        </pc:sldMkLst>
        <pc:spChg chg="mod">
          <ac:chgData name="Sonali Goyal" userId="23d9571fe247782f" providerId="LiveId" clId="{8C5539D1-D469-4169-9425-A1A8DAB8619A}" dt="2026-01-21T04:06:35.894" v="1" actId="20577"/>
          <ac:spMkLst>
            <pc:docMk/>
            <pc:sldMk cId="0" sldId="258"/>
            <ac:spMk id="3" creationId="{00000000-0000-0000-0000-000000000000}"/>
          </ac:spMkLst>
        </pc:spChg>
      </pc:sldChg>
      <pc:sldChg chg="modSp mod">
        <pc:chgData name="Sonali Goyal" userId="23d9571fe247782f" providerId="LiveId" clId="{8C5539D1-D469-4169-9425-A1A8DAB8619A}" dt="2026-01-21T04:13:59.755" v="3" actId="20577"/>
        <pc:sldMkLst>
          <pc:docMk/>
          <pc:sldMk cId="0" sldId="259"/>
        </pc:sldMkLst>
        <pc:spChg chg="mod">
          <ac:chgData name="Sonali Goyal" userId="23d9571fe247782f" providerId="LiveId" clId="{8C5539D1-D469-4169-9425-A1A8DAB8619A}" dt="2026-01-21T04:13:59.755" v="3" actId="20577"/>
          <ac:spMkLst>
            <pc:docMk/>
            <pc:sldMk cId="0" sldId="25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www.machinelearningplus.com/wp-content/uploads/2020/05/prior-prob-for-MC-300x53.png"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Markov Decision Process</a:t>
            </a:r>
          </a:p>
        </p:txBody>
      </p:sp>
      <p:sp>
        <p:nvSpPr>
          <p:cNvPr id="3" name="Subtitle 2"/>
          <p:cNvSpPr>
            <a:spLocks noGrp="1"/>
          </p:cNvSpPr>
          <p:nvPr>
            <p:ph type="subTitle" idx="1"/>
          </p:nvPr>
        </p:nvSpPr>
        <p:spPr>
          <a:xfrm>
            <a:off x="6096000" y="3886200"/>
            <a:ext cx="2743200" cy="838200"/>
          </a:xfrm>
        </p:spPr>
        <p:txBody>
          <a:bodyPr>
            <a:normAutofit fontScale="92500"/>
          </a:bodyPr>
          <a:lstStyle/>
          <a:p>
            <a:pPr algn="r"/>
            <a:r>
              <a:rPr lang="en-US" b="1" dirty="0"/>
              <a:t>Dr. </a:t>
            </a:r>
            <a:r>
              <a:rPr lang="en-US" b="1" dirty="0" err="1"/>
              <a:t>Sonali</a:t>
            </a:r>
            <a:r>
              <a:rPr lang="en-US" b="1" dirty="0"/>
              <a:t> </a:t>
            </a:r>
            <a:r>
              <a:rPr lang="en-US" b="1" dirty="0" err="1"/>
              <a:t>Goyal</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33400"/>
            <a:ext cx="8305800" cy="5355312"/>
          </a:xfrm>
          <a:prstGeom prst="rect">
            <a:avLst/>
          </a:prstGeom>
        </p:spPr>
        <p:txBody>
          <a:bodyPr wrap="square">
            <a:spAutoFit/>
          </a:bodyPr>
          <a:lstStyle/>
          <a:p>
            <a:pPr algn="just"/>
            <a:r>
              <a:rPr lang="en-US" b="1" dirty="0">
                <a:latin typeface="Times New Roman" pitchFamily="18" charset="0"/>
                <a:cs typeface="Times New Roman" pitchFamily="18" charset="0"/>
              </a:rPr>
              <a:t>In a typical Reinforcement Learning (RL) problem, there is a learner and a decision maker called agent and the surrounding with which it interacts is called environment. </a:t>
            </a:r>
          </a:p>
          <a:p>
            <a:pPr algn="just"/>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The environment, in return, provides rewards and a new state based on the actions of the agent. So, in reinforcement learning, we do not teach an agent how it should do something but presents it with rewards whether positive or negative based on its actions. </a:t>
            </a:r>
          </a:p>
          <a:p>
            <a:pPr algn="just"/>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So our root question is how we formulate any problem in RL mathematically. This is where the Markov Decision Process(MDP) comes in.</a:t>
            </a:r>
          </a:p>
          <a:p>
            <a:pPr algn="just"/>
            <a:endParaRPr lang="en-US" b="1" dirty="0">
              <a:latin typeface="Times New Roman" pitchFamily="18" charset="0"/>
              <a:cs typeface="Times New Roman" pitchFamily="18" charset="0"/>
            </a:endParaRPr>
          </a:p>
          <a:p>
            <a:pPr>
              <a:buFont typeface="Arial" pitchFamily="34" charset="0"/>
              <a:buChar char="•"/>
            </a:pPr>
            <a:r>
              <a:rPr lang="en-US" b="1" dirty="0">
                <a:latin typeface="Times New Roman" pitchFamily="18" charset="0"/>
                <a:cs typeface="Times New Roman" pitchFamily="18" charset="0"/>
              </a:rPr>
              <a:t>The Agent-Environment relationship</a:t>
            </a:r>
          </a:p>
          <a:p>
            <a:pPr>
              <a:buFont typeface="Arial" pitchFamily="34" charset="0"/>
              <a:buChar char="•"/>
            </a:pPr>
            <a:r>
              <a:rPr lang="en-US" b="1" dirty="0">
                <a:latin typeface="Times New Roman" pitchFamily="18" charset="0"/>
                <a:cs typeface="Times New Roman" pitchFamily="18" charset="0"/>
              </a:rPr>
              <a:t>Markov Property</a:t>
            </a:r>
          </a:p>
          <a:p>
            <a:pPr>
              <a:buFont typeface="Arial" pitchFamily="34" charset="0"/>
              <a:buChar char="•"/>
            </a:pPr>
            <a:r>
              <a:rPr lang="en-US" b="1" dirty="0">
                <a:latin typeface="Times New Roman" pitchFamily="18" charset="0"/>
                <a:cs typeface="Times New Roman" pitchFamily="18" charset="0"/>
              </a:rPr>
              <a:t>Markov Process and Markov chains</a:t>
            </a:r>
          </a:p>
          <a:p>
            <a:pPr>
              <a:buFont typeface="Arial" pitchFamily="34" charset="0"/>
              <a:buChar char="•"/>
            </a:pPr>
            <a:r>
              <a:rPr lang="en-US" b="1" dirty="0">
                <a:latin typeface="Times New Roman" pitchFamily="18" charset="0"/>
                <a:cs typeface="Times New Roman" pitchFamily="18" charset="0"/>
              </a:rPr>
              <a:t>Markov Reward Process (MRP)</a:t>
            </a:r>
          </a:p>
          <a:p>
            <a:pPr>
              <a:buFont typeface="Arial" pitchFamily="34" charset="0"/>
              <a:buChar char="•"/>
            </a:pPr>
            <a:r>
              <a:rPr lang="en-US" b="1" dirty="0">
                <a:latin typeface="Times New Roman" pitchFamily="18" charset="0"/>
                <a:cs typeface="Times New Roman" pitchFamily="18" charset="0"/>
              </a:rPr>
              <a:t>Bellman Equation</a:t>
            </a:r>
          </a:p>
          <a:p>
            <a:pPr>
              <a:buFont typeface="Arial" pitchFamily="34" charset="0"/>
              <a:buChar char="•"/>
            </a:pPr>
            <a:r>
              <a:rPr lang="en-US" b="1" dirty="0">
                <a:latin typeface="Times New Roman" pitchFamily="18" charset="0"/>
                <a:cs typeface="Times New Roman" pitchFamily="18" charset="0"/>
              </a:rPr>
              <a:t>Markov Reward Process</a:t>
            </a:r>
          </a:p>
          <a:p>
            <a:pPr algn="just"/>
            <a:endParaRPr lang="en-US"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0800" y="762000"/>
            <a:ext cx="3886705" cy="369332"/>
          </a:xfrm>
          <a:prstGeom prst="rect">
            <a:avLst/>
          </a:prstGeom>
        </p:spPr>
        <p:txBody>
          <a:bodyPr wrap="none">
            <a:spAutoFit/>
          </a:bodyPr>
          <a:lstStyle/>
          <a:p>
            <a:r>
              <a:rPr lang="en-US" b="1" dirty="0">
                <a:latin typeface="Times New Roman" pitchFamily="18" charset="0"/>
                <a:cs typeface="Times New Roman" pitchFamily="18" charset="0"/>
              </a:rPr>
              <a:t>The Agent-Environment Relationship</a:t>
            </a:r>
          </a:p>
        </p:txBody>
      </p:sp>
      <p:sp>
        <p:nvSpPr>
          <p:cNvPr id="3" name="Rectangle 2"/>
          <p:cNvSpPr/>
          <p:nvPr/>
        </p:nvSpPr>
        <p:spPr>
          <a:xfrm>
            <a:off x="228600" y="1371600"/>
            <a:ext cx="8534400" cy="1938992"/>
          </a:xfrm>
          <a:prstGeom prst="rect">
            <a:avLst/>
          </a:prstGeom>
        </p:spPr>
        <p:txBody>
          <a:bodyPr wrap="square">
            <a:spAutoFit/>
          </a:bodyPr>
          <a:lstStyle/>
          <a:p>
            <a:pPr algn="just"/>
            <a:r>
              <a:rPr lang="en-US" sz="2000" b="1" dirty="0">
                <a:latin typeface="Times New Roman" pitchFamily="18" charset="0"/>
                <a:cs typeface="Times New Roman" pitchFamily="18" charset="0"/>
              </a:rPr>
              <a:t>Agent</a:t>
            </a:r>
            <a:r>
              <a:rPr lang="en-US" sz="2000" dirty="0">
                <a:latin typeface="Times New Roman" pitchFamily="18" charset="0"/>
                <a:cs typeface="Times New Roman" pitchFamily="18" charset="0"/>
              </a:rPr>
              <a:t> : Software programs that make intelligent decisions and they are the learners in RL. These agents interact with the environment by actions and receive rewards based on there actions.</a:t>
            </a:r>
          </a:p>
          <a:p>
            <a:pPr algn="just"/>
            <a:r>
              <a:rPr lang="en-US" sz="2000" b="1" dirty="0">
                <a:latin typeface="Times New Roman" pitchFamily="18" charset="0"/>
                <a:cs typeface="Times New Roman" pitchFamily="18" charset="0"/>
              </a:rPr>
              <a:t>Environment </a:t>
            </a:r>
            <a:r>
              <a:rPr lang="en-US" sz="2000" dirty="0">
                <a:latin typeface="Times New Roman" pitchFamily="18" charset="0"/>
                <a:cs typeface="Times New Roman" pitchFamily="18" charset="0"/>
              </a:rPr>
              <a:t>:It is the demonstration of the problem to be solved. Now, we can have a real-world environment or a simulated environment with which our agent will interact.</a:t>
            </a:r>
          </a:p>
        </p:txBody>
      </p:sp>
      <p:pic>
        <p:nvPicPr>
          <p:cNvPr id="1026" name="Picture 2" descr="https://miro.medium.com/max/600/1*mUyxMUpzQWX4GNTd7TT4nA.gif"/>
          <p:cNvPicPr>
            <a:picLocks noChangeAspect="1" noChangeArrowheads="1" noCrop="1"/>
          </p:cNvPicPr>
          <p:nvPr/>
        </p:nvPicPr>
        <p:blipFill>
          <a:blip r:embed="rId2"/>
          <a:srcRect/>
          <a:stretch>
            <a:fillRect/>
          </a:stretch>
        </p:blipFill>
        <p:spPr bwMode="auto">
          <a:xfrm>
            <a:off x="1447800" y="3505200"/>
            <a:ext cx="5715000" cy="2876551"/>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3400" y="457200"/>
            <a:ext cx="8305800" cy="5632311"/>
          </a:xfrm>
          <a:prstGeom prst="rect">
            <a:avLst/>
          </a:prstGeom>
          <a:noFill/>
        </p:spPr>
        <p:txBody>
          <a:bodyPr wrap="square" rtlCol="0">
            <a:spAutoFit/>
          </a:bodyPr>
          <a:lstStyle/>
          <a:p>
            <a:pPr algn="just"/>
            <a:r>
              <a:rPr lang="en-US" sz="2000" b="1" dirty="0">
                <a:latin typeface="Times New Roman" pitchFamily="18" charset="0"/>
                <a:cs typeface="Times New Roman" pitchFamily="18" charset="0"/>
              </a:rPr>
              <a:t>State</a:t>
            </a:r>
            <a:r>
              <a:rPr lang="en-US" sz="2000" dirty="0">
                <a:latin typeface="Times New Roman" pitchFamily="18" charset="0"/>
                <a:cs typeface="Times New Roman" pitchFamily="18" charset="0"/>
              </a:rPr>
              <a:t> : This is the position of the agents at a specific time-step in the environment. So, whenever an agent performs an action the environment gives the agent reward and a new state where the agent reached by performing the action.</a:t>
            </a:r>
          </a:p>
          <a:p>
            <a:pPr algn="just"/>
            <a:r>
              <a:rPr lang="en-US" sz="2000" dirty="0">
                <a:latin typeface="Times New Roman" pitchFamily="18" charset="0"/>
                <a:cs typeface="Times New Roman" pitchFamily="18" charset="0"/>
              </a:rPr>
              <a:t>Anything that the agent </a:t>
            </a:r>
            <a:r>
              <a:rPr lang="en-US" sz="2000" b="1" dirty="0">
                <a:latin typeface="Times New Roman" pitchFamily="18" charset="0"/>
                <a:cs typeface="Times New Roman" pitchFamily="18" charset="0"/>
              </a:rPr>
              <a:t>cannot change arbitrarily</a:t>
            </a:r>
            <a:r>
              <a:rPr lang="en-US" sz="2000" dirty="0">
                <a:latin typeface="Times New Roman" pitchFamily="18" charset="0"/>
                <a:cs typeface="Times New Roman" pitchFamily="18" charset="0"/>
              </a:rPr>
              <a:t> is considered to be part of the environment. In simple terms, actions can be </a:t>
            </a:r>
            <a:r>
              <a:rPr lang="en-US" sz="2000" b="1" dirty="0">
                <a:latin typeface="Times New Roman" pitchFamily="18" charset="0"/>
                <a:cs typeface="Times New Roman" pitchFamily="18" charset="0"/>
              </a:rPr>
              <a:t>any decision we want the agent to learn</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state can be anything which can be useful in choosing actions</a:t>
            </a:r>
            <a:r>
              <a:rPr lang="en-US" sz="2000" dirty="0">
                <a:latin typeface="Times New Roman" pitchFamily="18" charset="0"/>
                <a:cs typeface="Times New Roman" pitchFamily="18" charset="0"/>
              </a:rPr>
              <a:t>. We do not assume that everything in the environment is unknown to the agent, </a:t>
            </a:r>
          </a:p>
          <a:p>
            <a:pPr algn="just"/>
            <a:r>
              <a:rPr lang="en-US" sz="2000" dirty="0">
                <a:latin typeface="Times New Roman" pitchFamily="18" charset="0"/>
                <a:cs typeface="Times New Roman" pitchFamily="18" charset="0"/>
              </a:rPr>
              <a:t>for example, reward calculation is considered to be the part of the environment even though the agent knows a bit on how it’s reward is calculated as a function of its actions and states in which they are taken. </a:t>
            </a:r>
          </a:p>
          <a:p>
            <a:pPr algn="just"/>
            <a:r>
              <a:rPr lang="en-US" sz="2000" dirty="0">
                <a:latin typeface="Times New Roman" pitchFamily="18" charset="0"/>
                <a:cs typeface="Times New Roman" pitchFamily="18" charset="0"/>
              </a:rPr>
              <a:t>This is because </a:t>
            </a:r>
            <a:r>
              <a:rPr lang="en-US" sz="2000" b="1" dirty="0">
                <a:latin typeface="Times New Roman" pitchFamily="18" charset="0"/>
                <a:cs typeface="Times New Roman" pitchFamily="18" charset="0"/>
              </a:rPr>
              <a:t>rewards cannot be arbitrarily</a:t>
            </a:r>
            <a:r>
              <a:rPr lang="en-US" sz="2000" dirty="0">
                <a:latin typeface="Times New Roman" pitchFamily="18" charset="0"/>
                <a:cs typeface="Times New Roman" pitchFamily="18" charset="0"/>
              </a:rPr>
              <a:t> changed by the agent. Sometimes, the agent might be fully aware of its environment but still finds it difficult to maximize the reward as like we might know how to play Rubik’s cube but still cannot solve it. So, we can safely say that the agent-environment relationship represents the limit of the agent control and not it’s knowledge.</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1477328"/>
          </a:xfrm>
          <a:prstGeom prst="rect">
            <a:avLst/>
          </a:prstGeom>
        </p:spPr>
        <p:txBody>
          <a:bodyPr wrap="square">
            <a:spAutoFit/>
          </a:bodyPr>
          <a:lstStyle/>
          <a:p>
            <a:pPr algn="just"/>
            <a:r>
              <a:rPr lang="en-US" b="1" dirty="0">
                <a:latin typeface="Times New Roman" pitchFamily="18" charset="0"/>
                <a:cs typeface="Times New Roman" pitchFamily="18" charset="0"/>
              </a:rPr>
              <a:t>Markov Decision Process</a:t>
            </a:r>
          </a:p>
          <a:p>
            <a:pPr algn="just"/>
            <a:r>
              <a:rPr lang="en-US" dirty="0">
                <a:latin typeface="Times New Roman" pitchFamily="18" charset="0"/>
                <a:cs typeface="Times New Roman" pitchFamily="18" charset="0"/>
              </a:rPr>
              <a:t>Markov Decision Process or MDP, is used to </a:t>
            </a:r>
            <a:r>
              <a:rPr lang="en-US" b="1" dirty="0">
                <a:latin typeface="Times New Roman" pitchFamily="18" charset="0"/>
                <a:cs typeface="Times New Roman" pitchFamily="18" charset="0"/>
              </a:rPr>
              <a:t>formalize the reinforcement learning problems</a:t>
            </a:r>
            <a:r>
              <a:rPr lang="en-US" dirty="0">
                <a:latin typeface="Times New Roman" pitchFamily="18" charset="0"/>
                <a:cs typeface="Times New Roman" pitchFamily="18" charset="0"/>
              </a:rPr>
              <a:t>. If the environment is completely observable, then its dynamic can be modeled as a </a:t>
            </a:r>
            <a:r>
              <a:rPr lang="en-US" b="1" dirty="0">
                <a:latin typeface="Times New Roman" pitchFamily="18" charset="0"/>
                <a:cs typeface="Times New Roman" pitchFamily="18" charset="0"/>
              </a:rPr>
              <a:t>Markov Process</a:t>
            </a:r>
            <a:r>
              <a:rPr lang="en-US" dirty="0">
                <a:latin typeface="Times New Roman" pitchFamily="18" charset="0"/>
                <a:cs typeface="Times New Roman" pitchFamily="18" charset="0"/>
              </a:rPr>
              <a:t>. In MDP, the agent constantly interacts with the environment and performs actions; at each action, the environment responds and generates a new state.</a:t>
            </a:r>
          </a:p>
        </p:txBody>
      </p:sp>
      <p:pic>
        <p:nvPicPr>
          <p:cNvPr id="1026" name="Picture 2" descr="Markov Decision Process"/>
          <p:cNvPicPr>
            <a:picLocks noChangeAspect="1" noChangeArrowheads="1"/>
          </p:cNvPicPr>
          <p:nvPr/>
        </p:nvPicPr>
        <p:blipFill>
          <a:blip r:embed="rId2"/>
          <a:srcRect/>
          <a:stretch>
            <a:fillRect/>
          </a:stretch>
        </p:blipFill>
        <p:spPr bwMode="auto">
          <a:xfrm>
            <a:off x="1524000" y="2514600"/>
            <a:ext cx="5715000" cy="396240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28343"/>
            <a:ext cx="8229600" cy="5632311"/>
          </a:xfrm>
          <a:prstGeom prst="rect">
            <a:avLst/>
          </a:prstGeom>
        </p:spPr>
        <p:txBody>
          <a:bodyPr wrap="square">
            <a:spAutoFit/>
          </a:bodyPr>
          <a:lstStyle/>
          <a:p>
            <a:pPr algn="just" fontAlgn="base">
              <a:lnSpc>
                <a:spcPct val="150000"/>
              </a:lnSpc>
            </a:pPr>
            <a:r>
              <a:rPr lang="en-US" sz="2000" dirty="0">
                <a:latin typeface="Times New Roman" pitchFamily="18" charset="0"/>
                <a:cs typeface="Times New Roman" pitchFamily="18" charset="0"/>
              </a:rPr>
              <a:t>Reinforcement Learning is a type of Machine Learning. It allows machines and software agents to automatically determine the ideal behavior within a specific context, in order to maximize its performance. Simple reward feedback is required for the agent to learn its behavior; this is known as the reinforcement signal. </a:t>
            </a:r>
          </a:p>
          <a:p>
            <a:pPr algn="just" fontAlgn="base">
              <a:lnSpc>
                <a:spcPct val="150000"/>
              </a:lnSpc>
            </a:pPr>
            <a:endParaRPr lang="en-US" sz="2000" dirty="0">
              <a:latin typeface="Times New Roman" pitchFamily="18" charset="0"/>
              <a:cs typeface="Times New Roman" pitchFamily="18" charset="0"/>
            </a:endParaRPr>
          </a:p>
          <a:p>
            <a:pPr algn="just" fontAlgn="base">
              <a:lnSpc>
                <a:spcPct val="150000"/>
              </a:lnSpc>
            </a:pPr>
            <a:r>
              <a:rPr lang="en-US" sz="2000" dirty="0">
                <a:latin typeface="Times New Roman" pitchFamily="18" charset="0"/>
                <a:cs typeface="Times New Roman" pitchFamily="18" charset="0"/>
              </a:rPr>
              <a:t>There are many different algorithms that tackle this issue. As a matter of fact, Reinforcement Learning is defined by a specific type of problem, and all its solutions are classed as Reinforcement Learning algorithms. In the problem, an agent is supposed to decide the best action to select based on his current state. When this step is repeated, the problem is known as a </a:t>
            </a:r>
            <a:r>
              <a:rPr lang="en-US" sz="2000" b="1" dirty="0">
                <a:latin typeface="Times New Roman" pitchFamily="18" charset="0"/>
                <a:cs typeface="Times New Roman" pitchFamily="18" charset="0"/>
              </a:rPr>
              <a:t>Markov Decision Process</a:t>
            </a:r>
            <a:r>
              <a:rPr lang="en-US" sz="2000" dirty="0">
                <a:latin typeface="Times New Roman" pitchFamily="18" charset="0"/>
                <a:cs typeface="Times New Roman"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7200"/>
            <a:ext cx="9144000" cy="6093976"/>
          </a:xfrm>
          <a:prstGeom prst="rect">
            <a:avLst/>
          </a:prstGeom>
        </p:spPr>
        <p:txBody>
          <a:bodyPr wrap="square">
            <a:spAutoFit/>
          </a:bodyPr>
          <a:lstStyle/>
          <a:p>
            <a:pPr algn="just"/>
            <a:r>
              <a:rPr lang="en-US" dirty="0">
                <a:latin typeface="Times New Roman" pitchFamily="18" charset="0"/>
                <a:cs typeface="Times New Roman" pitchFamily="18" charset="0"/>
              </a:rPr>
              <a:t>MDP contains a </a:t>
            </a:r>
            <a:r>
              <a:rPr lang="en-US" dirty="0" err="1">
                <a:latin typeface="Times New Roman" pitchFamily="18" charset="0"/>
                <a:cs typeface="Times New Roman" pitchFamily="18" charset="0"/>
              </a:rPr>
              <a:t>tuple</a:t>
            </a:r>
            <a:r>
              <a:rPr lang="en-US" dirty="0">
                <a:latin typeface="Times New Roman" pitchFamily="18" charset="0"/>
                <a:cs typeface="Times New Roman" pitchFamily="18" charset="0"/>
              </a:rPr>
              <a:t> of four elements </a:t>
            </a:r>
            <a:r>
              <a:rPr lang="en-US" sz="3200" dirty="0">
                <a:latin typeface="Times New Roman" pitchFamily="18" charset="0"/>
                <a:cs typeface="Times New Roman" pitchFamily="18" charset="0"/>
              </a:rPr>
              <a:t>(S, A, P</a:t>
            </a:r>
            <a:r>
              <a:rPr lang="en-US" sz="3200" baseline="-25000" dirty="0">
                <a:latin typeface="Times New Roman" pitchFamily="18" charset="0"/>
                <a:cs typeface="Times New Roman" pitchFamily="18" charset="0"/>
              </a:rPr>
              <a:t>a</a:t>
            </a:r>
            <a:r>
              <a:rPr lang="en-US" sz="3200" dirty="0">
                <a:latin typeface="Times New Roman" pitchFamily="18" charset="0"/>
                <a:cs typeface="Times New Roman" pitchFamily="18" charset="0"/>
              </a:rPr>
              <a:t>, R</a:t>
            </a:r>
            <a:r>
              <a:rPr lang="en-US" sz="3200" baseline="-25000" dirty="0">
                <a:latin typeface="Times New Roman" pitchFamily="18" charset="0"/>
                <a:cs typeface="Times New Roman" pitchFamily="18" charset="0"/>
              </a:rPr>
              <a:t>a</a:t>
            </a:r>
            <a:r>
              <a:rPr lang="en-US" sz="3200" dirty="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 set of finite States S</a:t>
            </a:r>
          </a:p>
          <a:p>
            <a:pPr algn="just"/>
            <a:r>
              <a:rPr lang="en-US" dirty="0">
                <a:latin typeface="Times New Roman" pitchFamily="18" charset="0"/>
                <a:cs typeface="Times New Roman" pitchFamily="18" charset="0"/>
              </a:rPr>
              <a:t>A set of finite Actions A</a:t>
            </a:r>
          </a:p>
          <a:p>
            <a:pPr algn="just"/>
            <a:r>
              <a:rPr lang="en-US" dirty="0">
                <a:latin typeface="Times New Roman" pitchFamily="18" charset="0"/>
                <a:cs typeface="Times New Roman" pitchFamily="18" charset="0"/>
              </a:rPr>
              <a:t>Rewards received after transitioning from state S to state S', due to action a.</a:t>
            </a:r>
          </a:p>
          <a:p>
            <a:pPr algn="just"/>
            <a:r>
              <a:rPr lang="en-US" dirty="0">
                <a:latin typeface="Times New Roman" pitchFamily="18" charset="0"/>
                <a:cs typeface="Times New Roman" pitchFamily="18" charset="0"/>
              </a:rPr>
              <a:t>Probability P</a:t>
            </a:r>
            <a:r>
              <a:rPr lang="en-US" baseline="-25000" dirty="0">
                <a:latin typeface="Times New Roman" pitchFamily="18" charset="0"/>
                <a:cs typeface="Times New Roman" pitchFamily="18" charset="0"/>
              </a:rPr>
              <a:t>a</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MDP uses </a:t>
            </a:r>
            <a:r>
              <a:rPr lang="en-US" b="1" dirty="0">
                <a:latin typeface="Times New Roman" pitchFamily="18" charset="0"/>
                <a:cs typeface="Times New Roman" pitchFamily="18" charset="0"/>
              </a:rPr>
              <a:t>Markov property</a:t>
            </a:r>
          </a:p>
          <a:p>
            <a:endParaRPr lang="en-US" dirty="0"/>
          </a:p>
          <a:p>
            <a:pPr algn="just"/>
            <a:r>
              <a:rPr lang="en-US" sz="2400" dirty="0">
                <a:latin typeface="Times New Roman" pitchFamily="18" charset="0"/>
                <a:cs typeface="Times New Roman" pitchFamily="18" charset="0"/>
              </a:rPr>
              <a:t>Markov Property:</a:t>
            </a:r>
          </a:p>
          <a:p>
            <a:pPr algn="just"/>
            <a:r>
              <a:rPr lang="en-US" sz="2000" dirty="0">
                <a:latin typeface="Times New Roman" pitchFamily="18" charset="0"/>
                <a:cs typeface="Times New Roman" pitchFamily="18" charset="0"/>
              </a:rPr>
              <a:t>It says that </a:t>
            </a:r>
            <a:r>
              <a:rPr lang="en-US" sz="2000" b="1" dirty="0">
                <a:latin typeface="Times New Roman" pitchFamily="18" charset="0"/>
                <a:cs typeface="Times New Roman" pitchFamily="18" charset="0"/>
              </a:rPr>
              <a:t>"If the agent is present in the current state S1, performs an action a1 and move to the state s2, then the state transition from s1 to s2 only depends on the current state and future action and states do not depend on past actions, rewards, or states.“</a:t>
            </a:r>
          </a:p>
          <a:p>
            <a:pPr algn="just"/>
            <a:endParaRPr lang="en-US" sz="2400" b="1"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Or, in other words, as per Markov Property, the current state transition does not depend on any past action or state. Hence, MDP is an RL problem that satisfies the Markov property. Such as in a Chess game, the players only focus on the current state and do not need to remember past actions or states.</a:t>
            </a:r>
          </a:p>
          <a:p>
            <a:pPr algn="just"/>
            <a:r>
              <a:rPr lang="en-US" sz="2400" dirty="0">
                <a:latin typeface="Times New Roman" pitchFamily="18" charset="0"/>
                <a:cs typeface="Times New Roman"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81000"/>
            <a:ext cx="9144000" cy="3170099"/>
          </a:xfrm>
          <a:prstGeom prst="rect">
            <a:avLst/>
          </a:prstGeom>
        </p:spPr>
        <p:txBody>
          <a:bodyPr wrap="square">
            <a:spAutoFit/>
          </a:bodyPr>
          <a:lstStyle/>
          <a:p>
            <a:pPr algn="just"/>
            <a:r>
              <a:rPr lang="en-US" sz="2000" b="1" dirty="0">
                <a:latin typeface="Times New Roman" pitchFamily="18" charset="0"/>
                <a:cs typeface="Times New Roman" pitchFamily="18" charset="0"/>
              </a:rPr>
              <a:t>Finite MDP:</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 finite MDP is when there are finite states, finite rewards, and finite actions. In RL, we consider only the finite MDP.</a:t>
            </a: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Markov Process:</a:t>
            </a:r>
          </a:p>
          <a:p>
            <a:pPr algn="just"/>
            <a:r>
              <a:rPr lang="en-US" sz="2000" dirty="0">
                <a:latin typeface="Times New Roman" pitchFamily="18" charset="0"/>
                <a:cs typeface="Times New Roman" pitchFamily="18" charset="0"/>
              </a:rPr>
              <a:t>Markov Process is </a:t>
            </a:r>
            <a:r>
              <a:rPr lang="en-US" sz="2000">
                <a:latin typeface="Times New Roman" pitchFamily="18" charset="0"/>
                <a:cs typeface="Times New Roman" pitchFamily="18" charset="0"/>
              </a:rPr>
              <a:t>a memory less </a:t>
            </a:r>
            <a:r>
              <a:rPr lang="en-US" sz="2000" dirty="0">
                <a:latin typeface="Times New Roman" pitchFamily="18" charset="0"/>
                <a:cs typeface="Times New Roman" pitchFamily="18" charset="0"/>
              </a:rPr>
              <a:t>process with a sequence of random states S</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S</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 S</a:t>
            </a:r>
            <a:r>
              <a:rPr lang="en-US" sz="2000" baseline="-25000" dirty="0">
                <a:latin typeface="Times New Roman" pitchFamily="18" charset="0"/>
                <a:cs typeface="Times New Roman" pitchFamily="18" charset="0"/>
              </a:rPr>
              <a:t>t</a:t>
            </a:r>
            <a:r>
              <a:rPr lang="en-US" sz="2000" dirty="0">
                <a:latin typeface="Times New Roman" pitchFamily="18" charset="0"/>
                <a:cs typeface="Times New Roman" pitchFamily="18" charset="0"/>
              </a:rPr>
              <a:t> that uses the Markov Property. Markov process is also known as Markov chain, which is a </a:t>
            </a:r>
            <a:r>
              <a:rPr lang="en-US" sz="2000" dirty="0" err="1">
                <a:latin typeface="Times New Roman" pitchFamily="18" charset="0"/>
                <a:cs typeface="Times New Roman" pitchFamily="18" charset="0"/>
              </a:rPr>
              <a:t>tuple</a:t>
            </a:r>
            <a:r>
              <a:rPr lang="en-US" sz="2000" dirty="0">
                <a:latin typeface="Times New Roman" pitchFamily="18" charset="0"/>
                <a:cs typeface="Times New Roman" pitchFamily="18" charset="0"/>
              </a:rPr>
              <a:t> (S, P) on state S and transition function P. These two components (S and P) can define the dynamics of the system.</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7200"/>
            <a:ext cx="9144000" cy="2308324"/>
          </a:xfrm>
          <a:prstGeom prst="rect">
            <a:avLst/>
          </a:prstGeom>
        </p:spPr>
        <p:txBody>
          <a:bodyPr wrap="square">
            <a:spAutoFit/>
          </a:bodyPr>
          <a:lstStyle/>
          <a:p>
            <a:pPr algn="just"/>
            <a:r>
              <a:rPr lang="en-US" b="1" dirty="0">
                <a:latin typeface="Times New Roman" pitchFamily="18" charset="0"/>
                <a:cs typeface="Times New Roman" pitchFamily="18" charset="0"/>
              </a:rPr>
              <a:t>The Markov Chain</a:t>
            </a:r>
          </a:p>
          <a:p>
            <a:pPr algn="just"/>
            <a:r>
              <a:rPr lang="en-US" dirty="0">
                <a:latin typeface="Times New Roman" pitchFamily="18" charset="0"/>
                <a:cs typeface="Times New Roman" pitchFamily="18" charset="0"/>
              </a:rPr>
              <a:t>As mentioned above, states are presented to the agent by the environment. These states change based on transition probabilities underlying the environment. </a:t>
            </a:r>
            <a:r>
              <a:rPr lang="en-US" b="1" dirty="0">
                <a:latin typeface="Times New Roman" pitchFamily="18" charset="0"/>
                <a:cs typeface="Times New Roman" pitchFamily="18" charset="0"/>
              </a:rPr>
              <a:t>The state space</a:t>
            </a:r>
            <a:r>
              <a:rPr lang="en-US" dirty="0">
                <a:latin typeface="Times New Roman" pitchFamily="18" charset="0"/>
                <a:cs typeface="Times New Roman" pitchFamily="18" charset="0"/>
              </a:rPr>
              <a:t>, consisting of all possible states, is completely visible to the agent and </a:t>
            </a:r>
            <a:r>
              <a:rPr lang="en-US" b="1" dirty="0">
                <a:latin typeface="Times New Roman" pitchFamily="18" charset="0"/>
                <a:cs typeface="Times New Roman" pitchFamily="18" charset="0"/>
              </a:rPr>
              <a:t>must be finite</a:t>
            </a:r>
            <a:r>
              <a:rPr lang="en-US" dirty="0">
                <a:latin typeface="Times New Roman" pitchFamily="18" charset="0"/>
                <a:cs typeface="Times New Roman" pitchFamily="18" charset="0"/>
              </a:rPr>
              <a:t> for the finite MDP. Be a state space S given with </a:t>
            </a:r>
            <a:r>
              <a:rPr lang="en-US" b="1" i="1" dirty="0">
                <a:latin typeface="Times New Roman" pitchFamily="18" charset="0"/>
                <a:cs typeface="Times New Roman" pitchFamily="18" charset="0"/>
              </a:rPr>
              <a:t>S= [s1,s2,s3]</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Thus a sequence of states observed by the agent describes the Markov process or Markov chain</a:t>
            </a:r>
            <a:r>
              <a:rPr lang="en-US" dirty="0">
                <a:latin typeface="Times New Roman" pitchFamily="18" charset="0"/>
                <a:cs typeface="Times New Roman" pitchFamily="18" charset="0"/>
              </a:rPr>
              <a:t>. For example the chain of states: </a:t>
            </a:r>
            <a:r>
              <a:rPr lang="en-US" b="1" i="1" dirty="0">
                <a:latin typeface="Times New Roman" pitchFamily="18" charset="0"/>
                <a:cs typeface="Times New Roman" pitchFamily="18" charset="0"/>
              </a:rPr>
              <a:t>s1, s3, s3, s2.</a:t>
            </a:r>
            <a:endParaRPr lang="en-US" dirty="0">
              <a:latin typeface="Times New Roman" pitchFamily="18" charset="0"/>
              <a:cs typeface="Times New Roman" pitchFamily="18" charset="0"/>
            </a:endParaRPr>
          </a:p>
          <a:p>
            <a:br>
              <a:rPr lang="en-US" dirty="0"/>
            </a:br>
            <a:endParaRPr lang="en-US" dirty="0"/>
          </a:p>
        </p:txBody>
      </p:sp>
      <p:pic>
        <p:nvPicPr>
          <p:cNvPr id="26626" name="Picture 2" descr="https://miro.medium.com/max/630/1*xtjGVJ8PWYM1RZTaJNI5cw.png"/>
          <p:cNvPicPr>
            <a:picLocks noChangeAspect="1" noChangeArrowheads="1"/>
          </p:cNvPicPr>
          <p:nvPr/>
        </p:nvPicPr>
        <p:blipFill>
          <a:blip r:embed="rId2"/>
          <a:srcRect/>
          <a:stretch>
            <a:fillRect/>
          </a:stretch>
        </p:blipFill>
        <p:spPr bwMode="auto">
          <a:xfrm>
            <a:off x="533400" y="2971800"/>
            <a:ext cx="7696200" cy="25908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0"/>
            <a:ext cx="8077200" cy="6093976"/>
          </a:xfrm>
          <a:prstGeom prst="rect">
            <a:avLst/>
          </a:prstGeom>
        </p:spPr>
        <p:txBody>
          <a:bodyPr wrap="square">
            <a:spAutoFit/>
          </a:bodyPr>
          <a:lstStyle/>
          <a:p>
            <a:pPr algn="just" fontAlgn="base">
              <a:lnSpc>
                <a:spcPct val="150000"/>
              </a:lnSpc>
            </a:pPr>
            <a:r>
              <a:rPr lang="en-US" sz="2000" dirty="0">
                <a:latin typeface="Times New Roman" pitchFamily="18" charset="0"/>
                <a:cs typeface="Times New Roman" pitchFamily="18" charset="0"/>
              </a:rPr>
              <a:t>Let’s make it clear with an example.</a:t>
            </a:r>
          </a:p>
          <a:p>
            <a:pPr algn="just" fontAlgn="base">
              <a:lnSpc>
                <a:spcPct val="150000"/>
              </a:lnSpc>
              <a:buFont typeface="Arial" pitchFamily="34" charset="0"/>
              <a:buChar char="•"/>
            </a:pPr>
            <a:r>
              <a:rPr lang="en-US" sz="2000" dirty="0">
                <a:latin typeface="Times New Roman" pitchFamily="18" charset="0"/>
                <a:cs typeface="Times New Roman" pitchFamily="18" charset="0"/>
              </a:rPr>
              <a:t>Let’s say, you want to model how the weather in a particular place changes over time. That means, you want to make a program for it. In a very simplified model (yes, it is always about the models in ML), we assume that the weather is constant throughout the day, and there can be only three possible states: </a:t>
            </a:r>
            <a:r>
              <a:rPr lang="en-US" sz="2000" b="1" dirty="0">
                <a:latin typeface="Times New Roman" pitchFamily="18" charset="0"/>
                <a:cs typeface="Times New Roman" pitchFamily="18" charset="0"/>
              </a:rPr>
              <a:t>Sunny, Cloudy and Raining.</a:t>
            </a:r>
            <a:endParaRPr lang="en-US" sz="2000" dirty="0">
              <a:latin typeface="Times New Roman" pitchFamily="18" charset="0"/>
              <a:cs typeface="Times New Roman" pitchFamily="18" charset="0"/>
            </a:endParaRPr>
          </a:p>
          <a:p>
            <a:pPr algn="just" fontAlgn="base">
              <a:lnSpc>
                <a:spcPct val="150000"/>
              </a:lnSpc>
            </a:pPr>
            <a:endParaRPr lang="en-US" sz="2000" dirty="0">
              <a:latin typeface="Times New Roman" pitchFamily="18" charset="0"/>
              <a:cs typeface="Times New Roman" pitchFamily="18" charset="0"/>
            </a:endParaRPr>
          </a:p>
          <a:p>
            <a:pPr algn="just" fontAlgn="base">
              <a:lnSpc>
                <a:spcPct val="150000"/>
              </a:lnSpc>
              <a:buFont typeface="Arial" pitchFamily="34" charset="0"/>
              <a:buChar char="•"/>
            </a:pPr>
            <a:r>
              <a:rPr lang="en-US" sz="2000" dirty="0">
                <a:latin typeface="Times New Roman" pitchFamily="18" charset="0"/>
                <a:cs typeface="Times New Roman" pitchFamily="18" charset="0"/>
              </a:rPr>
              <a:t>For any process to be considered for modeling with Markov Chain, it has to assume the </a:t>
            </a:r>
            <a:r>
              <a:rPr lang="en-US" sz="2000" b="1" dirty="0">
                <a:latin typeface="Times New Roman" pitchFamily="18" charset="0"/>
                <a:cs typeface="Times New Roman" pitchFamily="18" charset="0"/>
              </a:rPr>
              <a:t>Markov Property</a:t>
            </a:r>
            <a:r>
              <a:rPr lang="en-US" sz="2000" dirty="0">
                <a:latin typeface="Times New Roman" pitchFamily="18" charset="0"/>
                <a:cs typeface="Times New Roman" pitchFamily="18" charset="0"/>
              </a:rPr>
              <a:t>.</a:t>
            </a:r>
          </a:p>
          <a:p>
            <a:pPr algn="just" fontAlgn="base">
              <a:lnSpc>
                <a:spcPct val="150000"/>
              </a:lnSpc>
            </a:pPr>
            <a:r>
              <a:rPr lang="en-US" sz="2000" dirty="0">
                <a:latin typeface="Times New Roman" pitchFamily="18" charset="0"/>
                <a:cs typeface="Times New Roman" pitchFamily="18" charset="0"/>
              </a:rPr>
              <a:t>Markov Property?</a:t>
            </a:r>
          </a:p>
          <a:p>
            <a:pPr algn="just" fontAlgn="base">
              <a:lnSpc>
                <a:spcPct val="150000"/>
              </a:lnSpc>
            </a:pPr>
            <a:r>
              <a:rPr lang="en-US" sz="2000" dirty="0">
                <a:latin typeface="Times New Roman" pitchFamily="18" charset="0"/>
                <a:cs typeface="Times New Roman" pitchFamily="18" charset="0"/>
              </a:rPr>
              <a:t>Markov property states that, a state at time </a:t>
            </a:r>
            <a:r>
              <a:rPr lang="en-US" sz="2000" i="1" dirty="0">
                <a:latin typeface="Times New Roman" pitchFamily="18" charset="0"/>
                <a:cs typeface="Times New Roman" pitchFamily="18" charset="0"/>
              </a:rPr>
              <a:t>t+1</a:t>
            </a:r>
            <a:r>
              <a:rPr lang="en-US" sz="2000" dirty="0">
                <a:latin typeface="Times New Roman" pitchFamily="18" charset="0"/>
                <a:cs typeface="Times New Roman" pitchFamily="18" charset="0"/>
              </a:rPr>
              <a:t> is dependent only on the current state ‘t’ and is independent of all previous states from </a:t>
            </a:r>
            <a:r>
              <a:rPr lang="en-US" sz="2000" i="1" dirty="0">
                <a:latin typeface="Times New Roman" pitchFamily="18" charset="0"/>
                <a:cs typeface="Times New Roman" pitchFamily="18" charset="0"/>
              </a:rPr>
              <a:t>t-1, t-2, . . .</a:t>
            </a:r>
            <a:r>
              <a:rPr lang="en-US" sz="2000" dirty="0">
                <a:latin typeface="Times New Roman" pitchFamily="18" charset="0"/>
                <a:cs typeface="Times New Roman" pitchFamily="18" charset="0"/>
              </a:rPr>
              <a:t>. In short, to </a:t>
            </a:r>
            <a:r>
              <a:rPr lang="en-US" sz="2000" b="1" dirty="0">
                <a:latin typeface="Times New Roman" pitchFamily="18" charset="0"/>
                <a:cs typeface="Times New Roman" pitchFamily="18" charset="0"/>
              </a:rPr>
              <a:t>know a future state, we just need to know the current state.</a:t>
            </a:r>
            <a:endParaRPr lang="en-US" sz="20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Picture showing the markov chain transition probabilit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Picture showing the markov chain transition probabilit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Picture showing the markov chain transition probabilit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2"/>
          <a:srcRect l="11947" t="16250" r="42870" b="33750"/>
          <a:stretch>
            <a:fillRect/>
          </a:stretch>
        </p:blipFill>
        <p:spPr bwMode="auto">
          <a:xfrm>
            <a:off x="228600" y="0"/>
            <a:ext cx="8001000" cy="3657600"/>
          </a:xfrm>
          <a:prstGeom prst="rect">
            <a:avLst/>
          </a:prstGeom>
          <a:noFill/>
          <a:ln w="9525">
            <a:noFill/>
            <a:miter lim="800000"/>
            <a:headEnd/>
            <a:tailEnd/>
          </a:ln>
          <a:effectLst/>
        </p:spPr>
      </p:pic>
      <p:sp>
        <p:nvSpPr>
          <p:cNvPr id="6" name="Rectangle 5"/>
          <p:cNvSpPr/>
          <p:nvPr/>
        </p:nvSpPr>
        <p:spPr>
          <a:xfrm>
            <a:off x="0" y="3276600"/>
            <a:ext cx="9144000" cy="3170099"/>
          </a:xfrm>
          <a:prstGeom prst="rect">
            <a:avLst/>
          </a:prstGeom>
        </p:spPr>
        <p:txBody>
          <a:bodyPr wrap="square">
            <a:spAutoFit/>
          </a:bodyPr>
          <a:lstStyle/>
          <a:p>
            <a:pPr algn="ctr" fontAlgn="base"/>
            <a:r>
              <a:rPr lang="en-US" sz="2000" b="1" dirty="0">
                <a:latin typeface="Times New Roman" pitchFamily="18" charset="0"/>
                <a:cs typeface="Times New Roman" pitchFamily="18" charset="0"/>
              </a:rPr>
              <a:t>Three components of a Markov Chain</a:t>
            </a:r>
          </a:p>
          <a:p>
            <a:pPr algn="just" fontAlgn="base"/>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Markov chain (MC)</a:t>
            </a:r>
            <a:r>
              <a:rPr lang="en-US" sz="2000" dirty="0">
                <a:latin typeface="Times New Roman" pitchFamily="18" charset="0"/>
                <a:cs typeface="Times New Roman" pitchFamily="18" charset="0"/>
              </a:rPr>
              <a:t> is a </a:t>
            </a:r>
            <a:r>
              <a:rPr lang="en-US" sz="2000" i="1" dirty="0">
                <a:latin typeface="Times New Roman" pitchFamily="18" charset="0"/>
                <a:cs typeface="Times New Roman" pitchFamily="18" charset="0"/>
              </a:rPr>
              <a:t>state machine</a:t>
            </a:r>
            <a:r>
              <a:rPr lang="en-US" sz="2000" dirty="0">
                <a:latin typeface="Times New Roman" pitchFamily="18" charset="0"/>
                <a:cs typeface="Times New Roman" pitchFamily="18" charset="0"/>
              </a:rPr>
              <a:t> that has a discrete number of states, </a:t>
            </a:r>
            <a:r>
              <a:rPr lang="en-US" sz="2000" i="1" dirty="0">
                <a:latin typeface="Times New Roman" pitchFamily="18" charset="0"/>
                <a:cs typeface="Times New Roman" pitchFamily="18" charset="0"/>
              </a:rPr>
              <a:t>q</a:t>
            </a:r>
            <a:r>
              <a:rPr lang="en-US" sz="2000" i="1" baseline="-25000" dirty="0">
                <a:latin typeface="Times New Roman" pitchFamily="18" charset="0"/>
                <a:cs typeface="Times New Roman" pitchFamily="18" charset="0"/>
              </a:rPr>
              <a:t>1</a:t>
            </a:r>
            <a:r>
              <a:rPr lang="en-US" sz="2000" i="1" dirty="0">
                <a:latin typeface="Times New Roman" pitchFamily="18" charset="0"/>
                <a:cs typeface="Times New Roman" pitchFamily="18" charset="0"/>
              </a:rPr>
              <a:t>, q</a:t>
            </a:r>
            <a:r>
              <a:rPr lang="en-US" sz="2000" i="1" baseline="-25000" dirty="0">
                <a:latin typeface="Times New Roman" pitchFamily="18" charset="0"/>
                <a:cs typeface="Times New Roman" pitchFamily="18" charset="0"/>
              </a:rPr>
              <a:t>2</a:t>
            </a:r>
            <a:r>
              <a:rPr lang="en-US" sz="2000" i="1" dirty="0">
                <a:latin typeface="Times New Roman" pitchFamily="18" charset="0"/>
                <a:cs typeface="Times New Roman" pitchFamily="18" charset="0"/>
              </a:rPr>
              <a:t>, . . . , </a:t>
            </a:r>
            <a:r>
              <a:rPr lang="en-US" sz="2000" i="1" dirty="0" err="1">
                <a:latin typeface="Times New Roman" pitchFamily="18" charset="0"/>
                <a:cs typeface="Times New Roman" pitchFamily="18" charset="0"/>
              </a:rPr>
              <a:t>q</a:t>
            </a:r>
            <a:r>
              <a:rPr lang="en-US" sz="2000" i="1" baseline="-25000" dirty="0" err="1">
                <a:latin typeface="Times New Roman" pitchFamily="18" charset="0"/>
                <a:cs typeface="Times New Roman" pitchFamily="18" charset="0"/>
              </a:rPr>
              <a:t>n</a:t>
            </a:r>
            <a:r>
              <a:rPr lang="en-US" sz="2000" dirty="0">
                <a:latin typeface="Times New Roman" pitchFamily="18" charset="0"/>
                <a:cs typeface="Times New Roman" pitchFamily="18" charset="0"/>
              </a:rPr>
              <a:t>, and the transitions between states are nondeterministic, i.e., there is a probability of transiting from a state </a:t>
            </a:r>
            <a:r>
              <a:rPr lang="en-US" sz="2000" i="1" dirty="0" err="1">
                <a:latin typeface="Times New Roman" pitchFamily="18" charset="0"/>
                <a:cs typeface="Times New Roman" pitchFamily="18" charset="0"/>
              </a:rPr>
              <a:t>q</a:t>
            </a:r>
            <a:r>
              <a:rPr lang="en-US" sz="2000" i="1" baseline="-25000" dirty="0" err="1">
                <a:latin typeface="Times New Roman" pitchFamily="18" charset="0"/>
                <a:cs typeface="Times New Roman" pitchFamily="18" charset="0"/>
              </a:rPr>
              <a:t>i</a:t>
            </a:r>
            <a:r>
              <a:rPr lang="en-US" sz="2000" dirty="0">
                <a:latin typeface="Times New Roman" pitchFamily="18" charset="0"/>
                <a:cs typeface="Times New Roman" pitchFamily="18" charset="0"/>
              </a:rPr>
              <a:t> to another state </a:t>
            </a:r>
            <a:r>
              <a:rPr lang="en-US" sz="2000" i="1" dirty="0" err="1">
                <a:latin typeface="Times New Roman" pitchFamily="18" charset="0"/>
                <a:cs typeface="Times New Roman" pitchFamily="18" charset="0"/>
              </a:rPr>
              <a:t>q</a:t>
            </a:r>
            <a:r>
              <a:rPr lang="en-US" sz="2000" i="1"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 P(S</a:t>
            </a:r>
            <a:r>
              <a:rPr lang="en-US" sz="2000" baseline="-25000" dirty="0">
                <a:latin typeface="Times New Roman" pitchFamily="18" charset="0"/>
                <a:cs typeface="Times New Roman" pitchFamily="18" charset="0"/>
              </a:rPr>
              <a:t>t</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q</a:t>
            </a:r>
            <a:r>
              <a:rPr lang="en-US" sz="2000" baseline="-25000" dirty="0" err="1">
                <a:latin typeface="Times New Roman" pitchFamily="18" charset="0"/>
                <a:cs typeface="Times New Roman" pitchFamily="18" charset="0"/>
              </a:rPr>
              <a:t>j</a:t>
            </a:r>
            <a:r>
              <a:rPr lang="en-US" sz="2000" dirty="0">
                <a:latin typeface="Times New Roman" pitchFamily="18" charset="0"/>
                <a:cs typeface="Times New Roman" pitchFamily="18" charset="0"/>
              </a:rPr>
              <a:t> | S</a:t>
            </a:r>
            <a:r>
              <a:rPr lang="en-US" sz="2000" baseline="-25000" dirty="0">
                <a:latin typeface="Times New Roman" pitchFamily="18" charset="0"/>
                <a:cs typeface="Times New Roman" pitchFamily="18" charset="0"/>
              </a:rPr>
              <a:t>t</a:t>
            </a:r>
            <a:r>
              <a:rPr lang="en-US" sz="2000" dirty="0">
                <a:latin typeface="Times New Roman" pitchFamily="18" charset="0"/>
                <a:cs typeface="Times New Roman" pitchFamily="18" charset="0"/>
              </a:rPr>
              <a:t>−1 = </a:t>
            </a:r>
            <a:r>
              <a:rPr lang="en-US" sz="2000" dirty="0" err="1">
                <a:latin typeface="Times New Roman" pitchFamily="18" charset="0"/>
                <a:cs typeface="Times New Roman" pitchFamily="18" charset="0"/>
              </a:rPr>
              <a:t>q</a:t>
            </a:r>
            <a:r>
              <a:rPr lang="en-US" sz="2000" baseline="-25000" dirty="0" err="1">
                <a:latin typeface="Times New Roman" pitchFamily="18" charset="0"/>
                <a:cs typeface="Times New Roman" pitchFamily="18" charset="0"/>
              </a:rPr>
              <a:t>i</a:t>
            </a:r>
            <a:r>
              <a:rPr lang="en-US" sz="2000" dirty="0">
                <a:latin typeface="Times New Roman" pitchFamily="18" charset="0"/>
                <a:cs typeface="Times New Roman" pitchFamily="18" charset="0"/>
              </a:rPr>
              <a:t> ).</a:t>
            </a:r>
          </a:p>
          <a:p>
            <a:pPr algn="just" fontAlgn="base"/>
            <a:r>
              <a:rPr lang="en-US" sz="2000" dirty="0">
                <a:latin typeface="Times New Roman" pitchFamily="18" charset="0"/>
                <a:cs typeface="Times New Roman" pitchFamily="18" charset="0"/>
              </a:rPr>
              <a:t>In our example, the three states are weather conditions: Sunny(q1), Cloudy(q2) and </a:t>
            </a:r>
            <a:r>
              <a:rPr lang="en-US" sz="2000" dirty="0"/>
              <a:t>Rainy(q3)</a:t>
            </a:r>
          </a:p>
          <a:p>
            <a:pPr algn="just" fontAlgn="base"/>
            <a:endParaRPr lang="en-US" sz="2000" dirty="0">
              <a:latin typeface="Times New Roman" pitchFamily="18" charset="0"/>
              <a:cs typeface="Times New Roman" pitchFamily="18" charset="0"/>
            </a:endParaRPr>
          </a:p>
          <a:p>
            <a:pPr algn="just" fontAlgn="base"/>
            <a:r>
              <a:rPr lang="en-US" sz="2000" dirty="0">
                <a:latin typeface="Times New Roman" pitchFamily="18" charset="0"/>
                <a:cs typeface="Times New Roman" pitchFamily="18" charset="0"/>
              </a:rPr>
              <a:t>Time is also discrete, such that the chain can be at a certain state </a:t>
            </a:r>
            <a:r>
              <a:rPr lang="en-US" sz="2000" i="1" dirty="0" err="1">
                <a:latin typeface="Times New Roman" pitchFamily="18" charset="0"/>
                <a:cs typeface="Times New Roman" pitchFamily="18" charset="0"/>
              </a:rPr>
              <a:t>q</a:t>
            </a:r>
            <a:r>
              <a:rPr lang="en-US" sz="2000" i="1" baseline="-25000" dirty="0" err="1">
                <a:latin typeface="Times New Roman" pitchFamily="18" charset="0"/>
                <a:cs typeface="Times New Roman" pitchFamily="18" charset="0"/>
              </a:rPr>
              <a:t>i</a:t>
            </a:r>
            <a:r>
              <a:rPr lang="en-US" sz="2000" dirty="0">
                <a:latin typeface="Times New Roman" pitchFamily="18" charset="0"/>
                <a:cs typeface="Times New Roman" pitchFamily="18" charset="0"/>
              </a:rPr>
              <a:t> for each time step </a:t>
            </a:r>
            <a:r>
              <a:rPr lang="en-US" sz="2000" i="1" dirty="0">
                <a:latin typeface="Times New Roman" pitchFamily="18" charset="0"/>
                <a:cs typeface="Times New Roman" pitchFamily="18" charset="0"/>
              </a:rPr>
              <a:t>t</a:t>
            </a:r>
            <a:r>
              <a:rPr lang="en-US" sz="2000" dirty="0">
                <a:latin typeface="Times New Roman" pitchFamily="18" charset="0"/>
                <a:cs typeface="Times New Roman" pitchFamily="18" charset="0"/>
              </a:rPr>
              <a:t>. It satisfies the Markov property, that is, the probability of the next state depends only on the current state.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3400"/>
            <a:ext cx="9144000" cy="769441"/>
          </a:xfrm>
          <a:prstGeom prst="rect">
            <a:avLst/>
          </a:prstGeom>
        </p:spPr>
        <p:txBody>
          <a:bodyPr wrap="square">
            <a:spAutoFit/>
          </a:bodyPr>
          <a:lstStyle/>
          <a:p>
            <a:pPr fontAlgn="base"/>
            <a:r>
              <a:rPr lang="en-US" sz="2400" b="1" dirty="0">
                <a:latin typeface="Times New Roman" pitchFamily="18" charset="0"/>
                <a:cs typeface="Times New Roman" pitchFamily="18" charset="0"/>
              </a:rPr>
              <a:t>Properties of a Markov Chain</a:t>
            </a:r>
          </a:p>
          <a:p>
            <a:pPr fontAlgn="base"/>
            <a:r>
              <a:rPr lang="en-US" sz="2000" dirty="0">
                <a:latin typeface="Times New Roman" pitchFamily="18" charset="0"/>
                <a:cs typeface="Times New Roman" pitchFamily="18" charset="0"/>
              </a:rPr>
              <a:t>A Markov chain satisfies the following properties:</a:t>
            </a:r>
          </a:p>
        </p:txBody>
      </p:sp>
      <p:sp>
        <p:nvSpPr>
          <p:cNvPr id="38913" name="Rectangle 1"/>
          <p:cNvSpPr>
            <a:spLocks noChangeArrowheads="1"/>
          </p:cNvSpPr>
          <p:nvPr/>
        </p:nvSpPr>
        <p:spPr bwMode="auto">
          <a:xfrm>
            <a:off x="0" y="1524000"/>
            <a:ext cx="9144000" cy="2918031"/>
          </a:xfrm>
          <a:prstGeom prst="rect">
            <a:avLst/>
          </a:prstGeom>
          <a:solidFill>
            <a:srgbClr val="FFFFFF"/>
          </a:solidFill>
          <a:ln w="9525">
            <a:noFill/>
            <a:miter lim="800000"/>
            <a:headEnd/>
            <a:tailEnd/>
          </a:ln>
          <a:effectLst/>
        </p:spPr>
        <p:txBody>
          <a:bodyPr vert="horz" wrap="square" lIns="476100" tIns="0" rIns="0" bIns="23805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sz="2400" b="0" i="0" u="none" strike="noStrike" cap="none" normalizeH="0" baseline="0" dirty="0">
                <a:ln>
                  <a:noFill/>
                </a:ln>
                <a:solidFill>
                  <a:srgbClr val="292929"/>
                </a:solidFill>
                <a:effectLst/>
                <a:latin typeface="Times New Roman" pitchFamily="18" charset="0"/>
                <a:cs typeface="Times New Roman" pitchFamily="18" charset="0"/>
              </a:rPr>
              <a:t>Probability axioms i.e., sum of all probabilities should be one: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sz="2400" b="0" i="0" u="none" strike="noStrike" cap="none" normalizeH="0" baseline="0" dirty="0">
                <a:ln>
                  <a:noFill/>
                </a:ln>
                <a:solidFill>
                  <a:srgbClr val="292929"/>
                </a:solidFill>
                <a:effectLst/>
                <a:latin typeface="Times New Roman" pitchFamily="18" charset="0"/>
                <a:cs typeface="Times New Roman" pitchFamily="18" charset="0"/>
              </a:rPr>
              <a:t>Markov property:</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P(S</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t</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q</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 j</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S</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t−1</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a:t>
            </a:r>
            <a:r>
              <a:rPr kumimoji="0" lang="en-US" sz="2400" b="0" i="1" u="none" strike="noStrike" cap="none" normalizeH="0" baseline="0" dirty="0" err="1">
                <a:ln>
                  <a:noFill/>
                </a:ln>
                <a:solidFill>
                  <a:srgbClr val="292929"/>
                </a:solidFill>
                <a:effectLst/>
                <a:latin typeface="Times New Roman" pitchFamily="18" charset="0"/>
                <a:cs typeface="Times New Roman" pitchFamily="18" charset="0"/>
              </a:rPr>
              <a:t>q</a:t>
            </a:r>
            <a:r>
              <a:rPr kumimoji="0" lang="en-US" sz="2400" b="0" i="1" u="none" strike="noStrike" cap="none" normalizeH="0" baseline="-30000" dirty="0" err="1">
                <a:ln>
                  <a:noFill/>
                </a:ln>
                <a:solidFill>
                  <a:srgbClr val="292929"/>
                </a:solidFill>
                <a:effectLst/>
                <a:latin typeface="Times New Roman" pitchFamily="18" charset="0"/>
                <a:cs typeface="Times New Roman" pitchFamily="18" charset="0"/>
              </a:rPr>
              <a:t>i</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S</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t−2</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a:t>
            </a:r>
            <a:r>
              <a:rPr kumimoji="0" lang="en-US" sz="2400" b="0" i="1" u="none" strike="noStrike" cap="none" normalizeH="0" baseline="0" dirty="0" err="1">
                <a:ln>
                  <a:noFill/>
                </a:ln>
                <a:solidFill>
                  <a:srgbClr val="292929"/>
                </a:solidFill>
                <a:effectLst/>
                <a:latin typeface="Times New Roman" pitchFamily="18" charset="0"/>
                <a:cs typeface="Times New Roman" pitchFamily="18" charset="0"/>
              </a:rPr>
              <a:t>q</a:t>
            </a:r>
            <a:r>
              <a:rPr kumimoji="0" lang="en-US" sz="2400" b="0" i="1" u="none" strike="noStrike" cap="none" normalizeH="0" baseline="-30000" dirty="0" err="1">
                <a:ln>
                  <a:noFill/>
                </a:ln>
                <a:solidFill>
                  <a:srgbClr val="292929"/>
                </a:solidFill>
                <a:effectLst/>
                <a:latin typeface="Times New Roman" pitchFamily="18" charset="0"/>
                <a:cs typeface="Times New Roman" pitchFamily="18" charset="0"/>
              </a:rPr>
              <a:t>k</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 .) = P(S</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t</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q</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 j</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S</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t−1</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a:t>
            </a:r>
            <a:r>
              <a:rPr kumimoji="0" lang="en-US" sz="2400" b="0" i="1" u="none" strike="noStrike" cap="none" normalizeH="0" baseline="0" dirty="0" err="1">
                <a:ln>
                  <a:noFill/>
                </a:ln>
                <a:solidFill>
                  <a:srgbClr val="292929"/>
                </a:solidFill>
                <a:effectLst/>
                <a:latin typeface="Times New Roman" pitchFamily="18" charset="0"/>
                <a:cs typeface="Times New Roman" pitchFamily="18" charset="0"/>
              </a:rPr>
              <a:t>q</a:t>
            </a:r>
            <a:r>
              <a:rPr kumimoji="0" lang="en-US" sz="2400" b="0" i="1" u="none" strike="noStrike" cap="none" normalizeH="0" baseline="-30000" dirty="0" err="1">
                <a:ln>
                  <a:noFill/>
                </a:ln>
                <a:solidFill>
                  <a:srgbClr val="292929"/>
                </a:solidFill>
                <a:effectLst/>
                <a:latin typeface="Times New Roman" pitchFamily="18" charset="0"/>
                <a:cs typeface="Times New Roman" pitchFamily="18" charset="0"/>
              </a:rPr>
              <a:t>i</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a:t>
            </a:r>
            <a:endParaRPr kumimoji="0" lang="en-US" sz="2400" b="0" i="0" u="none" strike="noStrike" cap="none" normalizeH="0" baseline="0" dirty="0">
              <a:ln>
                <a:noFill/>
              </a:ln>
              <a:solidFill>
                <a:srgbClr val="3A3A3A"/>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292929"/>
                </a:solidFill>
                <a:effectLst/>
                <a:latin typeface="Times New Roman" pitchFamily="18" charset="0"/>
                <a:cs typeface="Times New Roman" pitchFamily="18" charset="0"/>
              </a:rPr>
              <a:t>For example, consider the previous simple weather model with three states: </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q</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1</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sunny</a:t>
            </a:r>
            <a:r>
              <a:rPr kumimoji="0" lang="en-US" sz="2400" b="0" i="0" u="none" strike="noStrike" cap="none" normalizeH="0" baseline="0" dirty="0">
                <a:ln>
                  <a:noFill/>
                </a:ln>
                <a:solidFill>
                  <a:srgbClr val="292929"/>
                </a:solidFill>
                <a:effectLst/>
                <a:latin typeface="Times New Roman" pitchFamily="18" charset="0"/>
                <a:cs typeface="Times New Roman" pitchFamily="18" charset="0"/>
              </a:rPr>
              <a:t>, q</a:t>
            </a:r>
            <a:r>
              <a:rPr kumimoji="0" lang="en-US" sz="2400" b="0" i="0" u="none" strike="noStrike" cap="none" normalizeH="0" baseline="-30000" dirty="0">
                <a:ln>
                  <a:noFill/>
                </a:ln>
                <a:solidFill>
                  <a:srgbClr val="292929"/>
                </a:solidFill>
                <a:effectLst/>
                <a:latin typeface="Times New Roman" pitchFamily="18" charset="0"/>
                <a:cs typeface="Times New Roman" pitchFamily="18" charset="0"/>
              </a:rPr>
              <a:t>2</a:t>
            </a:r>
            <a:r>
              <a:rPr kumimoji="0" lang="en-US" sz="2400" b="0" i="0" u="none" strike="noStrike" cap="none" normalizeH="0" baseline="0" dirty="0">
                <a:ln>
                  <a:noFill/>
                </a:ln>
                <a:solidFill>
                  <a:srgbClr val="292929"/>
                </a:solidFill>
                <a:effectLst/>
                <a:latin typeface="Times New Roman" pitchFamily="18" charset="0"/>
                <a:cs typeface="Times New Roman" pitchFamily="18" charset="0"/>
              </a:rPr>
              <a:t> = cloudy</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*q</a:t>
            </a:r>
            <a:r>
              <a:rPr kumimoji="0" lang="en-US" sz="2400" b="0" i="1" u="none" strike="noStrike" cap="none" normalizeH="0" baseline="-30000" dirty="0">
                <a:ln>
                  <a:noFill/>
                </a:ln>
                <a:solidFill>
                  <a:srgbClr val="292929"/>
                </a:solidFill>
                <a:effectLst/>
                <a:latin typeface="Times New Roman" pitchFamily="18" charset="0"/>
                <a:cs typeface="Times New Roman" pitchFamily="18" charset="0"/>
              </a:rPr>
              <a:t>3</a:t>
            </a:r>
            <a:r>
              <a:rPr kumimoji="0" lang="en-US" sz="2400" b="0" i="1" u="none" strike="noStrike" cap="none" normalizeH="0" baseline="0" dirty="0">
                <a:ln>
                  <a:noFill/>
                </a:ln>
                <a:solidFill>
                  <a:srgbClr val="292929"/>
                </a:solidFill>
                <a:effectLst/>
                <a:latin typeface="Times New Roman" pitchFamily="18" charset="0"/>
                <a:cs typeface="Times New Roman" pitchFamily="18" charset="0"/>
              </a:rPr>
              <a:t> = raining</a:t>
            </a:r>
            <a:r>
              <a:rPr kumimoji="0" lang="en-US" sz="2400" b="0" i="0" u="none" strike="noStrike" cap="none" normalizeH="0" baseline="0" dirty="0">
                <a:ln>
                  <a:noFill/>
                </a:ln>
                <a:solidFill>
                  <a:srgbClr val="292929"/>
                </a:solidFill>
                <a:effectLst/>
                <a:latin typeface="Times New Roman" pitchFamily="18" charset="0"/>
                <a:cs typeface="Times New Roman" pitchFamily="18" charset="0"/>
              </a:rPr>
              <a:t>. In this case to specify an MC we will require a vector with three prior probabilit</a:t>
            </a:r>
            <a:r>
              <a:rPr lang="en-US" sz="2400" dirty="0">
                <a:solidFill>
                  <a:srgbClr val="292929"/>
                </a:solidFill>
                <a:latin typeface="Times New Roman" pitchFamily="18" charset="0"/>
                <a:cs typeface="Times New Roman" pitchFamily="18" charset="0"/>
              </a:rPr>
              <a:t>ies.</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hlinkClick r:id="rId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3A3A3A"/>
                </a:solidFill>
                <a:effectLst/>
                <a:latin typeface="roboto"/>
                <a:cs typeface="Arial" pitchFamily="34" charset="0"/>
                <a:hlinkClick r:id="rId2"/>
              </a:rPr>
              <a:t>  </a:t>
            </a:r>
            <a:endParaRPr kumimoji="0" lang="en-US" sz="3100" b="0" i="0" u="none" strike="noStrike" cap="none" normalizeH="0" baseline="0" dirty="0">
              <a:ln>
                <a:noFill/>
              </a:ln>
              <a:solidFill>
                <a:srgbClr val="3A3A3A"/>
              </a:solidFill>
              <a:effectLst/>
              <a:latin typeface="roboto"/>
              <a:cs typeface="Arial" pitchFamily="34" charset="0"/>
            </a:endParaRPr>
          </a:p>
        </p:txBody>
      </p:sp>
      <p:sp>
        <p:nvSpPr>
          <p:cNvPr id="38914" name="AutoShape 2" descr="MC probability axiom"/>
          <p:cNvSpPr>
            <a:spLocks noChangeAspect="1" noChangeArrowheads="1"/>
          </p:cNvSpPr>
          <p:nvPr/>
        </p:nvSpPr>
        <p:spPr bwMode="auto">
          <a:xfrm>
            <a:off x="4189413" y="-136525"/>
            <a:ext cx="1828800" cy="2857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8915" name="AutoShape 3" descr="Markov chain prior probabilities for the weather example">
            <a:hlinkClick r:id="rId2"/>
          </p:cNvPr>
          <p:cNvSpPr>
            <a:spLocks noChangeAspect="1" noChangeArrowheads="1"/>
          </p:cNvSpPr>
          <p:nvPr/>
        </p:nvSpPr>
        <p:spPr bwMode="auto">
          <a:xfrm>
            <a:off x="42863" y="411163"/>
            <a:ext cx="3524250" cy="504825"/>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8917" name="AutoShape 5" descr="https://www.machinelearningplus.com/wp-content/uploads/2020/05/prior-prob-for-MC-300x53.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8919" name="AutoShape 7" descr="https://www.machinelearningplus.com/wp-content/uploads/2020/05/prior-prob-for-MC-300x53.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srcRect l="9839" t="37500" r="35139" b="17500"/>
          <a:stretch>
            <a:fillRect/>
          </a:stretch>
        </p:blipFill>
        <p:spPr bwMode="auto">
          <a:xfrm>
            <a:off x="0" y="685800"/>
            <a:ext cx="8763000" cy="41148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533400"/>
            <a:ext cx="8305800" cy="1323439"/>
          </a:xfrm>
          <a:prstGeom prst="rect">
            <a:avLst/>
          </a:prstGeom>
        </p:spPr>
        <p:txBody>
          <a:bodyPr wrap="square">
            <a:spAutoFit/>
          </a:bodyPr>
          <a:lstStyle/>
          <a:p>
            <a:pPr algn="just" fontAlgn="base"/>
            <a:r>
              <a:rPr lang="en-US" sz="2000" dirty="0">
                <a:latin typeface="Times New Roman" pitchFamily="18" charset="0"/>
                <a:cs typeface="Times New Roman" pitchFamily="18" charset="0"/>
              </a:rPr>
              <a:t>This diagram is a directed graph, where each node is a state and the arcs represent possible transitions between states.</a:t>
            </a:r>
          </a:p>
          <a:p>
            <a:pPr algn="just" fontAlgn="base"/>
            <a:r>
              <a:rPr lang="en-US" sz="2000" dirty="0">
                <a:latin typeface="Times New Roman" pitchFamily="18" charset="0"/>
                <a:cs typeface="Times New Roman" pitchFamily="18" charset="0"/>
              </a:rPr>
              <a:t>If an arc between state </a:t>
            </a:r>
            <a:r>
              <a:rPr lang="en-US" sz="2000" dirty="0" err="1">
                <a:latin typeface="Times New Roman" pitchFamily="18" charset="0"/>
                <a:cs typeface="Times New Roman" pitchFamily="18" charset="0"/>
              </a:rPr>
              <a:t>q</a:t>
            </a:r>
            <a:r>
              <a:rPr lang="en-US" sz="2000" baseline="-25000" dirty="0" err="1">
                <a:latin typeface="Times New Roman" pitchFamily="18" charset="0"/>
                <a:cs typeface="Times New Roman" pitchFamily="18" charset="0"/>
              </a:rPr>
              <a:t>i</a:t>
            </a:r>
            <a:r>
              <a:rPr lang="en-US" sz="2000" dirty="0">
                <a:latin typeface="Times New Roman" pitchFamily="18" charset="0"/>
                <a:cs typeface="Times New Roman" pitchFamily="18" charset="0"/>
              </a:rPr>
              <a:t> and q</a:t>
            </a:r>
            <a:r>
              <a:rPr lang="en-US" sz="2000" baseline="-25000" dirty="0">
                <a:latin typeface="Times New Roman" pitchFamily="18" charset="0"/>
                <a:cs typeface="Times New Roman" pitchFamily="18" charset="0"/>
              </a:rPr>
              <a:t> j</a:t>
            </a:r>
            <a:r>
              <a:rPr lang="en-US" sz="2000" dirty="0">
                <a:latin typeface="Times New Roman" pitchFamily="18" charset="0"/>
                <a:cs typeface="Times New Roman" pitchFamily="18" charset="0"/>
              </a:rPr>
              <a:t> does not appear in the diagram, it means that the corresponding transition probability is zero. </a:t>
            </a:r>
          </a:p>
        </p:txBody>
      </p:sp>
      <p:sp>
        <p:nvSpPr>
          <p:cNvPr id="40962" name="AutoShape 2" descr="state transition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0963" name="Picture 3"/>
          <p:cNvPicPr>
            <a:picLocks noChangeAspect="1" noChangeArrowheads="1"/>
          </p:cNvPicPr>
          <p:nvPr/>
        </p:nvPicPr>
        <p:blipFill>
          <a:blip r:embed="rId2"/>
          <a:srcRect l="10542" t="40000" r="39356" b="37500"/>
          <a:stretch>
            <a:fillRect/>
          </a:stretch>
        </p:blipFill>
        <p:spPr bwMode="auto">
          <a:xfrm>
            <a:off x="304800" y="2926080"/>
            <a:ext cx="8534400" cy="294132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57200"/>
            <a:ext cx="8686800" cy="3477875"/>
          </a:xfrm>
          <a:prstGeom prst="rect">
            <a:avLst/>
          </a:prstGeom>
        </p:spPr>
        <p:txBody>
          <a:bodyPr wrap="square">
            <a:spAutoFit/>
          </a:bodyPr>
          <a:lstStyle/>
          <a:p>
            <a:pPr algn="ctr" fontAlgn="base"/>
            <a:r>
              <a:rPr lang="en-US" sz="2000" b="1" dirty="0">
                <a:latin typeface="Times New Roman" pitchFamily="18" charset="0"/>
                <a:cs typeface="Times New Roman" pitchFamily="18" charset="0"/>
              </a:rPr>
              <a:t>How are the transition probabilities computed?</a:t>
            </a:r>
          </a:p>
          <a:p>
            <a:pPr algn="just" fontAlgn="base"/>
            <a:r>
              <a:rPr lang="en-US" sz="2000" dirty="0">
                <a:latin typeface="Times New Roman" pitchFamily="18" charset="0"/>
                <a:cs typeface="Times New Roman" pitchFamily="18" charset="0"/>
              </a:rPr>
              <a:t>They are typically established over a long history of sequential data.</a:t>
            </a:r>
          </a:p>
          <a:p>
            <a:pPr algn="just" fontAlgn="base"/>
            <a:r>
              <a:rPr lang="en-US" sz="2000" dirty="0">
                <a:latin typeface="Times New Roman" pitchFamily="18" charset="0"/>
                <a:cs typeface="Times New Roman" pitchFamily="18" charset="0"/>
              </a:rPr>
              <a:t>For example: Let’s say, we would know the sequence of sunny, cloudy and rainy days for a long duration, lets say 2 years. If in the 2 years, the total number of sunny days is 100, and out of that if the next day was a cloudy day 20 percent of the times, then the transition probability of Sunny -&gt; Cloudy would be 20/100 = 0.2.</a:t>
            </a:r>
          </a:p>
          <a:p>
            <a:pPr algn="just" fontAlgn="base"/>
            <a:endParaRPr lang="en-US" sz="2000" dirty="0">
              <a:latin typeface="Times New Roman" pitchFamily="18" charset="0"/>
              <a:cs typeface="Times New Roman" pitchFamily="18" charset="0"/>
            </a:endParaRPr>
          </a:p>
          <a:p>
            <a:pPr algn="just" fontAlgn="base"/>
            <a:endParaRPr lang="en-US" sz="2000" dirty="0">
              <a:latin typeface="Times New Roman" pitchFamily="18" charset="0"/>
              <a:cs typeface="Times New Roman" pitchFamily="18" charset="0"/>
            </a:endParaRPr>
          </a:p>
          <a:p>
            <a:pPr algn="just" fontAlgn="base"/>
            <a:r>
              <a:rPr lang="en-US" sz="2000" dirty="0">
                <a:latin typeface="Times New Roman" pitchFamily="18" charset="0"/>
                <a:cs typeface="Times New Roman" pitchFamily="18" charset="0"/>
              </a:rPr>
              <a:t>Likewise, all possible combinations are computed and the transition probability matrix is formed.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8991600" cy="2308324"/>
          </a:xfrm>
          <a:prstGeom prst="rect">
            <a:avLst/>
          </a:prstGeom>
        </p:spPr>
        <p:txBody>
          <a:bodyPr wrap="square">
            <a:spAutoFit/>
          </a:bodyPr>
          <a:lstStyle/>
          <a:p>
            <a:pPr algn="just"/>
            <a:r>
              <a:rPr lang="en-US" b="1" dirty="0">
                <a:latin typeface="Times New Roman" pitchFamily="18" charset="0"/>
                <a:cs typeface="Times New Roman" pitchFamily="18" charset="0"/>
              </a:rPr>
              <a:t>The Markov Property</a:t>
            </a:r>
          </a:p>
          <a:p>
            <a:pPr algn="just"/>
            <a:r>
              <a:rPr lang="en-US" dirty="0">
                <a:latin typeface="Times New Roman" pitchFamily="18" charset="0"/>
                <a:cs typeface="Times New Roman" pitchFamily="18" charset="0"/>
              </a:rPr>
              <a:t>The second important criterion for the MDP is the </a:t>
            </a:r>
            <a:r>
              <a:rPr lang="en-US" b="1" dirty="0">
                <a:latin typeface="Times New Roman" pitchFamily="18" charset="0"/>
                <a:cs typeface="Times New Roman" pitchFamily="18" charset="0"/>
              </a:rPr>
              <a:t>Markov property</a:t>
            </a:r>
            <a:r>
              <a:rPr lang="en-US" dirty="0">
                <a:latin typeface="Times New Roman" pitchFamily="18" charset="0"/>
                <a:cs typeface="Times New Roman" pitchFamily="18" charset="0"/>
              </a:rPr>
              <a:t>. The Markov property indicates that the future system dynamics of each state must only depend on the current state. This means that </a:t>
            </a:r>
            <a:r>
              <a:rPr lang="en-US" b="1" dirty="0">
                <a:latin typeface="Times New Roman" pitchFamily="18" charset="0"/>
                <a:cs typeface="Times New Roman" pitchFamily="18" charset="0"/>
              </a:rPr>
              <a:t>each state is self-contained to describe the future of the system</a:t>
            </a:r>
            <a:r>
              <a:rPr lang="en-US" dirty="0">
                <a:latin typeface="Times New Roman" pitchFamily="18" charset="0"/>
                <a:cs typeface="Times New Roman" pitchFamily="18" charset="0"/>
              </a:rPr>
              <a:t>. Only one state is required to model the future dynamics of the system, not the entire history of past states or n-steps from the past of the Markov Chain. Furthermore, </a:t>
            </a:r>
            <a:r>
              <a:rPr lang="en-US" b="1" dirty="0">
                <a:latin typeface="Times New Roman" pitchFamily="18" charset="0"/>
                <a:cs typeface="Times New Roman" pitchFamily="18" charset="0"/>
              </a:rPr>
              <a:t>the Markov property implies </a:t>
            </a:r>
            <a:r>
              <a:rPr lang="en-US" b="1" dirty="0" err="1">
                <a:latin typeface="Times New Roman" pitchFamily="18" charset="0"/>
                <a:cs typeface="Times New Roman" pitchFamily="18" charset="0"/>
              </a:rPr>
              <a:t>stationarity</a:t>
            </a:r>
            <a:r>
              <a:rPr lang="en-US" dirty="0">
                <a:latin typeface="Times New Roman" pitchFamily="18" charset="0"/>
                <a:cs typeface="Times New Roman" pitchFamily="18" charset="0"/>
              </a:rPr>
              <a:t>, which means that the underlying</a:t>
            </a:r>
            <a:r>
              <a:rPr lang="en-US" b="1" dirty="0">
                <a:latin typeface="Times New Roman" pitchFamily="18" charset="0"/>
                <a:cs typeface="Times New Roman" pitchFamily="18" charset="0"/>
              </a:rPr>
              <a:t> transition probabilities</a:t>
            </a:r>
            <a:r>
              <a:rPr lang="en-US" dirty="0">
                <a:latin typeface="Times New Roman" pitchFamily="18" charset="0"/>
                <a:cs typeface="Times New Roman" pitchFamily="18" charset="0"/>
              </a:rPr>
              <a:t> for each state do not change over time.</a:t>
            </a:r>
          </a:p>
        </p:txBody>
      </p:sp>
      <p:pic>
        <p:nvPicPr>
          <p:cNvPr id="29698" name="Picture 2" descr="https://miro.medium.com/max/630/1*YdMtYjGSNWLVqYbWFitdHQ.png"/>
          <p:cNvPicPr>
            <a:picLocks noChangeAspect="1" noChangeArrowheads="1"/>
          </p:cNvPicPr>
          <p:nvPr/>
        </p:nvPicPr>
        <p:blipFill>
          <a:blip r:embed="rId2"/>
          <a:srcRect/>
          <a:stretch>
            <a:fillRect/>
          </a:stretch>
        </p:blipFill>
        <p:spPr bwMode="auto">
          <a:xfrm>
            <a:off x="1066800" y="2371724"/>
            <a:ext cx="6000750" cy="4486276"/>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585323"/>
          </a:xfrm>
          <a:prstGeom prst="rect">
            <a:avLst/>
          </a:prstGeom>
        </p:spPr>
        <p:txBody>
          <a:bodyPr wrap="square">
            <a:spAutoFit/>
          </a:bodyPr>
          <a:lstStyle/>
          <a:p>
            <a:pPr algn="just"/>
            <a:r>
              <a:rPr lang="en-US" dirty="0">
                <a:latin typeface="Times New Roman" pitchFamily="18" charset="0"/>
                <a:cs typeface="Times New Roman" pitchFamily="18" charset="0"/>
              </a:rPr>
              <a:t>An example of the transition probabilities underlying an environment can be seen in the figure above. If the agent is in state </a:t>
            </a:r>
            <a:r>
              <a:rPr lang="en-US" b="1" i="1" dirty="0">
                <a:latin typeface="Times New Roman" pitchFamily="18" charset="0"/>
                <a:cs typeface="Times New Roman" pitchFamily="18" charset="0"/>
              </a:rPr>
              <a:t>s1</a:t>
            </a:r>
            <a:r>
              <a:rPr lang="en-US" dirty="0">
                <a:latin typeface="Times New Roman" pitchFamily="18" charset="0"/>
                <a:cs typeface="Times New Roman" pitchFamily="18" charset="0"/>
              </a:rPr>
              <a:t>, it will change with a probability of</a:t>
            </a:r>
            <a:r>
              <a:rPr lang="en-US" b="1" i="1" dirty="0">
                <a:latin typeface="Times New Roman" pitchFamily="18" charset="0"/>
                <a:cs typeface="Times New Roman" pitchFamily="18" charset="0"/>
              </a:rPr>
              <a:t> p(s3|s1) = 0.6</a:t>
            </a:r>
            <a:r>
              <a:rPr lang="en-US" dirty="0">
                <a:latin typeface="Times New Roman" pitchFamily="18" charset="0"/>
                <a:cs typeface="Times New Roman" pitchFamily="18" charset="0"/>
              </a:rPr>
              <a:t> in state </a:t>
            </a:r>
            <a:r>
              <a:rPr lang="en-US" b="1" i="1" dirty="0">
                <a:latin typeface="Times New Roman" pitchFamily="18" charset="0"/>
                <a:cs typeface="Times New Roman" pitchFamily="18" charset="0"/>
              </a:rPr>
              <a:t>s3</a:t>
            </a:r>
            <a:r>
              <a:rPr lang="en-US" dirty="0">
                <a:latin typeface="Times New Roman" pitchFamily="18" charset="0"/>
                <a:cs typeface="Times New Roman" pitchFamily="18" charset="0"/>
              </a:rPr>
              <a:t>. If the agent is in state </a:t>
            </a:r>
            <a:r>
              <a:rPr lang="en-US" b="1" i="1" dirty="0">
                <a:latin typeface="Times New Roman" pitchFamily="18" charset="0"/>
                <a:cs typeface="Times New Roman" pitchFamily="18" charset="0"/>
              </a:rPr>
              <a:t>s1</a:t>
            </a:r>
            <a:r>
              <a:rPr lang="en-US" dirty="0">
                <a:latin typeface="Times New Roman" pitchFamily="18" charset="0"/>
                <a:cs typeface="Times New Roman" pitchFamily="18" charset="0"/>
              </a:rPr>
              <a:t>, it stays in state </a:t>
            </a:r>
            <a:r>
              <a:rPr lang="en-US" b="1" i="1" dirty="0">
                <a:latin typeface="Times New Roman" pitchFamily="18" charset="0"/>
                <a:cs typeface="Times New Roman" pitchFamily="18" charset="0"/>
              </a:rPr>
              <a:t>s1</a:t>
            </a:r>
            <a:r>
              <a:rPr lang="en-US" dirty="0">
                <a:latin typeface="Times New Roman" pitchFamily="18" charset="0"/>
                <a:cs typeface="Times New Roman" pitchFamily="18" charset="0"/>
              </a:rPr>
              <a:t> with a probability of </a:t>
            </a:r>
            <a:r>
              <a:rPr lang="en-US" b="1" i="1" dirty="0">
                <a:latin typeface="Times New Roman" pitchFamily="18" charset="0"/>
                <a:cs typeface="Times New Roman" pitchFamily="18" charset="0"/>
              </a:rPr>
              <a:t>p(s1|s1) = 0.1</a:t>
            </a:r>
            <a:r>
              <a:rPr lang="en-US" dirty="0">
                <a:latin typeface="Times New Roman" pitchFamily="18" charset="0"/>
                <a:cs typeface="Times New Roman" pitchFamily="18" charset="0"/>
              </a:rPr>
              <a:t> and changes to state </a:t>
            </a:r>
            <a:r>
              <a:rPr lang="en-US" b="1" i="1" dirty="0">
                <a:latin typeface="Times New Roman" pitchFamily="18" charset="0"/>
                <a:cs typeface="Times New Roman" pitchFamily="18" charset="0"/>
              </a:rPr>
              <a:t>s2</a:t>
            </a:r>
            <a:r>
              <a:rPr lang="en-US" dirty="0">
                <a:latin typeface="Times New Roman" pitchFamily="18" charset="0"/>
                <a:cs typeface="Times New Roman" pitchFamily="18" charset="0"/>
              </a:rPr>
              <a:t> with a probability of </a:t>
            </a:r>
            <a:r>
              <a:rPr lang="en-US" b="1" i="1" dirty="0">
                <a:latin typeface="Times New Roman" pitchFamily="18" charset="0"/>
                <a:cs typeface="Times New Roman" pitchFamily="18" charset="0"/>
              </a:rPr>
              <a:t>p(s2|s1) = 0.3</a:t>
            </a:r>
            <a:r>
              <a:rPr lang="en-US" dirty="0">
                <a:latin typeface="Times New Roman" pitchFamily="18" charset="0"/>
                <a:cs typeface="Times New Roman" pitchFamily="18" charset="0"/>
              </a:rPr>
              <a:t>. These transition probabilities can also be represented in a so-called </a:t>
            </a:r>
            <a:r>
              <a:rPr lang="en-US" b="1" dirty="0">
                <a:latin typeface="Times New Roman" pitchFamily="18" charset="0"/>
                <a:cs typeface="Times New Roman" pitchFamily="18" charset="0"/>
              </a:rPr>
              <a:t>transition matrix</a:t>
            </a:r>
            <a:r>
              <a:rPr lang="en-US" dirty="0">
                <a:latin typeface="Times New Roman" pitchFamily="18" charset="0"/>
                <a:cs typeface="Times New Roman" pitchFamily="18" charset="0"/>
              </a:rPr>
              <a:t>. In general, a Markov process is therefore defined by the </a:t>
            </a:r>
            <a:r>
              <a:rPr lang="en-US" dirty="0" err="1">
                <a:latin typeface="Times New Roman" pitchFamily="18" charset="0"/>
                <a:cs typeface="Times New Roman" pitchFamily="18" charset="0"/>
              </a:rPr>
              <a:t>tuple</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(S, P)</a:t>
            </a:r>
            <a:r>
              <a:rPr lang="en-US" dirty="0">
                <a:latin typeface="Times New Roman" pitchFamily="18" charset="0"/>
                <a:cs typeface="Times New Roman" pitchFamily="18" charset="0"/>
              </a:rPr>
              <a:t>. Where </a:t>
            </a:r>
            <a:r>
              <a:rPr lang="en-US" b="1" dirty="0">
                <a:latin typeface="Times New Roman" pitchFamily="18" charset="0"/>
                <a:cs typeface="Times New Roman" pitchFamily="18" charset="0"/>
              </a:rPr>
              <a:t>S is the state space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P is the transition function</a:t>
            </a:r>
            <a:r>
              <a:rPr lang="en-US" dirty="0">
                <a:latin typeface="Times New Roman" pitchFamily="18" charset="0"/>
                <a:cs typeface="Times New Roman" pitchFamily="18" charset="0"/>
              </a:rPr>
              <a:t>, represented by the transition probabilities.</a:t>
            </a:r>
          </a:p>
          <a:p>
            <a:br>
              <a:rPr lang="en-US" dirty="0"/>
            </a:br>
            <a:endParaRPr lang="en-US" dirty="0"/>
          </a:p>
        </p:txBody>
      </p:sp>
      <p:pic>
        <p:nvPicPr>
          <p:cNvPr id="30722" name="Picture 2" descr="https://miro.medium.com/max/225/1*GYEXQM37T2vPTZcdT4I_JQ.png"/>
          <p:cNvPicPr>
            <a:picLocks noChangeAspect="1" noChangeArrowheads="1"/>
          </p:cNvPicPr>
          <p:nvPr/>
        </p:nvPicPr>
        <p:blipFill>
          <a:blip r:embed="rId2"/>
          <a:srcRect/>
          <a:stretch>
            <a:fillRect/>
          </a:stretch>
        </p:blipFill>
        <p:spPr bwMode="auto">
          <a:xfrm>
            <a:off x="0" y="2743200"/>
            <a:ext cx="3438525" cy="3200400"/>
          </a:xfrm>
          <a:prstGeom prst="rect">
            <a:avLst/>
          </a:prstGeom>
          <a:noFill/>
        </p:spPr>
      </p:pic>
      <p:sp>
        <p:nvSpPr>
          <p:cNvPr id="4" name="Rectangle 3"/>
          <p:cNvSpPr/>
          <p:nvPr/>
        </p:nvSpPr>
        <p:spPr>
          <a:xfrm>
            <a:off x="4038600" y="2286000"/>
            <a:ext cx="4572000" cy="923330"/>
          </a:xfrm>
          <a:prstGeom prst="rect">
            <a:avLst/>
          </a:prstGeom>
        </p:spPr>
        <p:txBody>
          <a:bodyPr>
            <a:spAutoFit/>
          </a:bodyPr>
          <a:lstStyle/>
          <a:p>
            <a:r>
              <a:rPr lang="en-US" b="1" dirty="0"/>
              <a:t>The Markov Reward Process</a:t>
            </a:r>
          </a:p>
          <a:p>
            <a:br>
              <a:rPr lang="en-US" dirty="0"/>
            </a:br>
            <a:endParaRPr lang="en-US" dirty="0"/>
          </a:p>
        </p:txBody>
      </p:sp>
      <p:pic>
        <p:nvPicPr>
          <p:cNvPr id="30724" name="Picture 4" descr="https://miro.medium.com/max/630/1*j8Hz527b1GzQB7EOkFqIyg.png"/>
          <p:cNvPicPr>
            <a:picLocks noChangeAspect="1" noChangeArrowheads="1"/>
          </p:cNvPicPr>
          <p:nvPr/>
        </p:nvPicPr>
        <p:blipFill>
          <a:blip r:embed="rId3"/>
          <a:srcRect/>
          <a:stretch>
            <a:fillRect/>
          </a:stretch>
        </p:blipFill>
        <p:spPr bwMode="auto">
          <a:xfrm>
            <a:off x="3810000" y="2667000"/>
            <a:ext cx="5334000" cy="39624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228600" y="533400"/>
            <a:ext cx="8686800" cy="2792327"/>
          </a:xfrm>
          <a:prstGeom prst="rect">
            <a:avLst/>
          </a:prstGeom>
          <a:solidFill>
            <a:srgbClr val="FFFFFF"/>
          </a:solidFill>
          <a:ln w="9525">
            <a:noFill/>
            <a:miter lim="800000"/>
            <a:headEnd/>
            <a:tailEnd/>
          </a:ln>
          <a:effectLst/>
        </p:spPr>
        <p:txBody>
          <a:bodyPr vert="horz" wrap="square" lIns="0" tIns="376119" rIns="0" bIns="-49197"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The Markov Property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Transition </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Moving from one state to another is called Transition.</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Transition Probability</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The probability that the agent will move from one state to another is called transition probability.</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solidFill>
                <a:srgbClr val="292929"/>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The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Markov Property</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state that :</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757575"/>
                </a:solidFill>
                <a:effectLst/>
                <a:latin typeface="Times New Roman" pitchFamily="18" charset="0"/>
                <a:cs typeface="Times New Roman" pitchFamily="18" charset="0"/>
              </a:rPr>
              <a:t>“</a:t>
            </a:r>
            <a:r>
              <a:rPr kumimoji="0" lang="en-US" sz="2000" b="1" u="none" strike="noStrike" cap="none" normalizeH="0" baseline="0" dirty="0">
                <a:ln>
                  <a:noFill/>
                </a:ln>
                <a:effectLst/>
                <a:latin typeface="Times New Roman" pitchFamily="18" charset="0"/>
                <a:cs typeface="Times New Roman" pitchFamily="18" charset="0"/>
              </a:rPr>
              <a:t>Future is Independent of the past given the present”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Mathematically we can express this statement as :</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17411" name="Picture 3" descr="https://miro.medium.com/max/495/1*Tr7GE76SiHh8_jVSYl2mug.png"/>
          <p:cNvPicPr>
            <a:picLocks noChangeAspect="1" noChangeArrowheads="1"/>
          </p:cNvPicPr>
          <p:nvPr/>
        </p:nvPicPr>
        <p:blipFill>
          <a:blip r:embed="rId2"/>
          <a:srcRect/>
          <a:stretch>
            <a:fillRect/>
          </a:stretch>
        </p:blipFill>
        <p:spPr bwMode="auto">
          <a:xfrm>
            <a:off x="2057400" y="3657600"/>
            <a:ext cx="4714875" cy="1219200"/>
          </a:xfrm>
          <a:prstGeom prst="rect">
            <a:avLst/>
          </a:prstGeom>
          <a:noFill/>
        </p:spPr>
      </p:pic>
      <p:sp>
        <p:nvSpPr>
          <p:cNvPr id="4" name="TextBox 3"/>
          <p:cNvSpPr txBox="1"/>
          <p:nvPr/>
        </p:nvSpPr>
        <p:spPr>
          <a:xfrm>
            <a:off x="304800" y="4648200"/>
            <a:ext cx="8610600" cy="1477328"/>
          </a:xfrm>
          <a:prstGeom prst="rect">
            <a:avLst/>
          </a:prstGeom>
          <a:noFill/>
        </p:spPr>
        <p:txBody>
          <a:bodyPr wrap="square" rtlCol="0">
            <a:spAutoFit/>
          </a:bodyPr>
          <a:lstStyle/>
          <a:p>
            <a:pPr algn="just"/>
            <a:r>
              <a:rPr lang="en-US" dirty="0">
                <a:latin typeface="Times New Roman" pitchFamily="18" charset="0"/>
                <a:cs typeface="Times New Roman" pitchFamily="18" charset="0"/>
              </a:rPr>
              <a:t>S[t] denotes the current state of the agent and s[t+1] denotes the next state. What this equation means is that the transition from state S[t] to S[t+1] is entirely independent of the past. So, the </a:t>
            </a:r>
            <a:r>
              <a:rPr lang="en-US" b="1" dirty="0">
                <a:latin typeface="Times New Roman" pitchFamily="18" charset="0"/>
                <a:cs typeface="Times New Roman" pitchFamily="18" charset="0"/>
              </a:rPr>
              <a:t>RHS</a:t>
            </a:r>
            <a:r>
              <a:rPr lang="en-US" dirty="0">
                <a:latin typeface="Times New Roman" pitchFamily="18" charset="0"/>
                <a:cs typeface="Times New Roman" pitchFamily="18" charset="0"/>
              </a:rPr>
              <a:t> of the Equation means the same as</a:t>
            </a:r>
            <a:r>
              <a:rPr lang="en-US" b="1" dirty="0">
                <a:latin typeface="Times New Roman" pitchFamily="18" charset="0"/>
                <a:cs typeface="Times New Roman" pitchFamily="18" charset="0"/>
              </a:rPr>
              <a:t> LHS</a:t>
            </a:r>
            <a:r>
              <a:rPr lang="en-US" dirty="0">
                <a:latin typeface="Times New Roman" pitchFamily="18" charset="0"/>
                <a:cs typeface="Times New Roman" pitchFamily="18" charset="0"/>
              </a:rPr>
              <a:t> if the system has a Markov Property. Intuitively meaning that our current state already captures the information of the past states.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458200" cy="2031325"/>
          </a:xfrm>
          <a:prstGeom prst="rect">
            <a:avLst/>
          </a:prstGeom>
        </p:spPr>
        <p:txBody>
          <a:bodyPr wrap="square">
            <a:spAutoFit/>
          </a:bodyPr>
          <a:lstStyle/>
          <a:p>
            <a:r>
              <a:rPr lang="en-US" b="1" dirty="0">
                <a:latin typeface="Times New Roman" pitchFamily="18" charset="0"/>
                <a:cs typeface="Times New Roman" pitchFamily="18" charset="0"/>
              </a:rPr>
              <a:t>State Transition Probability :</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As we now know about transition probability we can define state Transition Probability as follows :</a:t>
            </a:r>
          </a:p>
          <a:p>
            <a:r>
              <a:rPr lang="en-US" dirty="0">
                <a:latin typeface="Times New Roman" pitchFamily="18" charset="0"/>
                <a:cs typeface="Times New Roman" pitchFamily="18" charset="0"/>
              </a:rPr>
              <a:t>For Markov State from S[t] to S[t+1] i.e. any other successor state , the state transition probability is given by</a:t>
            </a:r>
          </a:p>
          <a:p>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18434" name="Picture 2" descr="https://miro.medium.com/max/285/1*LM6oPMUZSiEV78z0I2C3Hg.png"/>
          <p:cNvPicPr>
            <a:picLocks noChangeAspect="1" noChangeArrowheads="1"/>
          </p:cNvPicPr>
          <p:nvPr/>
        </p:nvPicPr>
        <p:blipFill>
          <a:blip r:embed="rId2"/>
          <a:srcRect/>
          <a:stretch>
            <a:fillRect/>
          </a:stretch>
        </p:blipFill>
        <p:spPr bwMode="auto">
          <a:xfrm>
            <a:off x="2743200" y="2209800"/>
            <a:ext cx="3962400" cy="990600"/>
          </a:xfrm>
          <a:prstGeom prst="rect">
            <a:avLst/>
          </a:prstGeom>
          <a:noFill/>
        </p:spPr>
      </p:pic>
      <p:sp>
        <p:nvSpPr>
          <p:cNvPr id="4" name="Rectangle 3"/>
          <p:cNvSpPr/>
          <p:nvPr/>
        </p:nvSpPr>
        <p:spPr>
          <a:xfrm>
            <a:off x="0" y="3276600"/>
            <a:ext cx="8839200" cy="1200329"/>
          </a:xfrm>
          <a:prstGeom prst="rect">
            <a:avLst/>
          </a:prstGeom>
        </p:spPr>
        <p:txBody>
          <a:bodyPr wrap="square">
            <a:spAutoFit/>
          </a:bodyPr>
          <a:lstStyle/>
          <a:p>
            <a:r>
              <a:rPr lang="en-US" dirty="0"/>
              <a:t>We can formulate the State Transition probability into a State Transition probability matrix by :</a:t>
            </a:r>
          </a:p>
          <a:p>
            <a:br>
              <a:rPr lang="en-US" dirty="0"/>
            </a:br>
            <a:endParaRPr lang="en-US" dirty="0"/>
          </a:p>
        </p:txBody>
      </p:sp>
      <p:pic>
        <p:nvPicPr>
          <p:cNvPr id="18436" name="Picture 4" descr="https://miro.medium.com/max/700/1*Pvxuu_e3VNRm81eHWYoyew.png"/>
          <p:cNvPicPr>
            <a:picLocks noChangeAspect="1" noChangeArrowheads="1"/>
          </p:cNvPicPr>
          <p:nvPr/>
        </p:nvPicPr>
        <p:blipFill>
          <a:blip r:embed="rId3"/>
          <a:srcRect/>
          <a:stretch>
            <a:fillRect/>
          </a:stretch>
        </p:blipFill>
        <p:spPr bwMode="auto">
          <a:xfrm>
            <a:off x="0" y="3924299"/>
            <a:ext cx="6667500" cy="2933701"/>
          </a:xfrm>
          <a:prstGeom prst="rect">
            <a:avLst/>
          </a:prstGeom>
          <a:noFill/>
        </p:spPr>
      </p:pic>
      <p:sp>
        <p:nvSpPr>
          <p:cNvPr id="6" name="Rectangle 5"/>
          <p:cNvSpPr/>
          <p:nvPr/>
        </p:nvSpPr>
        <p:spPr>
          <a:xfrm>
            <a:off x="6553200" y="3962400"/>
            <a:ext cx="2438400" cy="2308324"/>
          </a:xfrm>
          <a:prstGeom prst="rect">
            <a:avLst/>
          </a:prstGeom>
        </p:spPr>
        <p:txBody>
          <a:bodyPr wrap="square">
            <a:spAutoFit/>
          </a:bodyPr>
          <a:lstStyle/>
          <a:p>
            <a:pPr algn="just"/>
            <a:r>
              <a:rPr lang="en-US" dirty="0">
                <a:latin typeface="Times New Roman" pitchFamily="18" charset="0"/>
                <a:cs typeface="Times New Roman" pitchFamily="18" charset="0"/>
              </a:rPr>
              <a:t>Each row in the matrix represents the probability from moving from our original or starting state to any successor </a:t>
            </a:r>
            <a:r>
              <a:rPr lang="en-US" dirty="0" err="1">
                <a:latin typeface="Times New Roman" pitchFamily="18" charset="0"/>
                <a:cs typeface="Times New Roman" pitchFamily="18" charset="0"/>
              </a:rPr>
              <a:t>state.Sum</a:t>
            </a:r>
            <a:r>
              <a:rPr lang="en-US" dirty="0">
                <a:latin typeface="Times New Roman" pitchFamily="18" charset="0"/>
                <a:cs typeface="Times New Roman" pitchFamily="18" charset="0"/>
              </a:rPr>
              <a:t> of each row is equal to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839200" cy="2308324"/>
          </a:xfrm>
          <a:prstGeom prst="rect">
            <a:avLst/>
          </a:prstGeom>
        </p:spPr>
        <p:txBody>
          <a:bodyPr wrap="square">
            <a:spAutoFit/>
          </a:bodyPr>
          <a:lstStyle/>
          <a:p>
            <a:pPr algn="just"/>
            <a:r>
              <a:rPr lang="en-US" b="1" dirty="0">
                <a:latin typeface="Times New Roman" pitchFamily="18" charset="0"/>
                <a:cs typeface="Times New Roman" pitchFamily="18" charset="0"/>
              </a:rPr>
              <a:t>Markov Process or Markov Chains</a:t>
            </a:r>
          </a:p>
          <a:p>
            <a:pPr algn="just"/>
            <a:r>
              <a:rPr lang="en-US" dirty="0">
                <a:latin typeface="Times New Roman" pitchFamily="18" charset="0"/>
                <a:cs typeface="Times New Roman" pitchFamily="18" charset="0"/>
              </a:rPr>
              <a:t>Markov Process is the memory less </a:t>
            </a:r>
            <a:r>
              <a:rPr lang="en-US" b="1" dirty="0">
                <a:latin typeface="Times New Roman" pitchFamily="18" charset="0"/>
                <a:cs typeface="Times New Roman" pitchFamily="18" charset="0"/>
              </a:rPr>
              <a:t>random process</a:t>
            </a:r>
            <a:r>
              <a:rPr lang="en-US" dirty="0">
                <a:latin typeface="Times New Roman" pitchFamily="18" charset="0"/>
                <a:cs typeface="Times New Roman" pitchFamily="18" charset="0"/>
              </a:rPr>
              <a:t> i.e. a sequence of a random state S[1],S[2],….S[n] with a Markov Property. So, it’s basically a sequence of states with the Markov </a:t>
            </a:r>
            <a:r>
              <a:rPr lang="en-US" dirty="0" err="1">
                <a:latin typeface="Times New Roman" pitchFamily="18" charset="0"/>
                <a:cs typeface="Times New Roman" pitchFamily="18" charset="0"/>
              </a:rPr>
              <a:t>Property.It</a:t>
            </a:r>
            <a:r>
              <a:rPr lang="en-US" dirty="0">
                <a:latin typeface="Times New Roman" pitchFamily="18" charset="0"/>
                <a:cs typeface="Times New Roman" pitchFamily="18" charset="0"/>
              </a:rPr>
              <a:t> can be defined using a set of states(S) and transition probability matrix (P).The dynamics of the environment can be fully defined using the States(S) and Transition Probability matrix(P).</a:t>
            </a:r>
          </a:p>
          <a:p>
            <a:pPr algn="just"/>
            <a:r>
              <a:rPr lang="en-US" dirty="0">
                <a:latin typeface="Times New Roman" pitchFamily="18" charset="0"/>
                <a:cs typeface="Times New Roman" pitchFamily="18" charset="0"/>
              </a:rPr>
              <a:t>But what </a:t>
            </a:r>
            <a:r>
              <a:rPr lang="en-US" b="1" dirty="0">
                <a:latin typeface="Times New Roman" pitchFamily="18" charset="0"/>
                <a:cs typeface="Times New Roman" pitchFamily="18" charset="0"/>
              </a:rPr>
              <a:t>random process</a:t>
            </a:r>
            <a:r>
              <a:rPr lang="en-US" dirty="0">
                <a:latin typeface="Times New Roman" pitchFamily="18" charset="0"/>
                <a:cs typeface="Times New Roman" pitchFamily="18" charset="0"/>
              </a:rPr>
              <a:t> means ?</a:t>
            </a:r>
          </a:p>
          <a:p>
            <a:pPr algn="just"/>
            <a:r>
              <a:rPr lang="en-US" dirty="0">
                <a:latin typeface="Times New Roman" pitchFamily="18" charset="0"/>
                <a:cs typeface="Times New Roman" pitchFamily="18" charset="0"/>
              </a:rPr>
              <a:t>To answer this question let’s look at a example:</a:t>
            </a:r>
          </a:p>
        </p:txBody>
      </p:sp>
      <p:pic>
        <p:nvPicPr>
          <p:cNvPr id="19458" name="Picture 2" descr="https://miro.medium.com/max/430/1*MBcie302iU3qbQPbhU0psw.png"/>
          <p:cNvPicPr>
            <a:picLocks noChangeAspect="1" noChangeArrowheads="1"/>
          </p:cNvPicPr>
          <p:nvPr/>
        </p:nvPicPr>
        <p:blipFill>
          <a:blip r:embed="rId2"/>
          <a:srcRect/>
          <a:stretch>
            <a:fillRect/>
          </a:stretch>
        </p:blipFill>
        <p:spPr bwMode="auto">
          <a:xfrm>
            <a:off x="2133600" y="3048000"/>
            <a:ext cx="4095750" cy="301942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28343"/>
            <a:ext cx="8229600" cy="4708981"/>
          </a:xfrm>
          <a:prstGeom prst="rect">
            <a:avLst/>
          </a:prstGeom>
        </p:spPr>
        <p:txBody>
          <a:bodyPr wrap="square">
            <a:spAutoFit/>
          </a:bodyPr>
          <a:lstStyle/>
          <a:p>
            <a:pPr algn="just"/>
            <a:r>
              <a:rPr lang="en-US" sz="2000" dirty="0">
                <a:latin typeface="Times New Roman" pitchFamily="18" charset="0"/>
                <a:cs typeface="Times New Roman" pitchFamily="18" charset="0"/>
              </a:rPr>
              <a:t>The edges of the tree denote </a:t>
            </a:r>
            <a:r>
              <a:rPr lang="en-US" sz="2000" b="1" dirty="0">
                <a:latin typeface="Times New Roman" pitchFamily="18" charset="0"/>
                <a:cs typeface="Times New Roman" pitchFamily="18" charset="0"/>
              </a:rPr>
              <a:t>transition probability</a:t>
            </a:r>
            <a:r>
              <a:rPr lang="en-US" sz="2000" dirty="0">
                <a:latin typeface="Times New Roman" pitchFamily="18" charset="0"/>
                <a:cs typeface="Times New Roman" pitchFamily="18" charset="0"/>
              </a:rPr>
              <a:t>. From this chain let’s take some sample. Now, suppose that we were sleeping and the according to the probability distribution there is a </a:t>
            </a:r>
            <a:r>
              <a:rPr lang="en-US" sz="2000" b="1" dirty="0">
                <a:latin typeface="Times New Roman" pitchFamily="18" charset="0"/>
                <a:cs typeface="Times New Roman" pitchFamily="18" charset="0"/>
              </a:rPr>
              <a:t>0.6</a:t>
            </a:r>
            <a:r>
              <a:rPr lang="en-US" sz="2000" dirty="0">
                <a:latin typeface="Times New Roman" pitchFamily="18" charset="0"/>
                <a:cs typeface="Times New Roman" pitchFamily="18" charset="0"/>
              </a:rPr>
              <a:t> chance that we will </a:t>
            </a:r>
            <a:r>
              <a:rPr lang="en-US" sz="2000" b="1" dirty="0">
                <a:latin typeface="Times New Roman" pitchFamily="18" charset="0"/>
                <a:cs typeface="Times New Roman" pitchFamily="18" charset="0"/>
              </a:rPr>
              <a:t>Run</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0.2</a:t>
            </a:r>
            <a:r>
              <a:rPr lang="en-US" sz="2000" dirty="0">
                <a:latin typeface="Times New Roman" pitchFamily="18" charset="0"/>
                <a:cs typeface="Times New Roman" pitchFamily="18" charset="0"/>
              </a:rPr>
              <a:t> chance we </a:t>
            </a:r>
            <a:r>
              <a:rPr lang="en-US" sz="2000" b="1" dirty="0">
                <a:latin typeface="Times New Roman" pitchFamily="18" charset="0"/>
                <a:cs typeface="Times New Roman" pitchFamily="18" charset="0"/>
              </a:rPr>
              <a:t>sleep more</a:t>
            </a:r>
            <a:r>
              <a:rPr lang="en-US" sz="2000" dirty="0">
                <a:latin typeface="Times New Roman" pitchFamily="18" charset="0"/>
                <a:cs typeface="Times New Roman" pitchFamily="18" charset="0"/>
              </a:rPr>
              <a:t> and again </a:t>
            </a:r>
            <a:r>
              <a:rPr lang="en-US" sz="2000" b="1" dirty="0">
                <a:latin typeface="Times New Roman" pitchFamily="18" charset="0"/>
                <a:cs typeface="Times New Roman" pitchFamily="18" charset="0"/>
              </a:rPr>
              <a:t>0.2</a:t>
            </a:r>
            <a:r>
              <a:rPr lang="en-US" sz="2000" dirty="0">
                <a:latin typeface="Times New Roman" pitchFamily="18" charset="0"/>
                <a:cs typeface="Times New Roman" pitchFamily="18" charset="0"/>
              </a:rPr>
              <a:t> that we will eat </a:t>
            </a:r>
            <a:r>
              <a:rPr lang="en-US" sz="2000" b="1" dirty="0">
                <a:latin typeface="Times New Roman" pitchFamily="18" charset="0"/>
                <a:cs typeface="Times New Roman" pitchFamily="18" charset="0"/>
              </a:rPr>
              <a:t>ice-cream</a:t>
            </a:r>
            <a:r>
              <a:rPr lang="en-US" sz="2000" dirty="0">
                <a:latin typeface="Times New Roman" pitchFamily="18" charset="0"/>
                <a:cs typeface="Times New Roman" pitchFamily="18" charset="0"/>
              </a:rPr>
              <a:t>. Similarly, we can think of other sequences that we can sample from this chain.</a:t>
            </a:r>
          </a:p>
          <a:p>
            <a:pPr algn="just"/>
            <a:r>
              <a:rPr lang="en-US" sz="2000" dirty="0">
                <a:latin typeface="Times New Roman" pitchFamily="18" charset="0"/>
                <a:cs typeface="Times New Roman" pitchFamily="18" charset="0"/>
              </a:rPr>
              <a:t>Some samples from the chain :</a:t>
            </a: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Sleep — Run — Ice-cream — Sleep</a:t>
            </a:r>
          </a:p>
          <a:p>
            <a:pPr algn="just"/>
            <a:r>
              <a:rPr lang="en-US" sz="2000" dirty="0">
                <a:latin typeface="Times New Roman" pitchFamily="18" charset="0"/>
                <a:cs typeface="Times New Roman" pitchFamily="18" charset="0"/>
              </a:rPr>
              <a:t>Sleep — Ice-cream — Ice-cream — Run</a:t>
            </a:r>
          </a:p>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In the above two sequences what we see is we get random set of States(S) (i.e. </a:t>
            </a:r>
            <a:r>
              <a:rPr lang="en-US" sz="2000" dirty="0" err="1">
                <a:latin typeface="Times New Roman" pitchFamily="18" charset="0"/>
                <a:cs typeface="Times New Roman" pitchFamily="18" charset="0"/>
              </a:rPr>
              <a:t>Sleep,Ice-cream,Sleep</a:t>
            </a:r>
            <a:r>
              <a:rPr lang="en-US" sz="2000" dirty="0">
                <a:latin typeface="Times New Roman" pitchFamily="18" charset="0"/>
                <a:cs typeface="Times New Roman" pitchFamily="18" charset="0"/>
              </a:rPr>
              <a:t> ) every time we run the chain. Hope, it’s now clear why Markov process is called random set of sequence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0"/>
            <a:ext cx="9144000" cy="5943600"/>
          </a:xfrm>
          <a:prstGeom prst="rect">
            <a:avLst/>
          </a:prstGeom>
          <a:noFill/>
          <a:ln w="9525">
            <a:noFill/>
            <a:miter lim="800000"/>
            <a:headEnd/>
            <a:tailEnd/>
          </a:ln>
          <a:effectLst/>
        </p:spPr>
      </p:pic>
      <p:sp>
        <p:nvSpPr>
          <p:cNvPr id="3" name="Rectangle 2"/>
          <p:cNvSpPr/>
          <p:nvPr/>
        </p:nvSpPr>
        <p:spPr>
          <a:xfrm>
            <a:off x="0" y="6172200"/>
            <a:ext cx="8763000"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If all the states can communicate with each other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0"/>
            <a:ext cx="8991600" cy="5867400"/>
          </a:xfrm>
          <a:prstGeom prst="rect">
            <a:avLst/>
          </a:prstGeom>
          <a:noFill/>
          <a:ln w="9525">
            <a:noFill/>
            <a:miter lim="800000"/>
            <a:headEnd/>
            <a:tailEnd/>
          </a:ln>
          <a:effectLst/>
        </p:spPr>
      </p:pic>
      <p:sp>
        <p:nvSpPr>
          <p:cNvPr id="3" name="Rectangle 2"/>
          <p:cNvSpPr/>
          <p:nvPr/>
        </p:nvSpPr>
        <p:spPr>
          <a:xfrm>
            <a:off x="0" y="6019800"/>
            <a:ext cx="8763000" cy="533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indent="-342900" algn="ctr">
              <a:buAutoNum type="arabicPeriod"/>
            </a:pPr>
            <a:r>
              <a:rPr lang="en-US" b="1" dirty="0"/>
              <a:t>Reducible</a:t>
            </a:r>
          </a:p>
          <a:p>
            <a:pPr marL="342900" indent="-342900" algn="ctr">
              <a:buAutoNum type="arabicPeriod"/>
            </a:pPr>
            <a:r>
              <a:rPr lang="en-US" b="1" dirty="0" err="1"/>
              <a:t>Irreducable</a:t>
            </a:r>
            <a:endParaRPr lang="en-US"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0" y="0"/>
            <a:ext cx="9144000" cy="5029200"/>
          </a:xfrm>
          <a:prstGeom prst="rect">
            <a:avLst/>
          </a:prstGeom>
          <a:noFill/>
          <a:ln w="9525">
            <a:noFill/>
            <a:miter lim="800000"/>
            <a:headEnd/>
            <a:tailEnd/>
          </a:ln>
          <a:effectLst/>
        </p:spPr>
      </p:pic>
      <p:sp>
        <p:nvSpPr>
          <p:cNvPr id="3" name="Rectangle 2"/>
          <p:cNvSpPr/>
          <p:nvPr/>
        </p:nvSpPr>
        <p:spPr>
          <a:xfrm>
            <a:off x="0" y="5334000"/>
            <a:ext cx="8915400" cy="1219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After a fixed time interval, you can come again to same state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0" y="0"/>
            <a:ext cx="9144000" cy="5638800"/>
          </a:xfrm>
          <a:prstGeom prst="rect">
            <a:avLst/>
          </a:prstGeom>
          <a:noFill/>
          <a:ln w="9525">
            <a:noFill/>
            <a:miter lim="800000"/>
            <a:headEnd/>
            <a:tailEnd/>
          </a:ln>
          <a:effectLst/>
        </p:spPr>
      </p:pic>
      <p:sp>
        <p:nvSpPr>
          <p:cNvPr id="3" name="Rectangle 2"/>
          <p:cNvSpPr/>
          <p:nvPr/>
        </p:nvSpPr>
        <p:spPr>
          <a:xfrm>
            <a:off x="0" y="5791200"/>
            <a:ext cx="9144000" cy="838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We cant determine period for S1 so it is </a:t>
            </a:r>
            <a:r>
              <a:rPr lang="en-US" b="1" dirty="0" err="1"/>
              <a:t>Aperiodic</a:t>
            </a:r>
            <a:endParaRPr 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0" y="0"/>
            <a:ext cx="8839200" cy="3100104"/>
          </a:xfrm>
          <a:prstGeom prst="rect">
            <a:avLst/>
          </a:prstGeom>
          <a:solidFill>
            <a:srgbClr val="FFFFFF"/>
          </a:solidFill>
          <a:ln w="9525">
            <a:noFill/>
            <a:miter lim="800000"/>
            <a:headEnd/>
            <a:tailEnd/>
          </a:ln>
          <a:effectLst/>
        </p:spPr>
        <p:txBody>
          <a:bodyPr vert="horz" wrap="square" lIns="0" tIns="376119" rIns="0" bIns="-49197"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Reward and Returns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u="none" strike="noStrike" cap="none" normalizeH="0" baseline="0" dirty="0">
                <a:ln>
                  <a:noFill/>
                </a:ln>
                <a:solidFill>
                  <a:srgbClr val="292929"/>
                </a:solidFill>
                <a:effectLst/>
                <a:latin typeface="Times New Roman" pitchFamily="18" charset="0"/>
                <a:cs typeface="Times New Roman" pitchFamily="18" charset="0"/>
              </a:rPr>
              <a:t>Rewards are the numerical values that the agent receives on performing some action at some state(s) in the environment. The numerical value can be positive or negative based on the actions of the agent.</a:t>
            </a:r>
            <a:endParaRPr kumimoji="0" lang="en-US" sz="200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u="none" strike="noStrike" cap="none" normalizeH="0" baseline="0" dirty="0">
                <a:ln>
                  <a:noFill/>
                </a:ln>
                <a:solidFill>
                  <a:srgbClr val="292929"/>
                </a:solidFill>
                <a:effectLst/>
                <a:latin typeface="Times New Roman" pitchFamily="18" charset="0"/>
                <a:cs typeface="Times New Roman" pitchFamily="18" charset="0"/>
              </a:rPr>
              <a:t>In Reinforcement learning, we care about maximizing the cumulative reward (all the rewards agent receives from the environment) instead of, the reward agent receives from the current state(also called immediate reward). This total sum of reward the agent receives from the environment is called returns.</a:t>
            </a:r>
            <a:endParaRPr kumimoji="0" lang="en-US" sz="200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u="none" strike="noStrike" cap="none" normalizeH="0" baseline="0" dirty="0">
                <a:ln>
                  <a:noFill/>
                </a:ln>
                <a:solidFill>
                  <a:srgbClr val="292929"/>
                </a:solidFill>
                <a:effectLst/>
                <a:latin typeface="Times New Roman" pitchFamily="18" charset="0"/>
                <a:cs typeface="Times New Roman" pitchFamily="18" charset="0"/>
              </a:rPr>
              <a:t>We can define Returns</a:t>
            </a:r>
            <a:endParaRPr kumimoji="0" lang="en-US" sz="200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20483" name="Picture 3" descr="https://miro.medium.com/max/524/1*Q4ZahV2xyAoODr7EC7R5KA.png"/>
          <p:cNvPicPr>
            <a:picLocks noChangeAspect="1" noChangeArrowheads="1"/>
          </p:cNvPicPr>
          <p:nvPr/>
        </p:nvPicPr>
        <p:blipFill>
          <a:blip r:embed="rId2"/>
          <a:srcRect/>
          <a:stretch>
            <a:fillRect/>
          </a:stretch>
        </p:blipFill>
        <p:spPr bwMode="auto">
          <a:xfrm>
            <a:off x="1828800" y="3657600"/>
            <a:ext cx="4991100" cy="1371600"/>
          </a:xfrm>
          <a:prstGeom prst="rect">
            <a:avLst/>
          </a:prstGeom>
          <a:noFill/>
        </p:spPr>
      </p:pic>
      <p:sp>
        <p:nvSpPr>
          <p:cNvPr id="4" name="Rectangle 3"/>
          <p:cNvSpPr/>
          <p:nvPr/>
        </p:nvSpPr>
        <p:spPr>
          <a:xfrm>
            <a:off x="0" y="5029200"/>
            <a:ext cx="8915400" cy="1200329"/>
          </a:xfrm>
          <a:prstGeom prst="rect">
            <a:avLst/>
          </a:prstGeom>
        </p:spPr>
        <p:txBody>
          <a:bodyPr wrap="square">
            <a:spAutoFit/>
          </a:bodyPr>
          <a:lstStyle/>
          <a:p>
            <a:pPr algn="just"/>
            <a:r>
              <a:rPr lang="en-US" dirty="0">
                <a:latin typeface="Times New Roman" pitchFamily="18" charset="0"/>
                <a:cs typeface="Times New Roman" pitchFamily="18" charset="0"/>
              </a:rPr>
              <a:t>r[t+1] is the reward received by the agent at time step t[0] while performing an action(a) to move from one state to another. Similarly, r[t+2] is the reward received by the agent at time step t[1] by performing an action to move to another state. And, r[T] is the reward received by the agent by at the final time step by performing an action to move to another state.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0" y="0"/>
            <a:ext cx="9144000" cy="7171194"/>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Episodic and Continuous Tasks</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Episodic Tasks</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These are the tasks that have a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terminal state</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(end state).We can say they have finite states. For example, in racing games, we start the game (start the race) and play it until the game is over (race ends!). This is called an episode. Once we restart the game it will start from an initial state and hence, every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episode </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is independent.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Continuous Tasks</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 These are the tasks that have no ends i.e. they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don’t have any terminal </a:t>
            </a:r>
            <a:r>
              <a:rPr kumimoji="0" lang="en-US" sz="2000" b="1" u="none" strike="noStrike" cap="none" normalizeH="0" baseline="0" dirty="0" err="1">
                <a:ln>
                  <a:noFill/>
                </a:ln>
                <a:solidFill>
                  <a:srgbClr val="292929"/>
                </a:solidFill>
                <a:effectLst/>
                <a:latin typeface="Times New Roman" pitchFamily="18" charset="0"/>
                <a:cs typeface="Times New Roman" pitchFamily="18" charset="0"/>
              </a:rPr>
              <a:t>state</a:t>
            </a:r>
            <a:r>
              <a:rPr kumimoji="0" lang="en-US" sz="2000" b="0" u="none" strike="noStrike" cap="none" normalizeH="0" baseline="0" dirty="0" err="1">
                <a:ln>
                  <a:noFill/>
                </a:ln>
                <a:solidFill>
                  <a:srgbClr val="292929"/>
                </a:solidFill>
                <a:effectLst/>
                <a:latin typeface="Times New Roman" pitchFamily="18" charset="0"/>
                <a:cs typeface="Times New Roman" pitchFamily="18" charset="0"/>
              </a:rPr>
              <a:t>.These</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types of tasks will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never end</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For example, Learning how to code!</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Now, it’s easy to calculate the returns from the episodic tasks as they will eventually end but what about continuous tasks, as it will go on and on forever. The returns from sum up to infinity! So, how we define returns for continuous tasks?</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292929"/>
              </a:solidFill>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This is where we need </a:t>
            </a:r>
            <a:r>
              <a:rPr lang="en-US" sz="2000" b="1" dirty="0">
                <a:latin typeface="Times New Roman" pitchFamily="18" charset="0"/>
                <a:cs typeface="Times New Roman" pitchFamily="18" charset="0"/>
              </a:rPr>
              <a:t>Discount factor(ɤ)</a:t>
            </a:r>
            <a:r>
              <a:rPr lang="en-US" sz="2000" dirty="0">
                <a:latin typeface="Times New Roman" pitchFamily="18" charset="0"/>
                <a:cs typeface="Times New Roman" pitchFamily="18" charset="0"/>
              </a:rPr>
              <a:t>.</a:t>
            </a:r>
          </a:p>
          <a:p>
            <a:pPr algn="just"/>
            <a:r>
              <a:rPr lang="en-US" sz="2000" b="1" dirty="0">
                <a:latin typeface="Times New Roman" pitchFamily="18" charset="0"/>
                <a:cs typeface="Times New Roman" pitchFamily="18" charset="0"/>
              </a:rPr>
              <a:t>Discount Factor (ɤ)</a:t>
            </a:r>
            <a:r>
              <a:rPr lang="en-US" sz="2000" dirty="0">
                <a:latin typeface="Times New Roman" pitchFamily="18" charset="0"/>
                <a:cs typeface="Times New Roman" pitchFamily="18" charset="0"/>
              </a:rPr>
              <a:t>: It determines how much </a:t>
            </a:r>
            <a:r>
              <a:rPr lang="en-US" sz="2000" b="1" dirty="0">
                <a:latin typeface="Times New Roman" pitchFamily="18" charset="0"/>
                <a:cs typeface="Times New Roman" pitchFamily="18" charset="0"/>
              </a:rPr>
              <a:t>importance</a:t>
            </a:r>
            <a:r>
              <a:rPr lang="en-US" sz="2000" dirty="0">
                <a:latin typeface="Times New Roman" pitchFamily="18" charset="0"/>
                <a:cs typeface="Times New Roman" pitchFamily="18" charset="0"/>
              </a:rPr>
              <a:t> is to be given to the </a:t>
            </a:r>
            <a:r>
              <a:rPr lang="en-US" sz="2000" b="1" dirty="0">
                <a:latin typeface="Times New Roman" pitchFamily="18" charset="0"/>
                <a:cs typeface="Times New Roman" pitchFamily="18" charset="0"/>
              </a:rPr>
              <a:t>immediate reward and future rewards</a:t>
            </a:r>
            <a:r>
              <a:rPr lang="en-US" sz="2000" dirty="0">
                <a:latin typeface="Times New Roman" pitchFamily="18" charset="0"/>
                <a:cs typeface="Times New Roman" pitchFamily="18" charset="0"/>
              </a:rPr>
              <a:t>. This basically helps us to avoid </a:t>
            </a:r>
            <a:r>
              <a:rPr lang="en-US" sz="2000" b="1" dirty="0">
                <a:latin typeface="Times New Roman" pitchFamily="18" charset="0"/>
                <a:cs typeface="Times New Roman" pitchFamily="18" charset="0"/>
              </a:rPr>
              <a:t>infinity</a:t>
            </a:r>
            <a:r>
              <a:rPr lang="en-US" sz="2000" dirty="0">
                <a:latin typeface="Times New Roman" pitchFamily="18" charset="0"/>
                <a:cs typeface="Times New Roman" pitchFamily="18" charset="0"/>
              </a:rPr>
              <a:t> as a reward in continuous tasks. It has a value between 0 and 1. A value of </a:t>
            </a:r>
            <a:r>
              <a:rPr lang="en-US" sz="2000" b="1" dirty="0">
                <a:latin typeface="Times New Roman" pitchFamily="18" charset="0"/>
                <a:cs typeface="Times New Roman" pitchFamily="18" charset="0"/>
              </a:rPr>
              <a:t>0 </a:t>
            </a:r>
            <a:r>
              <a:rPr lang="en-US" sz="2000" dirty="0">
                <a:latin typeface="Times New Roman" pitchFamily="18" charset="0"/>
                <a:cs typeface="Times New Roman" pitchFamily="18" charset="0"/>
              </a:rPr>
              <a:t>means that more importance is given to the </a:t>
            </a:r>
            <a:r>
              <a:rPr lang="en-US" sz="2000" b="1" dirty="0">
                <a:latin typeface="Times New Roman" pitchFamily="18" charset="0"/>
                <a:cs typeface="Times New Roman" pitchFamily="18" charset="0"/>
              </a:rPr>
              <a:t>immediate reward</a:t>
            </a:r>
            <a:r>
              <a:rPr lang="en-US" sz="2000" dirty="0">
                <a:latin typeface="Times New Roman" pitchFamily="18" charset="0"/>
                <a:cs typeface="Times New Roman" pitchFamily="18" charset="0"/>
              </a:rPr>
              <a:t> and a value of </a:t>
            </a:r>
            <a:r>
              <a:rPr lang="en-US" sz="2000" b="1" dirty="0">
                <a:latin typeface="Times New Roman" pitchFamily="18" charset="0"/>
                <a:cs typeface="Times New Roman" pitchFamily="18" charset="0"/>
              </a:rPr>
              <a:t>1</a:t>
            </a:r>
            <a:r>
              <a:rPr lang="en-US" sz="2000" dirty="0">
                <a:latin typeface="Times New Roman" pitchFamily="18" charset="0"/>
                <a:cs typeface="Times New Roman" pitchFamily="18" charset="0"/>
              </a:rPr>
              <a:t> means that more importance is given to </a:t>
            </a:r>
            <a:r>
              <a:rPr lang="en-US" sz="2000" b="1" dirty="0">
                <a:latin typeface="Times New Roman" pitchFamily="18" charset="0"/>
                <a:cs typeface="Times New Roman" pitchFamily="18" charset="0"/>
              </a:rPr>
              <a:t>future rewards</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In practice</a:t>
            </a:r>
            <a:r>
              <a:rPr lang="en-US" sz="2000" dirty="0">
                <a:latin typeface="Times New Roman" pitchFamily="18" charset="0"/>
                <a:cs typeface="Times New Roman" pitchFamily="18" charset="0"/>
              </a:rPr>
              <a:t>, a discount factor of 0 will never learn as it only considers immediate reward and a discount factor of 1 will go on for future rewards which may lead to infinity. Therefore, </a:t>
            </a:r>
            <a:r>
              <a:rPr lang="en-US" sz="2000" b="1" dirty="0">
                <a:latin typeface="Times New Roman" pitchFamily="18" charset="0"/>
                <a:cs typeface="Times New Roman" pitchFamily="18" charset="0"/>
              </a:rPr>
              <a:t>the optimal value for the discount factor lies between 0.2 to 0.8</a:t>
            </a:r>
            <a:r>
              <a:rPr lang="en-US" sz="2000" dirty="0">
                <a:latin typeface="Times New Roman" pitchFamily="18"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0" y="0"/>
            <a:ext cx="8839200" cy="4638986"/>
          </a:xfrm>
          <a:prstGeom prst="rect">
            <a:avLst/>
          </a:prstGeom>
          <a:solidFill>
            <a:srgbClr val="FFFFFF"/>
          </a:solidFill>
          <a:ln w="9525">
            <a:noFill/>
            <a:miter lim="800000"/>
            <a:headEnd/>
            <a:tailEnd/>
          </a:ln>
          <a:effectLst/>
        </p:spPr>
        <p:txBody>
          <a:bodyPr vert="horz" wrap="square" lIns="0" tIns="376119" rIns="0" bIns="-49197"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Markov Reward Process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Till now we have seen how Markov chain defined the dynamics of a environment using set of states(S) and Transition Probability Matrix(P).But, we know that Reinforcement Learning is all about goal to maximize the </a:t>
            </a:r>
            <a:r>
              <a:rPr kumimoji="0" lang="en-US" sz="2000" b="0" u="none" strike="noStrike" cap="none" normalizeH="0" baseline="0" dirty="0" err="1">
                <a:ln>
                  <a:noFill/>
                </a:ln>
                <a:solidFill>
                  <a:srgbClr val="292929"/>
                </a:solidFill>
                <a:effectLst/>
                <a:latin typeface="Times New Roman" pitchFamily="18" charset="0"/>
                <a:cs typeface="Times New Roman" pitchFamily="18" charset="0"/>
              </a:rPr>
              <a:t>reward.So</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let’s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add reward</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to our Markov Chain.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This gives us </a:t>
            </a:r>
            <a:r>
              <a:rPr kumimoji="0" lang="en-US" sz="2000" b="1" u="none" strike="noStrike" cap="none" normalizeH="0" baseline="0" dirty="0">
                <a:ln>
                  <a:noFill/>
                </a:ln>
                <a:solidFill>
                  <a:srgbClr val="292929"/>
                </a:solidFill>
                <a:effectLst/>
                <a:latin typeface="Times New Roman" pitchFamily="18" charset="0"/>
                <a:cs typeface="Times New Roman" pitchFamily="18" charset="0"/>
              </a:rPr>
              <a:t>Markov Reward Process.</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b="1" dirty="0">
              <a:solidFill>
                <a:srgbClr val="292929"/>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u="none" strike="noStrike" cap="none" normalizeH="0" baseline="0" dirty="0">
                <a:ln>
                  <a:noFill/>
                </a:ln>
                <a:solidFill>
                  <a:srgbClr val="292929"/>
                </a:solidFill>
                <a:effectLst/>
                <a:latin typeface="Times New Roman" pitchFamily="18" charset="0"/>
                <a:cs typeface="Times New Roman" pitchFamily="18" charset="0"/>
              </a:rPr>
              <a:t>Markov Reward Process</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 As the name suggests, MDPs are the Markov chains with values </a:t>
            </a:r>
            <a:r>
              <a:rPr kumimoji="0" lang="en-US" sz="2000" b="0" u="none" strike="noStrike" cap="none" normalizeH="0" baseline="0" dirty="0" err="1">
                <a:ln>
                  <a:noFill/>
                </a:ln>
                <a:solidFill>
                  <a:srgbClr val="292929"/>
                </a:solidFill>
                <a:effectLst/>
                <a:latin typeface="Times New Roman" pitchFamily="18" charset="0"/>
                <a:cs typeface="Times New Roman" pitchFamily="18" charset="0"/>
              </a:rPr>
              <a:t>judgement.Basically</a:t>
            </a:r>
            <a:r>
              <a:rPr kumimoji="0" lang="en-US" sz="2000" b="0" u="none" strike="noStrike" cap="none" normalizeH="0" baseline="0" dirty="0">
                <a:ln>
                  <a:noFill/>
                </a:ln>
                <a:solidFill>
                  <a:srgbClr val="292929"/>
                </a:solidFill>
                <a:effectLst/>
                <a:latin typeface="Times New Roman" pitchFamily="18" charset="0"/>
                <a:cs typeface="Times New Roman" pitchFamily="18" charset="0"/>
              </a:rPr>
              <a:t>, we get a value from every state our agent is in.</a:t>
            </a: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solidFill>
                  <a:srgbClr val="292929"/>
                </a:solidFill>
                <a:effectLst/>
                <a:latin typeface="Times New Roman" pitchFamily="18" charset="0"/>
                <a:cs typeface="Times New Roman" pitchFamily="18" charset="0"/>
              </a:rPr>
              <a:t>Mathematically, we define Markov Reward Process as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a:solidFill>
                <a:srgbClr val="292929"/>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solidFill>
                <a:srgbClr val="292929"/>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23555" name="Picture 3" descr="https://miro.medium.com/max/275/1*VlQTW70kSB4Bs79MkH2enA.png"/>
          <p:cNvPicPr>
            <a:picLocks noChangeAspect="1" noChangeArrowheads="1"/>
          </p:cNvPicPr>
          <p:nvPr/>
        </p:nvPicPr>
        <p:blipFill>
          <a:blip r:embed="rId2"/>
          <a:srcRect/>
          <a:stretch>
            <a:fillRect/>
          </a:stretch>
        </p:blipFill>
        <p:spPr bwMode="auto">
          <a:xfrm>
            <a:off x="2667000" y="4191000"/>
            <a:ext cx="4191000" cy="1371600"/>
          </a:xfrm>
          <a:prstGeom prst="rect">
            <a:avLst/>
          </a:prstGeom>
          <a:noFill/>
        </p:spPr>
      </p:pic>
      <p:sp>
        <p:nvSpPr>
          <p:cNvPr id="4" name="Rectangle 3"/>
          <p:cNvSpPr/>
          <p:nvPr/>
        </p:nvSpPr>
        <p:spPr>
          <a:xfrm>
            <a:off x="0" y="5486400"/>
            <a:ext cx="9144000" cy="1200329"/>
          </a:xfrm>
          <a:prstGeom prst="rect">
            <a:avLst/>
          </a:prstGeom>
        </p:spPr>
        <p:txBody>
          <a:bodyPr wrap="square">
            <a:spAutoFit/>
          </a:bodyPr>
          <a:lstStyle/>
          <a:p>
            <a:pPr algn="just"/>
            <a:r>
              <a:rPr lang="en-US" dirty="0">
                <a:latin typeface="Times New Roman" pitchFamily="18" charset="0"/>
                <a:cs typeface="Times New Roman" pitchFamily="18" charset="0"/>
              </a:rPr>
              <a:t>What this equation means is how much reward (Rs) we get from a particular state S[t]. This tells us the immediate reward from that particular state our agent is in. As we will see in the next story how we maximize these rewards from each state our agent is in. In simple terms, maximizing the cumulative reward we get from each state.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3400"/>
            <a:ext cx="8991600" cy="2585323"/>
          </a:xfrm>
          <a:prstGeom prst="rect">
            <a:avLst/>
          </a:prstGeom>
        </p:spPr>
        <p:txBody>
          <a:bodyPr wrap="square">
            <a:spAutoFit/>
          </a:bodyPr>
          <a:lstStyle/>
          <a:p>
            <a:pPr algn="just"/>
            <a:r>
              <a:rPr lang="en-US" b="1" dirty="0">
                <a:latin typeface="Times New Roman" pitchFamily="18" charset="0"/>
                <a:cs typeface="Times New Roman" pitchFamily="18" charset="0"/>
              </a:rPr>
              <a:t>Markov Decision Process</a:t>
            </a:r>
          </a:p>
          <a:p>
            <a:pPr algn="just"/>
            <a:r>
              <a:rPr lang="en-US" dirty="0">
                <a:latin typeface="Times New Roman" pitchFamily="18" charset="0"/>
                <a:cs typeface="Times New Roman" pitchFamily="18" charset="0"/>
              </a:rPr>
              <a:t>Now, let’s develop our intuition for Bellman Equation and Markov Decision Process.</a:t>
            </a:r>
          </a:p>
          <a:p>
            <a:pPr algn="just"/>
            <a:r>
              <a:rPr lang="en-US" b="1" dirty="0">
                <a:latin typeface="Times New Roman" pitchFamily="18" charset="0"/>
                <a:cs typeface="Times New Roman" pitchFamily="18" charset="0"/>
              </a:rPr>
              <a:t>Policy Function and Value Function</a:t>
            </a:r>
          </a:p>
          <a:p>
            <a:pPr algn="just"/>
            <a:r>
              <a:rPr lang="en-US" b="1" dirty="0">
                <a:latin typeface="Times New Roman" pitchFamily="18" charset="0"/>
                <a:cs typeface="Times New Roman" pitchFamily="18" charset="0"/>
              </a:rPr>
              <a:t>Value Function determines how good it is for the agent to be in a particular state</a:t>
            </a:r>
            <a:r>
              <a:rPr lang="en-US" dirty="0">
                <a:latin typeface="Times New Roman" pitchFamily="18" charset="0"/>
                <a:cs typeface="Times New Roman" pitchFamily="18" charset="0"/>
              </a:rPr>
              <a:t>. Of course, to determine how good it will be to be in a particular state it must depend on some actions that it will take. This is where policy comes in. A policy defines what actions to perform in a particular state s.</a:t>
            </a:r>
          </a:p>
          <a:p>
            <a:pPr algn="just"/>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3093</Words>
  <Application>Microsoft Office PowerPoint</Application>
  <PresentationFormat>On-screen Show (4:3)</PresentationFormat>
  <Paragraphs>140</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roboto</vt:lpstr>
      <vt:lpstr>Times New Roman</vt:lpstr>
      <vt:lpstr>Office Theme</vt:lpstr>
      <vt:lpstr>Markov Decision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Markov Decision Process</dc:title>
  <dc:creator>klp_mmu</dc:creator>
  <cp:lastModifiedBy>Sonali Goyal</cp:lastModifiedBy>
  <cp:revision>10</cp:revision>
  <dcterms:created xsi:type="dcterms:W3CDTF">2006-08-16T00:00:00Z</dcterms:created>
  <dcterms:modified xsi:type="dcterms:W3CDTF">2026-01-21T04:14:08Z</dcterms:modified>
</cp:coreProperties>
</file>