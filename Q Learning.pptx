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9" r:id="rId4"/>
    <p:sldId id="291" r:id="rId5"/>
    <p:sldId id="292" r:id="rId6"/>
    <p:sldId id="293" r:id="rId7"/>
    <p:sldId id="280" r:id="rId8"/>
    <p:sldId id="281" r:id="rId9"/>
    <p:sldId id="282" r:id="rId10"/>
    <p:sldId id="283" r:id="rId11"/>
    <p:sldId id="284" r:id="rId12"/>
    <p:sldId id="285" r:id="rId13"/>
    <p:sldId id="258" r:id="rId14"/>
    <p:sldId id="294" r:id="rId15"/>
    <p:sldId id="259" r:id="rId16"/>
    <p:sldId id="260" r:id="rId17"/>
    <p:sldId id="295" r:id="rId18"/>
    <p:sldId id="296" r:id="rId19"/>
    <p:sldId id="297" r:id="rId20"/>
    <p:sldId id="298" r:id="rId21"/>
    <p:sldId id="299" r:id="rId22"/>
    <p:sldId id="300" r:id="rId23"/>
    <p:sldId id="301" r:id="rId24"/>
    <p:sldId id="261" r:id="rId25"/>
    <p:sldId id="286" r:id="rId26"/>
    <p:sldId id="287" r:id="rId27"/>
    <p:sldId id="288" r:id="rId28"/>
    <p:sldId id="289" r:id="rId29"/>
    <p:sldId id="290" r:id="rId30"/>
    <p:sldId id="262" r:id="rId31"/>
    <p:sldId id="272" r:id="rId32"/>
    <p:sldId id="273" r:id="rId33"/>
    <p:sldId id="263" r:id="rId34"/>
    <p:sldId id="264" r:id="rId35"/>
    <p:sldId id="265" r:id="rId36"/>
    <p:sldId id="266" r:id="rId37"/>
    <p:sldId id="267" r:id="rId38"/>
    <p:sldId id="268" r:id="rId39"/>
    <p:sldId id="269" r:id="rId40"/>
    <p:sldId id="270" r:id="rId41"/>
    <p:sldId id="271" r:id="rId42"/>
    <p:sldId id="274" r:id="rId43"/>
    <p:sldId id="275" r:id="rId44"/>
    <p:sldId id="276" r:id="rId45"/>
    <p:sldId id="277" r:id="rId46"/>
    <p:sldId id="278"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ali Goyal" userId="23d9571fe247782f" providerId="LiveId" clId="{8C5539D1-D469-4169-9425-A1A8DAB8619A}"/>
    <pc:docChg chg="addSld modSld">
      <pc:chgData name="Sonali Goyal" userId="23d9571fe247782f" providerId="LiveId" clId="{8C5539D1-D469-4169-9425-A1A8DAB8619A}" dt="2026-02-18T13:03:51.701" v="17" actId="22"/>
      <pc:docMkLst>
        <pc:docMk/>
      </pc:docMkLst>
      <pc:sldChg chg="addSp modSp new mod">
        <pc:chgData name="Sonali Goyal" userId="23d9571fe247782f" providerId="LiveId" clId="{8C5539D1-D469-4169-9425-A1A8DAB8619A}" dt="2026-02-16T08:57:22.675" v="3" actId="14100"/>
        <pc:sldMkLst>
          <pc:docMk/>
          <pc:sldMk cId="3157988883" sldId="294"/>
        </pc:sldMkLst>
        <pc:spChg chg="add mod">
          <ac:chgData name="Sonali Goyal" userId="23d9571fe247782f" providerId="LiveId" clId="{8C5539D1-D469-4169-9425-A1A8DAB8619A}" dt="2026-02-16T08:57:22.675" v="3" actId="14100"/>
          <ac:spMkLst>
            <pc:docMk/>
            <pc:sldMk cId="3157988883" sldId="294"/>
            <ac:spMk id="3" creationId="{9CA76062-8772-B267-61AC-5E2B4A05E207}"/>
          </ac:spMkLst>
        </pc:spChg>
      </pc:sldChg>
      <pc:sldChg chg="addSp new mod">
        <pc:chgData name="Sonali Goyal" userId="23d9571fe247782f" providerId="LiveId" clId="{8C5539D1-D469-4169-9425-A1A8DAB8619A}" dt="2026-02-18T12:56:53.549" v="5" actId="22"/>
        <pc:sldMkLst>
          <pc:docMk/>
          <pc:sldMk cId="3563967879" sldId="295"/>
        </pc:sldMkLst>
        <pc:picChg chg="add">
          <ac:chgData name="Sonali Goyal" userId="23d9571fe247782f" providerId="LiveId" clId="{8C5539D1-D469-4169-9425-A1A8DAB8619A}" dt="2026-02-18T12:56:53.549" v="5" actId="22"/>
          <ac:picMkLst>
            <pc:docMk/>
            <pc:sldMk cId="3563967879" sldId="295"/>
            <ac:picMk id="3" creationId="{9C423AFF-A4B5-59B1-5C92-4317F387CFDF}"/>
          </ac:picMkLst>
        </pc:picChg>
      </pc:sldChg>
      <pc:sldChg chg="addSp new mod">
        <pc:chgData name="Sonali Goyal" userId="23d9571fe247782f" providerId="LiveId" clId="{8C5539D1-D469-4169-9425-A1A8DAB8619A}" dt="2026-02-18T12:58:04.676" v="7" actId="22"/>
        <pc:sldMkLst>
          <pc:docMk/>
          <pc:sldMk cId="2150523401" sldId="296"/>
        </pc:sldMkLst>
        <pc:picChg chg="add">
          <ac:chgData name="Sonali Goyal" userId="23d9571fe247782f" providerId="LiveId" clId="{8C5539D1-D469-4169-9425-A1A8DAB8619A}" dt="2026-02-18T12:58:04.676" v="7" actId="22"/>
          <ac:picMkLst>
            <pc:docMk/>
            <pc:sldMk cId="2150523401" sldId="296"/>
            <ac:picMk id="3" creationId="{E27A9229-DCCD-CCE9-DF01-F86B952758F0}"/>
          </ac:picMkLst>
        </pc:picChg>
      </pc:sldChg>
      <pc:sldChg chg="addSp new mod">
        <pc:chgData name="Sonali Goyal" userId="23d9571fe247782f" providerId="LiveId" clId="{8C5539D1-D469-4169-9425-A1A8DAB8619A}" dt="2026-02-18T12:58:44.667" v="9" actId="22"/>
        <pc:sldMkLst>
          <pc:docMk/>
          <pc:sldMk cId="2449421227" sldId="297"/>
        </pc:sldMkLst>
        <pc:picChg chg="add">
          <ac:chgData name="Sonali Goyal" userId="23d9571fe247782f" providerId="LiveId" clId="{8C5539D1-D469-4169-9425-A1A8DAB8619A}" dt="2026-02-18T12:58:44.667" v="9" actId="22"/>
          <ac:picMkLst>
            <pc:docMk/>
            <pc:sldMk cId="2449421227" sldId="297"/>
            <ac:picMk id="3" creationId="{F2E0F984-3401-CF9B-0DDE-5733EA4590E2}"/>
          </ac:picMkLst>
        </pc:picChg>
      </pc:sldChg>
      <pc:sldChg chg="addSp new mod">
        <pc:chgData name="Sonali Goyal" userId="23d9571fe247782f" providerId="LiveId" clId="{8C5539D1-D469-4169-9425-A1A8DAB8619A}" dt="2026-02-18T13:01:01.197" v="11" actId="22"/>
        <pc:sldMkLst>
          <pc:docMk/>
          <pc:sldMk cId="1421036576" sldId="298"/>
        </pc:sldMkLst>
        <pc:picChg chg="add">
          <ac:chgData name="Sonali Goyal" userId="23d9571fe247782f" providerId="LiveId" clId="{8C5539D1-D469-4169-9425-A1A8DAB8619A}" dt="2026-02-18T13:01:01.197" v="11" actId="22"/>
          <ac:picMkLst>
            <pc:docMk/>
            <pc:sldMk cId="1421036576" sldId="298"/>
            <ac:picMk id="3" creationId="{E366D13B-7481-D5F0-8ED9-C3548CA87402}"/>
          </ac:picMkLst>
        </pc:picChg>
      </pc:sldChg>
      <pc:sldChg chg="addSp new mod">
        <pc:chgData name="Sonali Goyal" userId="23d9571fe247782f" providerId="LiveId" clId="{8C5539D1-D469-4169-9425-A1A8DAB8619A}" dt="2026-02-18T13:02:53.314" v="13" actId="22"/>
        <pc:sldMkLst>
          <pc:docMk/>
          <pc:sldMk cId="1759859132" sldId="299"/>
        </pc:sldMkLst>
        <pc:picChg chg="add">
          <ac:chgData name="Sonali Goyal" userId="23d9571fe247782f" providerId="LiveId" clId="{8C5539D1-D469-4169-9425-A1A8DAB8619A}" dt="2026-02-18T13:02:53.314" v="13" actId="22"/>
          <ac:picMkLst>
            <pc:docMk/>
            <pc:sldMk cId="1759859132" sldId="299"/>
            <ac:picMk id="3" creationId="{FDC66CB2-22B2-F04F-670B-8EFF7BB38A43}"/>
          </ac:picMkLst>
        </pc:picChg>
      </pc:sldChg>
      <pc:sldChg chg="addSp new mod">
        <pc:chgData name="Sonali Goyal" userId="23d9571fe247782f" providerId="LiveId" clId="{8C5539D1-D469-4169-9425-A1A8DAB8619A}" dt="2026-02-18T13:03:23.429" v="15" actId="22"/>
        <pc:sldMkLst>
          <pc:docMk/>
          <pc:sldMk cId="812937547" sldId="300"/>
        </pc:sldMkLst>
        <pc:picChg chg="add">
          <ac:chgData name="Sonali Goyal" userId="23d9571fe247782f" providerId="LiveId" clId="{8C5539D1-D469-4169-9425-A1A8DAB8619A}" dt="2026-02-18T13:03:23.429" v="15" actId="22"/>
          <ac:picMkLst>
            <pc:docMk/>
            <pc:sldMk cId="812937547" sldId="300"/>
            <ac:picMk id="3" creationId="{AC593A9C-B6C8-ACD3-178D-E078EBCFF96B}"/>
          </ac:picMkLst>
        </pc:picChg>
      </pc:sldChg>
      <pc:sldChg chg="addSp new mod">
        <pc:chgData name="Sonali Goyal" userId="23d9571fe247782f" providerId="LiveId" clId="{8C5539D1-D469-4169-9425-A1A8DAB8619A}" dt="2026-02-18T13:03:51.701" v="17" actId="22"/>
        <pc:sldMkLst>
          <pc:docMk/>
          <pc:sldMk cId="2575546455" sldId="301"/>
        </pc:sldMkLst>
        <pc:picChg chg="add">
          <ac:chgData name="Sonali Goyal" userId="23d9571fe247782f" providerId="LiveId" clId="{8C5539D1-D469-4169-9425-A1A8DAB8619A}" dt="2026-02-18T13:03:51.701" v="17" actId="22"/>
          <ac:picMkLst>
            <pc:docMk/>
            <pc:sldMk cId="2575546455" sldId="301"/>
            <ac:picMk id="3" creationId="{54D729E3-57C4-C054-4049-CD0AF1E7A7C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U-3</a:t>
            </a:r>
            <a:br>
              <a:rPr lang="en-US" dirty="0"/>
            </a:br>
            <a:endParaRPr lang="en-US" dirty="0"/>
          </a:p>
        </p:txBody>
      </p:sp>
      <p:sp>
        <p:nvSpPr>
          <p:cNvPr id="3" name="Subtitle 2"/>
          <p:cNvSpPr>
            <a:spLocks noGrp="1"/>
          </p:cNvSpPr>
          <p:nvPr>
            <p:ph type="subTitle" idx="1"/>
          </p:nvPr>
        </p:nvSpPr>
        <p:spPr/>
        <p:txBody>
          <a:bodyPr/>
          <a:lstStyle/>
          <a:p>
            <a:r>
              <a:rPr lang="en-US" b="1" dirty="0">
                <a:solidFill>
                  <a:schemeClr val="tx1"/>
                </a:solidFill>
                <a:latin typeface="Times New Roman" pitchFamily="18" charset="0"/>
                <a:cs typeface="Times New Roman" pitchFamily="18" charset="0"/>
              </a:rPr>
              <a:t>Model free learning</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iro.medium.com/v2/resize:fit:624/1*W-xIKHBSp8LrKwZRAQE-0Q.png"/>
          <p:cNvPicPr>
            <a:picLocks noChangeAspect="1" noChangeArrowheads="1"/>
          </p:cNvPicPr>
          <p:nvPr/>
        </p:nvPicPr>
        <p:blipFill>
          <a:blip r:embed="rId2"/>
          <a:srcRect/>
          <a:stretch>
            <a:fillRect/>
          </a:stretch>
        </p:blipFill>
        <p:spPr bwMode="auto">
          <a:xfrm>
            <a:off x="533400" y="609600"/>
            <a:ext cx="7924800" cy="2743200"/>
          </a:xfrm>
          <a:prstGeom prst="rect">
            <a:avLst/>
          </a:prstGeom>
          <a:noFill/>
        </p:spPr>
      </p:pic>
      <p:sp>
        <p:nvSpPr>
          <p:cNvPr id="3" name="Rectangle 2"/>
          <p:cNvSpPr/>
          <p:nvPr/>
        </p:nvSpPr>
        <p:spPr>
          <a:xfrm>
            <a:off x="0" y="3429000"/>
            <a:ext cx="9144000" cy="2862322"/>
          </a:xfrm>
          <a:prstGeom prst="rect">
            <a:avLst/>
          </a:prstGeom>
        </p:spPr>
        <p:txBody>
          <a:bodyPr wrap="square">
            <a:spAutoFit/>
          </a:bodyPr>
          <a:lstStyle/>
          <a:p>
            <a:pPr algn="just">
              <a:lnSpc>
                <a:spcPct val="150000"/>
              </a:lnSpc>
            </a:pPr>
            <a:r>
              <a:rPr lang="en-US" sz="2000" dirty="0">
                <a:latin typeface="Times New Roman" pitchFamily="18" charset="0"/>
                <a:cs typeface="Times New Roman" pitchFamily="18" charset="0"/>
              </a:rPr>
              <a:t>There are 2 main types of RL algorithms. They are </a:t>
            </a:r>
            <a:r>
              <a:rPr lang="en-US" sz="2000" b="1" dirty="0">
                <a:latin typeface="Times New Roman" pitchFamily="18" charset="0"/>
                <a:cs typeface="Times New Roman" pitchFamily="18" charset="0"/>
              </a:rPr>
              <a:t>model-based</a:t>
            </a:r>
            <a:r>
              <a:rPr lang="en-US" sz="2000" dirty="0">
                <a:latin typeface="Times New Roman" pitchFamily="18" charset="0"/>
                <a:cs typeface="Times New Roman" pitchFamily="18" charset="0"/>
              </a:rPr>
              <a:t> and </a:t>
            </a:r>
            <a:r>
              <a:rPr lang="en-US" sz="2000" b="1" dirty="0">
                <a:latin typeface="Times New Roman" pitchFamily="18" charset="0"/>
                <a:cs typeface="Times New Roman" pitchFamily="18" charset="0"/>
              </a:rPr>
              <a:t>model-free</a:t>
            </a:r>
            <a:r>
              <a:rPr lang="en-US" sz="2000" dirty="0">
                <a:latin typeface="Times New Roman" pitchFamily="18" charset="0"/>
                <a:cs typeface="Times New Roman" pitchFamily="18" charset="0"/>
              </a:rPr>
              <a:t>.</a:t>
            </a:r>
          </a:p>
          <a:p>
            <a:pPr algn="just">
              <a:lnSpc>
                <a:spcPct val="150000"/>
              </a:lnSpc>
            </a:pPr>
            <a:r>
              <a:rPr lang="en-US" sz="2000" dirty="0">
                <a:latin typeface="Times New Roman" pitchFamily="18" charset="0"/>
                <a:cs typeface="Times New Roman" pitchFamily="18" charset="0"/>
              </a:rPr>
              <a:t>A </a:t>
            </a:r>
            <a:r>
              <a:rPr lang="en-US" sz="2000" b="1" dirty="0">
                <a:latin typeface="Times New Roman" pitchFamily="18" charset="0"/>
                <a:cs typeface="Times New Roman" pitchFamily="18" charset="0"/>
              </a:rPr>
              <a:t>model-free</a:t>
            </a:r>
            <a:r>
              <a:rPr lang="en-US" sz="2000" dirty="0">
                <a:latin typeface="Times New Roman" pitchFamily="18" charset="0"/>
                <a:cs typeface="Times New Roman" pitchFamily="18" charset="0"/>
              </a:rPr>
              <a:t> algorithm is an algorithm that estimates the optimal policy without using or estimating the dynamics (transition and reward functions) of the environment.(cram all the things of </a:t>
            </a:r>
            <a:r>
              <a:rPr lang="en-US" sz="2000" dirty="0" err="1">
                <a:latin typeface="Times New Roman" pitchFamily="18" charset="0"/>
                <a:cs typeface="Times New Roman" pitchFamily="18" charset="0"/>
              </a:rPr>
              <a:t>algo</a:t>
            </a:r>
            <a:r>
              <a:rPr lang="en-US" sz="2000" dirty="0">
                <a:latin typeface="Times New Roman" pitchFamily="18" charset="0"/>
                <a:cs typeface="Times New Roman" pitchFamily="18" charset="0"/>
              </a:rPr>
              <a:t>)  Whereas, a </a:t>
            </a:r>
            <a:r>
              <a:rPr lang="en-US" sz="2000" b="1" dirty="0">
                <a:latin typeface="Times New Roman" pitchFamily="18" charset="0"/>
                <a:cs typeface="Times New Roman" pitchFamily="18" charset="0"/>
              </a:rPr>
              <a:t>model-based( </a:t>
            </a:r>
            <a:r>
              <a:rPr lang="en-US" sz="2000" b="1" dirty="0">
                <a:solidFill>
                  <a:srgbClr val="FF0000"/>
                </a:solidFill>
                <a:latin typeface="Times New Roman" pitchFamily="18" charset="0"/>
                <a:cs typeface="Times New Roman" pitchFamily="18" charset="0"/>
              </a:rPr>
              <a:t>for fixed environment problems</a:t>
            </a:r>
            <a:r>
              <a:rPr lang="en-US" sz="2000" b="1" dirty="0">
                <a:latin typeface="Times New Roman" pitchFamily="18" charset="0"/>
                <a:cs typeface="Times New Roman" pitchFamily="18" charset="0"/>
              </a:rPr>
              <a:t>)</a:t>
            </a:r>
          </a:p>
          <a:p>
            <a:pPr algn="just">
              <a:lnSpc>
                <a:spcPct val="150000"/>
              </a:lnSpc>
            </a:pPr>
            <a:r>
              <a:rPr lang="en-US" sz="2000" dirty="0">
                <a:latin typeface="Times New Roman" pitchFamily="18" charset="0"/>
                <a:cs typeface="Times New Roman" pitchFamily="18" charset="0"/>
              </a:rPr>
              <a:t> algorithm is an algorithm that uses the transition function (and the reward function) in order to estimate the optimal policy.(understand the underlying principles of algorithm)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static.packt-cdn.com/products/9781789345803/graphics/assets/1876d228-eea3-4d30-9dfc-b4aa8f1507c1.png"/>
          <p:cNvPicPr>
            <a:picLocks noChangeAspect="1" noChangeArrowheads="1"/>
          </p:cNvPicPr>
          <p:nvPr/>
        </p:nvPicPr>
        <p:blipFill>
          <a:blip r:embed="rId2"/>
          <a:srcRect/>
          <a:stretch>
            <a:fillRect/>
          </a:stretch>
        </p:blipFill>
        <p:spPr bwMode="auto">
          <a:xfrm>
            <a:off x="228601" y="447675"/>
            <a:ext cx="7391400" cy="6410325"/>
          </a:xfrm>
          <a:prstGeom prst="rect">
            <a:avLst/>
          </a:prstGeom>
          <a:noFill/>
        </p:spPr>
      </p:pic>
      <p:sp>
        <p:nvSpPr>
          <p:cNvPr id="3" name="Rectangle 2"/>
          <p:cNvSpPr/>
          <p:nvPr/>
        </p:nvSpPr>
        <p:spPr>
          <a:xfrm>
            <a:off x="7772400" y="1066800"/>
            <a:ext cx="1371600" cy="28956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t>MCTS-Monte Carlo Tree Search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3651BF-A9C8-457E-960D-F5EB588307A3}"/>
              </a:ext>
            </a:extLst>
          </p:cNvPr>
          <p:cNvSpPr txBox="1"/>
          <p:nvPr/>
        </p:nvSpPr>
        <p:spPr>
          <a:xfrm>
            <a:off x="152400" y="228600"/>
            <a:ext cx="8686800" cy="5909310"/>
          </a:xfrm>
          <a:prstGeom prst="rect">
            <a:avLst/>
          </a:prstGeom>
          <a:noFill/>
        </p:spPr>
        <p:txBody>
          <a:bodyPr wrap="square">
            <a:spAutoFit/>
          </a:bodyPr>
          <a:lstStyle/>
          <a:p>
            <a:pPr>
              <a:buNone/>
            </a:pPr>
            <a:r>
              <a:rPr lang="en-US" b="1" dirty="0"/>
              <a:t>On-Policy vs Off-Policy (With Real-Life Examples)</a:t>
            </a:r>
          </a:p>
          <a:p>
            <a:pPr>
              <a:buNone/>
            </a:pPr>
            <a:r>
              <a:rPr lang="en-US" dirty="0"/>
              <a:t>In reinforcement learning, the key difference is:</a:t>
            </a:r>
          </a:p>
          <a:p>
            <a:pPr>
              <a:buFont typeface="Arial" panose="020B0604020202020204" pitchFamily="34" charset="0"/>
              <a:buChar char="•"/>
            </a:pPr>
            <a:r>
              <a:rPr lang="en-US" b="1" dirty="0"/>
              <a:t>On-policy</a:t>
            </a:r>
            <a:r>
              <a:rPr lang="en-US" dirty="0"/>
              <a:t> → Learn about the policy you are actually following</a:t>
            </a:r>
          </a:p>
          <a:p>
            <a:pPr>
              <a:buFont typeface="Arial" panose="020B0604020202020204" pitchFamily="34" charset="0"/>
              <a:buChar char="•"/>
            </a:pPr>
            <a:r>
              <a:rPr lang="en-US" b="1" dirty="0"/>
              <a:t>Off-policy</a:t>
            </a:r>
            <a:r>
              <a:rPr lang="en-US" dirty="0"/>
              <a:t> → Learn about a different (usually better) policy than the one you are following</a:t>
            </a:r>
          </a:p>
          <a:p>
            <a:pPr>
              <a:buNone/>
            </a:pPr>
            <a:br>
              <a:rPr lang="en-US" dirty="0"/>
            </a:br>
            <a:r>
              <a:rPr lang="en-US" b="1" dirty="0"/>
              <a:t> 1. On-Policy Learning (Learn What You Do)</a:t>
            </a:r>
          </a:p>
          <a:p>
            <a:pPr>
              <a:buNone/>
            </a:pPr>
            <a:r>
              <a:rPr lang="en-US" dirty="0"/>
              <a:t>You learn from the exact actions you take — including exploration and mistakes.</a:t>
            </a:r>
          </a:p>
          <a:p>
            <a:pPr>
              <a:buNone/>
            </a:pPr>
            <a:r>
              <a:rPr lang="en-US" b="1" dirty="0"/>
              <a:t>Real-Life Example: Learning to Drive Carefully</a:t>
            </a:r>
          </a:p>
          <a:p>
            <a:pPr>
              <a:buNone/>
            </a:pPr>
            <a:r>
              <a:rPr lang="en-US" dirty="0"/>
              <a:t>Imagine you're learning to drive on mountain roads.</a:t>
            </a:r>
          </a:p>
          <a:p>
            <a:pPr>
              <a:buNone/>
            </a:pPr>
            <a:r>
              <a:rPr lang="en-US" dirty="0"/>
              <a:t>You decide:</a:t>
            </a:r>
          </a:p>
          <a:p>
            <a:pPr>
              <a:buFont typeface="Arial" panose="020B0604020202020204" pitchFamily="34" charset="0"/>
              <a:buChar char="•"/>
            </a:pPr>
            <a:r>
              <a:rPr lang="en-US" dirty="0"/>
              <a:t>“I’ll sometimes try slightly risky turns to learn.”</a:t>
            </a:r>
          </a:p>
          <a:p>
            <a:pPr>
              <a:buNone/>
            </a:pPr>
            <a:r>
              <a:rPr lang="en-US" dirty="0"/>
              <a:t>Every time you:</a:t>
            </a:r>
          </a:p>
          <a:p>
            <a:pPr>
              <a:buFont typeface="Arial" panose="020B0604020202020204" pitchFamily="34" charset="0"/>
              <a:buChar char="•"/>
            </a:pPr>
            <a:r>
              <a:rPr lang="en-US" dirty="0"/>
              <a:t>Take a turn</a:t>
            </a:r>
          </a:p>
          <a:p>
            <a:pPr>
              <a:buFont typeface="Arial" panose="020B0604020202020204" pitchFamily="34" charset="0"/>
              <a:buChar char="•"/>
            </a:pPr>
            <a:r>
              <a:rPr lang="en-US" dirty="0"/>
              <a:t>Feel how risky it was</a:t>
            </a:r>
          </a:p>
          <a:p>
            <a:pPr>
              <a:buFont typeface="Arial" panose="020B0604020202020204" pitchFamily="34" charset="0"/>
              <a:buChar char="•"/>
            </a:pPr>
            <a:r>
              <a:rPr lang="en-US" dirty="0"/>
              <a:t>Adjust your future behavior</a:t>
            </a:r>
          </a:p>
          <a:p>
            <a:pPr>
              <a:buNone/>
            </a:pPr>
            <a:r>
              <a:rPr lang="en-US" dirty="0"/>
              <a:t>You're learning based on the </a:t>
            </a:r>
            <a:r>
              <a:rPr lang="en-US" i="1" dirty="0"/>
              <a:t>actual actions you took</a:t>
            </a:r>
            <a:r>
              <a:rPr lang="en-US" dirty="0"/>
              <a:t>, even if they were imperfect.</a:t>
            </a:r>
          </a:p>
          <a:p>
            <a:pPr>
              <a:buNone/>
            </a:pPr>
            <a:r>
              <a:rPr lang="en-US" dirty="0"/>
              <a:t>That’s </a:t>
            </a:r>
            <a:r>
              <a:rPr lang="en-US" b="1" dirty="0"/>
              <a:t>on-policy learning</a:t>
            </a:r>
            <a:r>
              <a:rPr lang="en-US" dirty="0"/>
              <a:t>.</a:t>
            </a:r>
          </a:p>
          <a:p>
            <a:r>
              <a:rPr lang="en-US" b="1" dirty="0"/>
              <a:t>RL Example: SARSA</a:t>
            </a:r>
          </a:p>
          <a:p>
            <a:r>
              <a:rPr lang="en-US" dirty="0"/>
              <a:t>With </a:t>
            </a:r>
            <a:r>
              <a:rPr lang="en-US" b="1" dirty="0"/>
              <a:t>SARSA</a:t>
            </a:r>
            <a:r>
              <a:rPr lang="en-US" dirty="0"/>
              <a:t>, the update uses the next action that your current policy actually selects.</a:t>
            </a:r>
          </a:p>
          <a:p>
            <a:r>
              <a:rPr lang="en-US" dirty="0"/>
              <a:t>So if you’re using ε-greedy (sometimes exploring), your learning reflects that exploration.</a:t>
            </a:r>
          </a:p>
          <a:p>
            <a:pPr>
              <a:buNone/>
            </a:pPr>
            <a:endParaRPr lang="en-US" dirty="0"/>
          </a:p>
        </p:txBody>
      </p:sp>
    </p:spTree>
    <p:extLst>
      <p:ext uri="{BB962C8B-B14F-4D97-AF65-F5344CB8AC3E}">
        <p14:creationId xmlns:p14="http://schemas.microsoft.com/office/powerpoint/2010/main" val="11331521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3CD51A5-CB20-BD9E-5EDA-CD5633BF096E}"/>
              </a:ext>
            </a:extLst>
          </p:cNvPr>
          <p:cNvSpPr txBox="1"/>
          <p:nvPr/>
        </p:nvSpPr>
        <p:spPr>
          <a:xfrm>
            <a:off x="76200" y="474345"/>
            <a:ext cx="8839200" cy="3970318"/>
          </a:xfrm>
          <a:prstGeom prst="rect">
            <a:avLst/>
          </a:prstGeom>
          <a:noFill/>
        </p:spPr>
        <p:txBody>
          <a:bodyPr wrap="square">
            <a:spAutoFit/>
          </a:bodyPr>
          <a:lstStyle/>
          <a:p>
            <a:pPr>
              <a:buNone/>
            </a:pPr>
            <a:r>
              <a:rPr lang="en-US" b="1" dirty="0"/>
              <a:t>2. Off-Policy Learning (Learn From Someone Else / Ideal Behavior)</a:t>
            </a:r>
          </a:p>
          <a:p>
            <a:pPr>
              <a:buNone/>
            </a:pPr>
            <a:r>
              <a:rPr lang="en-US" dirty="0"/>
              <a:t>You behave one way but learn as if you behaved optimally.</a:t>
            </a:r>
          </a:p>
          <a:p>
            <a:pPr>
              <a:buNone/>
            </a:pPr>
            <a:r>
              <a:rPr lang="en-US" b="1" dirty="0"/>
              <a:t>Real-Life Example: Watching an Expert Chef</a:t>
            </a:r>
          </a:p>
          <a:p>
            <a:pPr>
              <a:buNone/>
            </a:pPr>
            <a:r>
              <a:rPr lang="en-US" dirty="0"/>
              <a:t>You:</a:t>
            </a:r>
          </a:p>
          <a:p>
            <a:pPr>
              <a:buFont typeface="Arial" panose="020B0604020202020204" pitchFamily="34" charset="0"/>
              <a:buChar char="•"/>
            </a:pPr>
            <a:r>
              <a:rPr lang="en-US" dirty="0"/>
              <a:t>Cook food yourself (maybe making mistakes)</a:t>
            </a:r>
          </a:p>
          <a:p>
            <a:pPr>
              <a:buFont typeface="Arial" panose="020B0604020202020204" pitchFamily="34" charset="0"/>
              <a:buChar char="•"/>
            </a:pPr>
            <a:r>
              <a:rPr lang="en-US" dirty="0"/>
              <a:t>But you study videos of a professional chef</a:t>
            </a:r>
          </a:p>
          <a:p>
            <a:pPr>
              <a:buFont typeface="Arial" panose="020B0604020202020204" pitchFamily="34" charset="0"/>
              <a:buChar char="•"/>
            </a:pPr>
            <a:r>
              <a:rPr lang="en-US" dirty="0"/>
              <a:t>You adjust your knowledge based on how the expert does it</a:t>
            </a:r>
          </a:p>
          <a:p>
            <a:pPr>
              <a:buNone/>
            </a:pPr>
            <a:r>
              <a:rPr lang="en-US" dirty="0"/>
              <a:t>You're acting one way, but learning from a </a:t>
            </a:r>
            <a:r>
              <a:rPr lang="en-US" i="1" dirty="0"/>
              <a:t>different policy</a:t>
            </a:r>
            <a:r>
              <a:rPr lang="en-US" dirty="0"/>
              <a:t> (the expert's).</a:t>
            </a:r>
          </a:p>
          <a:p>
            <a:pPr>
              <a:buNone/>
            </a:pPr>
            <a:r>
              <a:rPr lang="en-US" dirty="0"/>
              <a:t>That’s </a:t>
            </a:r>
            <a:r>
              <a:rPr lang="en-US" b="1" dirty="0"/>
              <a:t>off-policy learning</a:t>
            </a:r>
            <a:r>
              <a:rPr lang="en-US" dirty="0"/>
              <a:t>.</a:t>
            </a:r>
          </a:p>
          <a:p>
            <a:pPr>
              <a:buNone/>
            </a:pPr>
            <a:r>
              <a:rPr lang="en-US" b="1" dirty="0"/>
              <a:t> RL Example: Q-Learning</a:t>
            </a:r>
          </a:p>
          <a:p>
            <a:pPr>
              <a:buNone/>
            </a:pPr>
            <a:r>
              <a:rPr lang="en-US" dirty="0"/>
              <a:t>Q-learning:</a:t>
            </a:r>
          </a:p>
          <a:p>
            <a:pPr>
              <a:buFont typeface="Arial" panose="020B0604020202020204" pitchFamily="34" charset="0"/>
              <a:buChar char="•"/>
            </a:pPr>
            <a:r>
              <a:rPr lang="en-US" dirty="0"/>
              <a:t>May explore randomly</a:t>
            </a:r>
          </a:p>
          <a:p>
            <a:pPr>
              <a:buFont typeface="Arial" panose="020B0604020202020204" pitchFamily="34" charset="0"/>
              <a:buChar char="•"/>
            </a:pPr>
            <a:r>
              <a:rPr lang="en-US" dirty="0"/>
              <a:t>But updates assuming the </a:t>
            </a:r>
            <a:r>
              <a:rPr lang="en-US" i="1" dirty="0"/>
              <a:t>best possible action</a:t>
            </a:r>
            <a:r>
              <a:rPr lang="en-US" dirty="0"/>
              <a:t> was taken next</a:t>
            </a:r>
          </a:p>
          <a:p>
            <a:pPr>
              <a:buNone/>
            </a:pPr>
            <a:r>
              <a:rPr lang="en-US" dirty="0"/>
              <a:t>It learns the optimal policy even while behaving imperfectly.</a:t>
            </a:r>
          </a:p>
        </p:txBody>
      </p:sp>
    </p:spTree>
    <p:extLst>
      <p:ext uri="{BB962C8B-B14F-4D97-AF65-F5344CB8AC3E}">
        <p14:creationId xmlns:p14="http://schemas.microsoft.com/office/powerpoint/2010/main" val="2975354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BCF4993-7F16-3452-8A77-35C5BA3E26D1}"/>
              </a:ext>
            </a:extLst>
          </p:cNvPr>
          <p:cNvGraphicFramePr>
            <a:graphicFrameLocks noGrp="1"/>
          </p:cNvGraphicFramePr>
          <p:nvPr>
            <p:extLst>
              <p:ext uri="{D42A27DB-BD31-4B8C-83A1-F6EECF244321}">
                <p14:modId xmlns:p14="http://schemas.microsoft.com/office/powerpoint/2010/main" val="767527026"/>
              </p:ext>
            </p:extLst>
          </p:nvPr>
        </p:nvGraphicFramePr>
        <p:xfrm>
          <a:off x="304800" y="1066800"/>
          <a:ext cx="8229600" cy="2103120"/>
        </p:xfrm>
        <a:graphic>
          <a:graphicData uri="http://schemas.openxmlformats.org/drawingml/2006/table">
            <a:tbl>
              <a:tblPr/>
              <a:tblGrid>
                <a:gridCol w="2743200">
                  <a:extLst>
                    <a:ext uri="{9D8B030D-6E8A-4147-A177-3AD203B41FA5}">
                      <a16:colId xmlns:a16="http://schemas.microsoft.com/office/drawing/2014/main" val="3389590994"/>
                    </a:ext>
                  </a:extLst>
                </a:gridCol>
                <a:gridCol w="2743200">
                  <a:extLst>
                    <a:ext uri="{9D8B030D-6E8A-4147-A177-3AD203B41FA5}">
                      <a16:colId xmlns:a16="http://schemas.microsoft.com/office/drawing/2014/main" val="2723986851"/>
                    </a:ext>
                  </a:extLst>
                </a:gridCol>
                <a:gridCol w="2743200">
                  <a:extLst>
                    <a:ext uri="{9D8B030D-6E8A-4147-A177-3AD203B41FA5}">
                      <a16:colId xmlns:a16="http://schemas.microsoft.com/office/drawing/2014/main" val="1275122443"/>
                    </a:ext>
                  </a:extLst>
                </a:gridCol>
              </a:tblGrid>
              <a:tr h="0">
                <a:tc>
                  <a:txBody>
                    <a:bodyPr/>
                    <a:lstStyle/>
                    <a:p>
                      <a:pPr>
                        <a:buNone/>
                      </a:pPr>
                      <a:r>
                        <a:rPr lang="en-IN"/>
                        <a:t>Feature</a:t>
                      </a:r>
                    </a:p>
                  </a:txBody>
                  <a:tcPr anchor="ctr">
                    <a:lnL>
                      <a:noFill/>
                    </a:lnL>
                    <a:lnR>
                      <a:noFill/>
                    </a:lnR>
                    <a:lnT>
                      <a:noFill/>
                    </a:lnT>
                    <a:lnB>
                      <a:noFill/>
                    </a:lnB>
                    <a:noFill/>
                  </a:tcPr>
                </a:tc>
                <a:tc>
                  <a:txBody>
                    <a:bodyPr/>
                    <a:lstStyle/>
                    <a:p>
                      <a:pPr>
                        <a:buNone/>
                      </a:pPr>
                      <a:r>
                        <a:rPr lang="en-IN"/>
                        <a:t>On-Policy</a:t>
                      </a:r>
                    </a:p>
                  </a:txBody>
                  <a:tcPr anchor="ctr">
                    <a:lnL>
                      <a:noFill/>
                    </a:lnL>
                    <a:lnR>
                      <a:noFill/>
                    </a:lnR>
                    <a:lnT>
                      <a:noFill/>
                    </a:lnT>
                    <a:lnB>
                      <a:noFill/>
                    </a:lnB>
                    <a:noFill/>
                  </a:tcPr>
                </a:tc>
                <a:tc>
                  <a:txBody>
                    <a:bodyPr/>
                    <a:lstStyle/>
                    <a:p>
                      <a:pPr>
                        <a:buNone/>
                      </a:pPr>
                      <a:r>
                        <a:rPr lang="en-IN"/>
                        <a:t>Off-Policy</a:t>
                      </a:r>
                    </a:p>
                  </a:txBody>
                  <a:tcPr anchor="ctr">
                    <a:lnL>
                      <a:noFill/>
                    </a:lnL>
                    <a:lnR>
                      <a:noFill/>
                    </a:lnR>
                    <a:lnT>
                      <a:noFill/>
                    </a:lnT>
                    <a:lnB>
                      <a:noFill/>
                    </a:lnB>
                    <a:noFill/>
                  </a:tcPr>
                </a:tc>
                <a:extLst>
                  <a:ext uri="{0D108BD9-81ED-4DB2-BD59-A6C34878D82A}">
                    <a16:rowId xmlns:a16="http://schemas.microsoft.com/office/drawing/2014/main" val="312568027"/>
                  </a:ext>
                </a:extLst>
              </a:tr>
              <a:tr h="0">
                <a:tc>
                  <a:txBody>
                    <a:bodyPr/>
                    <a:lstStyle/>
                    <a:p>
                      <a:pPr>
                        <a:buNone/>
                      </a:pPr>
                      <a:r>
                        <a:rPr lang="en-IN"/>
                        <a:t>Learns from</a:t>
                      </a:r>
                    </a:p>
                  </a:txBody>
                  <a:tcPr anchor="ctr">
                    <a:lnL>
                      <a:noFill/>
                    </a:lnL>
                    <a:lnR>
                      <a:noFill/>
                    </a:lnR>
                    <a:lnT>
                      <a:noFill/>
                    </a:lnT>
                    <a:lnB>
                      <a:noFill/>
                    </a:lnB>
                    <a:noFill/>
                  </a:tcPr>
                </a:tc>
                <a:tc>
                  <a:txBody>
                    <a:bodyPr/>
                    <a:lstStyle/>
                    <a:p>
                      <a:pPr>
                        <a:buNone/>
                      </a:pPr>
                      <a:r>
                        <a:rPr lang="en-IN"/>
                        <a:t>Actions actually taken</a:t>
                      </a:r>
                    </a:p>
                  </a:txBody>
                  <a:tcPr anchor="ctr">
                    <a:lnL>
                      <a:noFill/>
                    </a:lnL>
                    <a:lnR>
                      <a:noFill/>
                    </a:lnR>
                    <a:lnT>
                      <a:noFill/>
                    </a:lnT>
                    <a:lnB>
                      <a:noFill/>
                    </a:lnB>
                    <a:noFill/>
                  </a:tcPr>
                </a:tc>
                <a:tc>
                  <a:txBody>
                    <a:bodyPr/>
                    <a:lstStyle/>
                    <a:p>
                      <a:pPr>
                        <a:buNone/>
                      </a:pPr>
                      <a:r>
                        <a:rPr lang="en-IN"/>
                        <a:t>Best/other actions</a:t>
                      </a:r>
                    </a:p>
                  </a:txBody>
                  <a:tcPr anchor="ctr">
                    <a:lnL>
                      <a:noFill/>
                    </a:lnL>
                    <a:lnR>
                      <a:noFill/>
                    </a:lnR>
                    <a:lnT>
                      <a:noFill/>
                    </a:lnT>
                    <a:lnB>
                      <a:noFill/>
                    </a:lnB>
                    <a:noFill/>
                  </a:tcPr>
                </a:tc>
                <a:extLst>
                  <a:ext uri="{0D108BD9-81ED-4DB2-BD59-A6C34878D82A}">
                    <a16:rowId xmlns:a16="http://schemas.microsoft.com/office/drawing/2014/main" val="3581901243"/>
                  </a:ext>
                </a:extLst>
              </a:tr>
              <a:tr h="0">
                <a:tc>
                  <a:txBody>
                    <a:bodyPr/>
                    <a:lstStyle/>
                    <a:p>
                      <a:pPr>
                        <a:buNone/>
                      </a:pPr>
                      <a:r>
                        <a:rPr lang="en-IN"/>
                        <a:t>Exploration affects learning?</a:t>
                      </a:r>
                    </a:p>
                  </a:txBody>
                  <a:tcPr anchor="ctr">
                    <a:lnL>
                      <a:noFill/>
                    </a:lnL>
                    <a:lnR>
                      <a:noFill/>
                    </a:lnR>
                    <a:lnT>
                      <a:noFill/>
                    </a:lnT>
                    <a:lnB>
                      <a:noFill/>
                    </a:lnB>
                    <a:noFill/>
                  </a:tcPr>
                </a:tc>
                <a:tc>
                  <a:txBody>
                    <a:bodyPr/>
                    <a:lstStyle/>
                    <a:p>
                      <a:pPr>
                        <a:buNone/>
                      </a:pPr>
                      <a:r>
                        <a:rPr lang="en-IN"/>
                        <a:t>Yes</a:t>
                      </a:r>
                    </a:p>
                  </a:txBody>
                  <a:tcPr anchor="ctr">
                    <a:lnL>
                      <a:noFill/>
                    </a:lnL>
                    <a:lnR>
                      <a:noFill/>
                    </a:lnR>
                    <a:lnT>
                      <a:noFill/>
                    </a:lnT>
                    <a:lnB>
                      <a:noFill/>
                    </a:lnB>
                    <a:noFill/>
                  </a:tcPr>
                </a:tc>
                <a:tc>
                  <a:txBody>
                    <a:bodyPr/>
                    <a:lstStyle/>
                    <a:p>
                      <a:pPr>
                        <a:buNone/>
                      </a:pPr>
                      <a:r>
                        <a:rPr lang="en-IN"/>
                        <a:t>No (learns optimal anyway)</a:t>
                      </a:r>
                    </a:p>
                  </a:txBody>
                  <a:tcPr anchor="ctr">
                    <a:lnL>
                      <a:noFill/>
                    </a:lnL>
                    <a:lnR>
                      <a:noFill/>
                    </a:lnR>
                    <a:lnT>
                      <a:noFill/>
                    </a:lnT>
                    <a:lnB>
                      <a:noFill/>
                    </a:lnB>
                    <a:noFill/>
                  </a:tcPr>
                </a:tc>
                <a:extLst>
                  <a:ext uri="{0D108BD9-81ED-4DB2-BD59-A6C34878D82A}">
                    <a16:rowId xmlns:a16="http://schemas.microsoft.com/office/drawing/2014/main" val="3939675876"/>
                  </a:ext>
                </a:extLst>
              </a:tr>
              <a:tr h="0">
                <a:tc>
                  <a:txBody>
                    <a:bodyPr/>
                    <a:lstStyle/>
                    <a:p>
                      <a:pPr>
                        <a:buNone/>
                      </a:pPr>
                      <a:r>
                        <a:rPr lang="en-IN"/>
                        <a:t>Example Algorithm</a:t>
                      </a:r>
                    </a:p>
                  </a:txBody>
                  <a:tcPr anchor="ctr">
                    <a:lnL>
                      <a:noFill/>
                    </a:lnL>
                    <a:lnR>
                      <a:noFill/>
                    </a:lnR>
                    <a:lnT>
                      <a:noFill/>
                    </a:lnT>
                    <a:lnB>
                      <a:noFill/>
                    </a:lnB>
                    <a:noFill/>
                  </a:tcPr>
                </a:tc>
                <a:tc>
                  <a:txBody>
                    <a:bodyPr/>
                    <a:lstStyle/>
                    <a:p>
                      <a:pPr>
                        <a:buNone/>
                      </a:pPr>
                      <a:r>
                        <a:rPr lang="en-IN"/>
                        <a:t>SARSA</a:t>
                      </a:r>
                    </a:p>
                  </a:txBody>
                  <a:tcPr anchor="ctr">
                    <a:lnL>
                      <a:noFill/>
                    </a:lnL>
                    <a:lnR>
                      <a:noFill/>
                    </a:lnR>
                    <a:lnT>
                      <a:noFill/>
                    </a:lnT>
                    <a:lnB>
                      <a:noFill/>
                    </a:lnB>
                    <a:noFill/>
                  </a:tcPr>
                </a:tc>
                <a:tc>
                  <a:txBody>
                    <a:bodyPr/>
                    <a:lstStyle/>
                    <a:p>
                      <a:pPr>
                        <a:buNone/>
                      </a:pPr>
                      <a:r>
                        <a:rPr lang="en-IN"/>
                        <a:t>Q-learning</a:t>
                      </a:r>
                    </a:p>
                  </a:txBody>
                  <a:tcPr anchor="ctr">
                    <a:lnL>
                      <a:noFill/>
                    </a:lnL>
                    <a:lnR>
                      <a:noFill/>
                    </a:lnR>
                    <a:lnT>
                      <a:noFill/>
                    </a:lnT>
                    <a:lnB>
                      <a:noFill/>
                    </a:lnB>
                    <a:noFill/>
                  </a:tcPr>
                </a:tc>
                <a:extLst>
                  <a:ext uri="{0D108BD9-81ED-4DB2-BD59-A6C34878D82A}">
                    <a16:rowId xmlns:a16="http://schemas.microsoft.com/office/drawing/2014/main" val="2587907760"/>
                  </a:ext>
                </a:extLst>
              </a:tr>
              <a:tr h="0">
                <a:tc>
                  <a:txBody>
                    <a:bodyPr/>
                    <a:lstStyle/>
                    <a:p>
                      <a:pPr>
                        <a:buNone/>
                      </a:pPr>
                      <a:r>
                        <a:rPr lang="en-IN"/>
                        <a:t>Risk behavior</a:t>
                      </a:r>
                    </a:p>
                  </a:txBody>
                  <a:tcPr anchor="ctr">
                    <a:lnL>
                      <a:noFill/>
                    </a:lnL>
                    <a:lnR>
                      <a:noFill/>
                    </a:lnR>
                    <a:lnT>
                      <a:noFill/>
                    </a:lnT>
                    <a:lnB>
                      <a:noFill/>
                    </a:lnB>
                    <a:noFill/>
                  </a:tcPr>
                </a:tc>
                <a:tc>
                  <a:txBody>
                    <a:bodyPr/>
                    <a:lstStyle/>
                    <a:p>
                      <a:pPr>
                        <a:buNone/>
                      </a:pPr>
                      <a:r>
                        <a:rPr lang="en-IN"/>
                        <a:t>Safer</a:t>
                      </a:r>
                    </a:p>
                  </a:txBody>
                  <a:tcPr anchor="ctr">
                    <a:lnL>
                      <a:noFill/>
                    </a:lnL>
                    <a:lnR>
                      <a:noFill/>
                    </a:lnR>
                    <a:lnT>
                      <a:noFill/>
                    </a:lnT>
                    <a:lnB>
                      <a:noFill/>
                    </a:lnB>
                    <a:noFill/>
                  </a:tcPr>
                </a:tc>
                <a:tc>
                  <a:txBody>
                    <a:bodyPr/>
                    <a:lstStyle/>
                    <a:p>
                      <a:pPr>
                        <a:buNone/>
                      </a:pPr>
                      <a:r>
                        <a:rPr lang="en-IN" dirty="0"/>
                        <a:t>More aggressive</a:t>
                      </a:r>
                    </a:p>
                  </a:txBody>
                  <a:tcPr anchor="ctr">
                    <a:lnL>
                      <a:noFill/>
                    </a:lnL>
                    <a:lnR>
                      <a:noFill/>
                    </a:lnR>
                    <a:lnT>
                      <a:noFill/>
                    </a:lnT>
                    <a:lnB>
                      <a:noFill/>
                    </a:lnB>
                    <a:noFill/>
                  </a:tcPr>
                </a:tc>
                <a:extLst>
                  <a:ext uri="{0D108BD9-81ED-4DB2-BD59-A6C34878D82A}">
                    <a16:rowId xmlns:a16="http://schemas.microsoft.com/office/drawing/2014/main" val="846139214"/>
                  </a:ext>
                </a:extLst>
              </a:tr>
            </a:tbl>
          </a:graphicData>
        </a:graphic>
      </p:graphicFrame>
      <p:sp>
        <p:nvSpPr>
          <p:cNvPr id="3" name="Rectangle 1">
            <a:extLst>
              <a:ext uri="{FF2B5EF4-FFF2-40B4-BE49-F238E27FC236}">
                <a16:creationId xmlns:a16="http://schemas.microsoft.com/office/drawing/2014/main" id="{B7DC518D-6EAB-E2FD-256B-7874120F6EBB}"/>
              </a:ext>
            </a:extLst>
          </p:cNvPr>
          <p:cNvSpPr>
            <a:spLocks noChangeArrowheads="1"/>
          </p:cNvSpPr>
          <p:nvPr/>
        </p:nvSpPr>
        <p:spPr bwMode="auto">
          <a:xfrm>
            <a:off x="838200" y="4419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On-policy</a:t>
            </a:r>
            <a:r>
              <a:rPr kumimoji="0" lang="en-US" altLang="en-US" sz="1800" b="0" i="0" u="none" strike="noStrike" cap="none" normalizeH="0" baseline="0">
                <a:ln>
                  <a:noFill/>
                </a:ln>
                <a:solidFill>
                  <a:schemeClr val="tx1"/>
                </a:solidFill>
                <a:effectLst/>
                <a:latin typeface="Arial" panose="020B0604020202020204" pitchFamily="34" charset="0"/>
              </a:rPr>
              <a:t> = “I learn from what I do.”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Off-policy</a:t>
            </a:r>
            <a:r>
              <a:rPr kumimoji="0" lang="en-US" altLang="en-US" sz="1800" b="0" i="0" u="none" strike="noStrike" cap="none" normalizeH="0" baseline="0">
                <a:ln>
                  <a:noFill/>
                </a:ln>
                <a:solidFill>
                  <a:schemeClr val="tx1"/>
                </a:solidFill>
                <a:effectLst/>
                <a:latin typeface="Arial" panose="020B0604020202020204" pitchFamily="34" charset="0"/>
              </a:rPr>
              <a:t> = “I learn from what I </a:t>
            </a:r>
            <a:r>
              <a:rPr kumimoji="0" lang="en-US" altLang="en-US" sz="1800" b="0" i="1" u="none" strike="noStrike" cap="none" normalizeH="0" baseline="0">
                <a:ln>
                  <a:noFill/>
                </a:ln>
                <a:solidFill>
                  <a:schemeClr val="tx1"/>
                </a:solidFill>
                <a:effectLst/>
                <a:latin typeface="Arial" panose="020B0604020202020204" pitchFamily="34" charset="0"/>
              </a:rPr>
              <a:t>should</a:t>
            </a:r>
            <a:r>
              <a:rPr kumimoji="0" lang="en-US" altLang="en-US" sz="1800" b="0" i="0" u="none" strike="noStrike" cap="none" normalizeH="0" baseline="0">
                <a:ln>
                  <a:noFill/>
                </a:ln>
                <a:solidFill>
                  <a:schemeClr val="tx1"/>
                </a:solidFill>
                <a:effectLst/>
                <a:latin typeface="Arial" panose="020B0604020202020204" pitchFamily="34" charset="0"/>
              </a:rPr>
              <a:t> have done.”</a:t>
            </a:r>
          </a:p>
        </p:txBody>
      </p:sp>
    </p:spTree>
    <p:extLst>
      <p:ext uri="{BB962C8B-B14F-4D97-AF65-F5344CB8AC3E}">
        <p14:creationId xmlns:p14="http://schemas.microsoft.com/office/powerpoint/2010/main" val="2506420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457201"/>
            <a:ext cx="8686800" cy="4708981"/>
          </a:xfrm>
          <a:prstGeom prst="rect">
            <a:avLst/>
          </a:prstGeom>
        </p:spPr>
        <p:txBody>
          <a:bodyPr wrap="square">
            <a:spAutoFit/>
          </a:bodyPr>
          <a:lstStyle/>
          <a:p>
            <a:pPr algn="just"/>
            <a:r>
              <a:rPr lang="en-US" sz="2000" b="1" dirty="0">
                <a:latin typeface="Times New Roman" pitchFamily="18" charset="0"/>
                <a:cs typeface="Times New Roman" pitchFamily="18" charset="0"/>
              </a:rPr>
              <a:t>Problem Statement</a:t>
            </a:r>
            <a:r>
              <a:rPr lang="en-US" sz="2000" dirty="0">
                <a:latin typeface="Times New Roman" pitchFamily="18" charset="0"/>
                <a:cs typeface="Times New Roman" pitchFamily="18" charset="0"/>
              </a:rPr>
              <a:t>: You just moved to a new locality and have tried a few restaurants in your area. Today you are going out to eat again at a restaurant.</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We are transforming the problem of selecting the best restaurant to eat at into </a:t>
            </a:r>
            <a:r>
              <a:rPr lang="en-US" sz="2000" u="sng" dirty="0">
                <a:latin typeface="Times New Roman" pitchFamily="18" charset="0"/>
                <a:cs typeface="Times New Roman" pitchFamily="18" charset="0"/>
              </a:rPr>
              <a:t>Reinforcement learning</a:t>
            </a:r>
            <a:r>
              <a:rPr lang="en-US" sz="2000" dirty="0">
                <a:latin typeface="Times New Roman" pitchFamily="18" charset="0"/>
                <a:cs typeface="Times New Roman" pitchFamily="18" charset="0"/>
              </a:rPr>
              <a:t>.</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You, the </a:t>
            </a:r>
            <a:r>
              <a:rPr lang="en-US" sz="2000" b="1" dirty="0">
                <a:latin typeface="Times New Roman" pitchFamily="18" charset="0"/>
                <a:cs typeface="Times New Roman" pitchFamily="18" charset="0"/>
              </a:rPr>
              <a:t>Agent</a:t>
            </a:r>
            <a:r>
              <a:rPr lang="en-US" sz="2000" dirty="0">
                <a:latin typeface="Times New Roman" pitchFamily="18" charset="0"/>
                <a:cs typeface="Times New Roman" pitchFamily="18" charset="0"/>
              </a:rPr>
              <a:t>, or the decision maker, are constantly trying to find the best restaurant experience in your area, referred to as an </a:t>
            </a:r>
            <a:r>
              <a:rPr lang="en-US" sz="2000" b="1" dirty="0">
                <a:latin typeface="Times New Roman" pitchFamily="18" charset="0"/>
                <a:cs typeface="Times New Roman" pitchFamily="18" charset="0"/>
              </a:rPr>
              <a:t>Environment,</a:t>
            </a:r>
            <a:r>
              <a:rPr lang="en-US" sz="2000" dirty="0">
                <a:latin typeface="Times New Roman" pitchFamily="18" charset="0"/>
                <a:cs typeface="Times New Roman" pitchFamily="18" charset="0"/>
              </a:rPr>
              <a:t> taking </a:t>
            </a:r>
            <a:r>
              <a:rPr lang="en-US" sz="2000" b="1" dirty="0">
                <a:latin typeface="Times New Roman" pitchFamily="18" charset="0"/>
                <a:cs typeface="Times New Roman" pitchFamily="18" charset="0"/>
              </a:rPr>
              <a:t>action </a:t>
            </a:r>
            <a:r>
              <a:rPr lang="en-US" sz="2000" dirty="0">
                <a:latin typeface="Times New Roman" pitchFamily="18" charset="0"/>
                <a:cs typeface="Times New Roman" pitchFamily="18" charset="0"/>
              </a:rPr>
              <a:t>by visiting restaurants</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at different time steps. Based on what restaurant you visit, the Environment or the restaurant changes the </a:t>
            </a:r>
            <a:r>
              <a:rPr lang="en-US" sz="2000" b="1" dirty="0">
                <a:latin typeface="Times New Roman" pitchFamily="18" charset="0"/>
                <a:cs typeface="Times New Roman" pitchFamily="18" charset="0"/>
              </a:rPr>
              <a:t>state, </a:t>
            </a:r>
            <a:r>
              <a:rPr lang="en-US" sz="2000" dirty="0">
                <a:latin typeface="Times New Roman" pitchFamily="18" charset="0"/>
                <a:cs typeface="Times New Roman" pitchFamily="18" charset="0"/>
              </a:rPr>
              <a:t>which is the restaurant experience. As a result, you receive a numerical </a:t>
            </a:r>
            <a:r>
              <a:rPr lang="en-US" sz="2000" b="1" dirty="0">
                <a:latin typeface="Times New Roman" pitchFamily="18" charset="0"/>
                <a:cs typeface="Times New Roman" pitchFamily="18" charset="0"/>
              </a:rPr>
              <a:t>reward</a:t>
            </a:r>
            <a:r>
              <a:rPr lang="en-US" sz="2000" dirty="0">
                <a:latin typeface="Times New Roman" pitchFamily="18" charset="0"/>
                <a:cs typeface="Times New Roman" pitchFamily="18" charset="0"/>
              </a:rPr>
              <a:t> from the Environment regarding a good or bad experience.</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The sole objective of the Agent, which is you, is to maximize the total reward to get the best restaurant experience in your area over the long run.</a:t>
            </a:r>
          </a:p>
        </p:txBody>
      </p:sp>
      <p:pic>
        <p:nvPicPr>
          <p:cNvPr id="37890" name="Picture 2" descr="https://miro.medium.com/v2/resize:fit:700/0*PlmatRktHjC86m81.png"/>
          <p:cNvPicPr>
            <a:picLocks noChangeAspect="1" noChangeArrowheads="1"/>
          </p:cNvPicPr>
          <p:nvPr/>
        </p:nvPicPr>
        <p:blipFill>
          <a:blip r:embed="rId2"/>
          <a:srcRect/>
          <a:stretch>
            <a:fillRect/>
          </a:stretch>
        </p:blipFill>
        <p:spPr bwMode="auto">
          <a:xfrm>
            <a:off x="1447800" y="5257800"/>
            <a:ext cx="6667500" cy="16002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1"/>
          <p:cNvSpPr>
            <a:spLocks noChangeArrowheads="1"/>
          </p:cNvSpPr>
          <p:nvPr/>
        </p:nvSpPr>
        <p:spPr bwMode="auto">
          <a:xfrm>
            <a:off x="0" y="0"/>
            <a:ext cx="9144000" cy="6247864"/>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2000" b="1" u="none" strike="noStrike" cap="none" normalizeH="0" baseline="0" dirty="0">
                <a:ln>
                  <a:noFill/>
                </a:ln>
                <a:effectLst/>
                <a:latin typeface="Times New Roman" pitchFamily="18" charset="0"/>
                <a:cs typeface="Times New Roman" pitchFamily="18" charset="0"/>
              </a:rPr>
              <a:t>A policy is a strategy an agent deploys in pursuit of a goal</a:t>
            </a:r>
            <a:r>
              <a:rPr kumimoji="0" lang="en-US" sz="2000" b="0" u="none" strike="noStrike" cap="none" normalizeH="0" baseline="0" dirty="0">
                <a:ln>
                  <a:noFill/>
                </a:ln>
                <a:effectLst/>
                <a:latin typeface="Times New Roman" pitchFamily="18" charset="0"/>
                <a:cs typeface="Times New Roman"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u="none" strike="noStrike" cap="none" normalizeH="0" baseline="0" dirty="0">
                <a:ln>
                  <a:noFill/>
                </a:ln>
                <a:effectLst/>
                <a:latin typeface="Times New Roman" pitchFamily="18" charset="0"/>
                <a:cs typeface="Times New Roman" pitchFamily="18" charset="0"/>
              </a:rPr>
              <a:t>The Policy dictates an agent's actions in an environment to maximize its long-term reward.</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000" dirty="0">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000" b="0" u="none" strike="noStrike" cap="none" normalizeH="0" baseline="0" dirty="0">
              <a:ln>
                <a:noFill/>
              </a:ln>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2000" b="1" u="none" strike="noStrike" cap="none" normalizeH="0" baseline="0" dirty="0">
                <a:ln>
                  <a:noFill/>
                </a:ln>
                <a:effectLst/>
                <a:latin typeface="Times New Roman" pitchFamily="18" charset="0"/>
                <a:cs typeface="Times New Roman" pitchFamily="18" charset="0"/>
              </a:rPr>
              <a:t>A policy is optimal if its expected reward is greater than or equal to any other policy for all states.</a:t>
            </a:r>
            <a:endParaRPr kumimoji="0" lang="en-US" sz="2000" b="0" u="none" strike="noStrike" cap="none" normalizeH="0" baseline="0" dirty="0">
              <a:ln>
                <a:noFill/>
              </a:ln>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u="none" strike="noStrike" cap="none" normalizeH="0" baseline="0" dirty="0">
                <a:ln>
                  <a:noFill/>
                </a:ln>
                <a:effectLst/>
                <a:latin typeface="Times New Roman" pitchFamily="18" charset="0"/>
                <a:cs typeface="Times New Roman" pitchFamily="18" charset="0"/>
              </a:rPr>
              <a:t>In the case of finding the best restaurant experience in your area, the actions you take generate your Policy or strategy.</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000" dirty="0">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000" b="0" u="none" strike="noStrike" cap="none" normalizeH="0" baseline="0" dirty="0">
              <a:ln>
                <a:noFill/>
              </a:ln>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2000" b="1" u="none" strike="noStrike" cap="none" normalizeH="0" baseline="0" dirty="0">
                <a:ln>
                  <a:noFill/>
                </a:ln>
                <a:effectLst/>
                <a:latin typeface="Times New Roman" pitchFamily="18" charset="0"/>
                <a:cs typeface="Times New Roman" pitchFamily="18" charset="0"/>
              </a:rPr>
              <a:t>Agent’s policy changes due to its experience while exploring and exploiting the Environment.</a:t>
            </a: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endParaRPr lang="en-US" sz="2000" b="1" dirty="0">
              <a:latin typeface="Times New Roman" pitchFamily="18" charset="0"/>
              <a:cs typeface="Times New Roman" pitchFamily="18" charset="0"/>
            </a:endParaRPr>
          </a:p>
          <a:p>
            <a:pPr lvl="0" algn="just" eaLnBrk="0" fontAlgn="base" hangingPunct="0">
              <a:spcBef>
                <a:spcPct val="0"/>
              </a:spcBef>
              <a:spcAft>
                <a:spcPct val="0"/>
              </a:spcAft>
              <a:buFont typeface="Arial" pitchFamily="34" charset="0"/>
              <a:buChar char="•"/>
            </a:pPr>
            <a:r>
              <a:rPr lang="en-US" sz="2000" dirty="0">
                <a:latin typeface="Times New Roman" pitchFamily="18" charset="0"/>
                <a:cs typeface="Times New Roman" pitchFamily="18" charset="0"/>
              </a:rPr>
              <a:t>You can decide to go to your favorite restaurant based on your experience or try a new restaurant. When you choose your favorite restaurant </a:t>
            </a:r>
            <a:r>
              <a:rPr lang="en-US" sz="2000" b="1" dirty="0">
                <a:latin typeface="Times New Roman" pitchFamily="18" charset="0"/>
                <a:cs typeface="Times New Roman" pitchFamily="18" charset="0"/>
              </a:rPr>
              <a:t>based on history</a:t>
            </a:r>
            <a:r>
              <a:rPr lang="en-US" sz="2000" dirty="0">
                <a:latin typeface="Times New Roman" pitchFamily="18" charset="0"/>
                <a:cs typeface="Times New Roman" pitchFamily="18" charset="0"/>
              </a:rPr>
              <a:t>, you have </a:t>
            </a:r>
            <a:r>
              <a:rPr lang="en-US" sz="2000" b="1" dirty="0">
                <a:latin typeface="Times New Roman" pitchFamily="18" charset="0"/>
                <a:cs typeface="Times New Roman" pitchFamily="18" charset="0"/>
              </a:rPr>
              <a:t>exploited</a:t>
            </a:r>
            <a:r>
              <a:rPr lang="en-US" sz="2000" dirty="0">
                <a:latin typeface="Times New Roman" pitchFamily="18" charset="0"/>
                <a:cs typeface="Times New Roman" pitchFamily="18" charset="0"/>
              </a:rPr>
              <a:t> the best available information. In contrast, when you try to be adventurous to </a:t>
            </a:r>
            <a:r>
              <a:rPr lang="en-US" sz="2000" b="1" dirty="0">
                <a:latin typeface="Times New Roman" pitchFamily="18" charset="0"/>
                <a:cs typeface="Times New Roman" pitchFamily="18" charset="0"/>
              </a:rPr>
              <a:t>try a new restaurant </a:t>
            </a:r>
            <a:r>
              <a:rPr lang="en-US" sz="2000" dirty="0">
                <a:latin typeface="Times New Roman" pitchFamily="18" charset="0"/>
                <a:cs typeface="Times New Roman" pitchFamily="18" charset="0"/>
              </a:rPr>
              <a:t>and gather more information, you are </a:t>
            </a:r>
            <a:r>
              <a:rPr lang="en-US" sz="2000" b="1" dirty="0">
                <a:latin typeface="Times New Roman" pitchFamily="18" charset="0"/>
                <a:cs typeface="Times New Roman" pitchFamily="18" charset="0"/>
              </a:rPr>
              <a:t>exploring</a:t>
            </a:r>
            <a:r>
              <a:rPr lang="en-US" sz="2000" dirty="0">
                <a:latin typeface="Times New Roman" pitchFamily="18" charset="0"/>
                <a:cs typeface="Times New Roman" pitchFamily="18" charset="0"/>
              </a:rPr>
              <a:t> new restaurants that may turn out to be the best restaurant you have ever been to in the area or maybe an average restaurant.</a:t>
            </a:r>
            <a:endParaRPr kumimoji="0" lang="en-US" sz="2000" b="0" u="none" strike="noStrike" cap="none" normalizeH="0" baseline="0" dirty="0">
              <a:ln>
                <a:noFill/>
              </a:ln>
              <a:effectLst/>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1"/>
          <p:cNvSpPr>
            <a:spLocks noChangeArrowheads="1"/>
          </p:cNvSpPr>
          <p:nvPr/>
        </p:nvSpPr>
        <p:spPr bwMode="auto">
          <a:xfrm>
            <a:off x="0" y="0"/>
            <a:ext cx="9144000" cy="6001643"/>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dirty="0">
                <a:ln>
                  <a:noFill/>
                </a:ln>
                <a:effectLst/>
                <a:latin typeface="Times New Roman" pitchFamily="18" charset="0"/>
                <a:cs typeface="Times New Roman" pitchFamily="18" charset="0"/>
              </a:rPr>
              <a:t>You face a dilemma of exploiting the already known information, which, in this case, is already known restaurants, or exploring new restaurant options; this is known as the Exploration-Exploitation dilemma.</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40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1" i="1" u="none" strike="noStrike" cap="none" normalizeH="0" baseline="0" dirty="0">
                <a:ln>
                  <a:noFill/>
                </a:ln>
                <a:solidFill>
                  <a:srgbClr val="292929"/>
                </a:solidFill>
                <a:effectLst/>
                <a:latin typeface="Times New Roman" pitchFamily="18" charset="0"/>
                <a:cs typeface="Times New Roman" pitchFamily="18" charset="0"/>
              </a:rPr>
              <a:t>Exploration</a:t>
            </a:r>
            <a:r>
              <a:rPr kumimoji="0" lang="en-US" sz="2400" i="1" u="none" strike="noStrike" cap="none" normalizeH="0" baseline="0" dirty="0">
                <a:ln>
                  <a:noFill/>
                </a:ln>
                <a:solidFill>
                  <a:srgbClr val="292929"/>
                </a:solidFill>
                <a:effectLst/>
                <a:latin typeface="Times New Roman" pitchFamily="18" charset="0"/>
                <a:cs typeface="Times New Roman" pitchFamily="18" charset="0"/>
              </a:rPr>
              <a:t> </a:t>
            </a:r>
            <a:r>
              <a:rPr kumimoji="0" lang="en-US" sz="2400" u="none" strike="noStrike" cap="none" normalizeH="0" baseline="0" dirty="0">
                <a:ln>
                  <a:noFill/>
                </a:ln>
                <a:solidFill>
                  <a:srgbClr val="292929"/>
                </a:solidFill>
                <a:effectLst/>
                <a:latin typeface="Times New Roman" pitchFamily="18" charset="0"/>
                <a:cs typeface="Times New Roman" pitchFamily="18" charset="0"/>
              </a:rPr>
              <a:t>is when the Agent tries to improve its knowledge about each action it can take that would lead to long-term benefits.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40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1" i="1" u="none" strike="noStrike" cap="none" normalizeH="0" baseline="0" dirty="0">
                <a:ln>
                  <a:noFill/>
                </a:ln>
                <a:solidFill>
                  <a:srgbClr val="292929"/>
                </a:solidFill>
                <a:effectLst/>
                <a:latin typeface="Times New Roman" pitchFamily="18" charset="0"/>
                <a:cs typeface="Times New Roman" pitchFamily="18" charset="0"/>
              </a:rPr>
              <a:t>Exploitation</a:t>
            </a:r>
            <a:r>
              <a:rPr kumimoji="0" lang="en-US" sz="2400" i="1" u="none" strike="noStrike" cap="none" normalizeH="0" baseline="0" dirty="0">
                <a:ln>
                  <a:noFill/>
                </a:ln>
                <a:solidFill>
                  <a:srgbClr val="292929"/>
                </a:solidFill>
                <a:effectLst/>
                <a:latin typeface="Times New Roman" pitchFamily="18" charset="0"/>
                <a:cs typeface="Times New Roman" pitchFamily="18" charset="0"/>
              </a:rPr>
              <a:t> </a:t>
            </a:r>
            <a:r>
              <a:rPr kumimoji="0" lang="en-US" sz="2400" u="none" strike="noStrike" cap="none" normalizeH="0" baseline="0" dirty="0">
                <a:ln>
                  <a:noFill/>
                </a:ln>
                <a:solidFill>
                  <a:srgbClr val="292929"/>
                </a:solidFill>
                <a:effectLst/>
                <a:latin typeface="Times New Roman" pitchFamily="18" charset="0"/>
                <a:cs typeface="Times New Roman" pitchFamily="18" charset="0"/>
              </a:rPr>
              <a:t>is when the Agent exploits the current knowledge by being greedy to choose the greedy approach to get the most reward.</a:t>
            </a:r>
          </a:p>
          <a:p>
            <a:pPr marL="0" marR="0" lvl="0" indent="0" algn="just" defTabSz="914400" rtl="0" eaLnBrk="0" fontAlgn="base" latinLnBrk="0" hangingPunct="0">
              <a:lnSpc>
                <a:spcPct val="100000"/>
              </a:lnSpc>
              <a:spcBef>
                <a:spcPct val="0"/>
              </a:spcBef>
              <a:spcAft>
                <a:spcPct val="0"/>
              </a:spcAft>
              <a:buClrTx/>
              <a:buSzTx/>
              <a:buFontTx/>
              <a:buNone/>
              <a:tabLst/>
            </a:pPr>
            <a:endParaRPr lang="en-US" sz="2400" dirty="0">
              <a:solidFill>
                <a:srgbClr val="292929"/>
              </a:solidFill>
              <a:latin typeface="Times New Roman" pitchFamily="18" charset="0"/>
              <a:cs typeface="Times New Roman" pitchFamily="18" charset="0"/>
            </a:endParaRPr>
          </a:p>
          <a:p>
            <a:pPr lvl="0" algn="just" eaLnBrk="0" fontAlgn="base" hangingPunct="0">
              <a:spcBef>
                <a:spcPct val="0"/>
              </a:spcBef>
              <a:spcAft>
                <a:spcPct val="0"/>
              </a:spcAft>
            </a:pPr>
            <a:r>
              <a:rPr lang="en-US" sz="2400" dirty="0">
                <a:latin typeface="Times New Roman" pitchFamily="18" charset="0"/>
                <a:cs typeface="Times New Roman" pitchFamily="18" charset="0"/>
              </a:rPr>
              <a:t>An Agent in Reinforcement learning needs to find a balance between exploration, attempting to discover new states about the Environment by a selecting sub-optimal actions </a:t>
            </a:r>
          </a:p>
          <a:p>
            <a:pPr lvl="0" algn="just" eaLnBrk="0" fontAlgn="base" hangingPunct="0">
              <a:spcBef>
                <a:spcPct val="0"/>
              </a:spcBef>
              <a:spcAft>
                <a:spcPct val="0"/>
              </a:spcAft>
            </a:pPr>
            <a:endParaRPr lang="en-US" sz="2400" dirty="0">
              <a:latin typeface="Times New Roman" pitchFamily="18" charset="0"/>
              <a:cs typeface="Times New Roman" pitchFamily="18" charset="0"/>
            </a:endParaRPr>
          </a:p>
          <a:p>
            <a:pPr lvl="0" algn="just" eaLnBrk="0" fontAlgn="base" hangingPunct="0">
              <a:spcBef>
                <a:spcPct val="0"/>
              </a:spcBef>
              <a:spcAft>
                <a:spcPct val="0"/>
              </a:spcAft>
            </a:pPr>
            <a:r>
              <a:rPr lang="en-US" sz="2400" dirty="0">
                <a:latin typeface="Times New Roman" pitchFamily="18" charset="0"/>
                <a:cs typeface="Times New Roman" pitchFamily="18" charset="0"/>
              </a:rPr>
              <a:t>and exploitation, or using what the Agent already knows about the Environment to get the best results is Exploration-Exploitation trade-off.</a:t>
            </a:r>
            <a:endParaRPr kumimoji="0" lang="en-US" sz="2400" u="none" strike="noStrike" cap="none" normalizeH="0" baseline="0" dirty="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04800"/>
            <a:ext cx="9144000" cy="5139869"/>
          </a:xfrm>
          <a:prstGeom prst="rect">
            <a:avLst/>
          </a:prstGeom>
        </p:spPr>
        <p:txBody>
          <a:bodyPr wrap="square">
            <a:spAutoFit/>
          </a:bodyPr>
          <a:lstStyle/>
          <a:p>
            <a:pPr algn="just"/>
            <a:r>
              <a:rPr lang="en-US" sz="2000" dirty="0">
                <a:latin typeface="Times New Roman" pitchFamily="18" charset="0"/>
                <a:cs typeface="Times New Roman" pitchFamily="18" charset="0"/>
              </a:rPr>
              <a:t>During </a:t>
            </a:r>
            <a:r>
              <a:rPr lang="en-US" sz="2000" b="1" dirty="0">
                <a:latin typeface="Times New Roman" pitchFamily="18" charset="0"/>
                <a:cs typeface="Times New Roman" pitchFamily="18" charset="0"/>
              </a:rPr>
              <a:t>exploration</a:t>
            </a:r>
            <a:r>
              <a:rPr lang="en-US" sz="2000" dirty="0">
                <a:latin typeface="Times New Roman" pitchFamily="18" charset="0"/>
                <a:cs typeface="Times New Roman" pitchFamily="18" charset="0"/>
              </a:rPr>
              <a:t>, the </a:t>
            </a:r>
            <a:r>
              <a:rPr lang="en-US" sz="2000" b="1" dirty="0">
                <a:latin typeface="Times New Roman" pitchFamily="18" charset="0"/>
                <a:cs typeface="Times New Roman" pitchFamily="18" charset="0"/>
              </a:rPr>
              <a:t>reward is lower </a:t>
            </a:r>
            <a:r>
              <a:rPr lang="en-US" sz="2000" dirty="0">
                <a:latin typeface="Times New Roman" pitchFamily="18" charset="0"/>
                <a:cs typeface="Times New Roman" pitchFamily="18" charset="0"/>
              </a:rPr>
              <a:t>in the </a:t>
            </a:r>
            <a:r>
              <a:rPr lang="en-US" sz="2000" b="1" dirty="0">
                <a:latin typeface="Times New Roman" pitchFamily="18" charset="0"/>
                <a:cs typeface="Times New Roman" pitchFamily="18" charset="0"/>
              </a:rPr>
              <a:t>short run </a:t>
            </a:r>
            <a:r>
              <a:rPr lang="en-US" sz="2000" dirty="0">
                <a:latin typeface="Times New Roman" pitchFamily="18" charset="0"/>
                <a:cs typeface="Times New Roman" pitchFamily="18" charset="0"/>
              </a:rPr>
              <a:t>and higher in the long run. After discovering better actions, you can exploit them many times. </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It is impossible to explore and exploit with any single action selection. Thus the dilemma is that neither exploration nor exploitation can be applied exclusively. To understand the Environment and maximize the long-term reward, the Agent must try a variety of actions and progressively favor those that appear to be best.</a:t>
            </a:r>
          </a:p>
          <a:p>
            <a:pPr algn="just"/>
            <a:endParaRPr lang="en-US" sz="2000" dirty="0">
              <a:latin typeface="Times New Roman" pitchFamily="18" charset="0"/>
              <a:cs typeface="Times New Roman" pitchFamily="18" charset="0"/>
            </a:endParaRPr>
          </a:p>
          <a:p>
            <a:pPr algn="just"/>
            <a:r>
              <a:rPr lang="en-US" sz="2000" b="1" dirty="0">
                <a:latin typeface="Times New Roman" pitchFamily="18" charset="0"/>
                <a:cs typeface="Times New Roman" pitchFamily="18" charset="0"/>
              </a:rPr>
              <a:t>When the Agent becomes greedy, then it exploits the current knowledge by selecting an action based on the actions with the highest known value, and such a policy is called a greedy policy.</a:t>
            </a:r>
          </a:p>
          <a:p>
            <a:pPr algn="just"/>
            <a:endParaRPr lang="en-US" sz="2000" b="1" dirty="0">
              <a:latin typeface="Times New Roman" pitchFamily="18" charset="0"/>
              <a:cs typeface="Times New Roman" pitchFamily="18" charset="0"/>
            </a:endParaRPr>
          </a:p>
          <a:p>
            <a:pPr algn="just"/>
            <a:r>
              <a:rPr lang="en-US" sz="2800" b="1" dirty="0">
                <a:latin typeface="Times New Roman" pitchFamily="18" charset="0"/>
                <a:cs typeface="Times New Roman" pitchFamily="18" charset="0"/>
              </a:rPr>
              <a:t>ε(epsilon)-Greedy </a:t>
            </a:r>
            <a:r>
              <a:rPr lang="en-US" sz="2000" dirty="0">
                <a:latin typeface="Times New Roman" pitchFamily="18" charset="0"/>
                <a:cs typeface="Times New Roman" pitchFamily="18" charset="0"/>
              </a:rPr>
              <a:t>is a simple method to balance exploration and exploitation by choosing between exploration and exploitation randomly. ε- Greedy policy takes an exploratory action with probability ϵ and a greedy action with probability 1−ϵ with a desire to explore the Environments entire state space to seek an optimal policy.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1"/>
          <p:cNvSpPr>
            <a:spLocks noChangeArrowheads="1"/>
          </p:cNvSpPr>
          <p:nvPr/>
        </p:nvSpPr>
        <p:spPr bwMode="auto">
          <a:xfrm>
            <a:off x="0" y="0"/>
            <a:ext cx="9144000" cy="5816977"/>
          </a:xfrm>
          <a:prstGeom prst="rect">
            <a:avLst/>
          </a:prstGeom>
          <a:solidFill>
            <a:srgbClr val="FFFFFF"/>
          </a:solid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effectLst/>
                <a:latin typeface="Times New Roman" pitchFamily="18" charset="0"/>
                <a:cs typeface="Times New Roman" pitchFamily="18" charset="0"/>
              </a:rPr>
              <a:t>On-policy methods attempt to evaluate or improve the </a:t>
            </a:r>
            <a:r>
              <a:rPr kumimoji="0" lang="en-US" sz="2000" b="1" i="1" u="none" strike="noStrike" cap="none" normalizeH="0" baseline="0" dirty="0">
                <a:ln>
                  <a:noFill/>
                </a:ln>
                <a:effectLst/>
                <a:latin typeface="Times New Roman" pitchFamily="18" charset="0"/>
                <a:cs typeface="Times New Roman" pitchFamily="18" charset="0"/>
              </a:rPr>
              <a:t>same</a:t>
            </a:r>
            <a:r>
              <a:rPr kumimoji="0" lang="en-US" sz="2000" b="1" i="0" u="none" strike="noStrike" cap="none" normalizeH="0" baseline="0" dirty="0">
                <a:ln>
                  <a:noFill/>
                </a:ln>
                <a:effectLst/>
                <a:latin typeface="Times New Roman" pitchFamily="18" charset="0"/>
                <a:cs typeface="Times New Roman" pitchFamily="18" charset="0"/>
              </a:rPr>
              <a:t> Policy that is used to make decisions.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000" b="0" i="0" u="none" strike="noStrike" cap="none" normalizeH="0" baseline="0" dirty="0">
              <a:ln>
                <a:noFill/>
              </a:ln>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u="none" strike="noStrike" cap="none" normalizeH="0" baseline="0" dirty="0">
                <a:ln>
                  <a:noFill/>
                </a:ln>
                <a:effectLst/>
                <a:latin typeface="Times New Roman" pitchFamily="18" charset="0"/>
                <a:cs typeface="Times New Roman" pitchFamily="18" charset="0"/>
              </a:rPr>
              <a:t>The On-Policy can be understood as when trying different restaurants in your area to search for the best restaurant. Hence, you are the one to evaluate the decision as well as improve the decision.</a:t>
            </a:r>
          </a:p>
          <a:p>
            <a:pPr marL="0" marR="0" lvl="0" indent="0" algn="l" defTabSz="914400" rtl="0" eaLnBrk="0" fontAlgn="base" latinLnBrk="0" hangingPunct="0">
              <a:lnSpc>
                <a:spcPct val="100000"/>
              </a:lnSpc>
              <a:spcBef>
                <a:spcPct val="0"/>
              </a:spcBef>
              <a:spcAft>
                <a:spcPct val="0"/>
              </a:spcAft>
              <a:buClrTx/>
              <a:buSzTx/>
              <a:buFontTx/>
              <a:buNone/>
              <a:tabLst/>
            </a:pPr>
            <a:endParaRPr lang="en-US" sz="2000" dirty="0">
              <a:latin typeface="Times New Roman" pitchFamily="18" charset="0"/>
              <a:cs typeface="Times New Roman" pitchFamily="18" charset="0"/>
            </a:endParaRPr>
          </a:p>
          <a:p>
            <a:pPr algn="just" fontAlgn="base">
              <a:spcBef>
                <a:spcPct val="0"/>
              </a:spcBef>
              <a:spcAft>
                <a:spcPct val="0"/>
              </a:spcAft>
            </a:pPr>
            <a:r>
              <a:rPr lang="en-US" sz="2000" b="1" dirty="0">
                <a:latin typeface="Times New Roman" pitchFamily="18" charset="0"/>
                <a:cs typeface="Times New Roman" pitchFamily="18" charset="0"/>
              </a:rPr>
              <a:t>The off-policy method uses a behavioral policy to explore the environment and to collect samples generating Agent’s behavior and a second policy being learned called the target policy which is optimized.</a:t>
            </a:r>
          </a:p>
          <a:p>
            <a:pPr algn="just" fontAlgn="base">
              <a:spcBef>
                <a:spcPct val="0"/>
              </a:spcBef>
              <a:spcAft>
                <a:spcPct val="0"/>
              </a:spcAft>
            </a:pPr>
            <a:endParaRPr lang="en-US" sz="2000" b="1" dirty="0">
              <a:latin typeface="Times New Roman" pitchFamily="18" charset="0"/>
              <a:cs typeface="Times New Roman" pitchFamily="18" charset="0"/>
            </a:endParaRPr>
          </a:p>
          <a:p>
            <a:pPr algn="just">
              <a:buFont typeface="Arial" pitchFamily="34" charset="0"/>
              <a:buChar char="•"/>
            </a:pPr>
            <a:r>
              <a:rPr lang="en-US" sz="2800" b="1" dirty="0">
                <a:latin typeface="Times New Roman" pitchFamily="18" charset="0"/>
                <a:cs typeface="Times New Roman" pitchFamily="18" charset="0"/>
              </a:rPr>
              <a:t>Behavior Policy </a:t>
            </a:r>
            <a:r>
              <a:rPr lang="en-US" sz="2000" b="1" dirty="0">
                <a:latin typeface="Times New Roman" pitchFamily="18" charset="0"/>
                <a:cs typeface="Times New Roman" pitchFamily="18" charset="0"/>
              </a:rPr>
              <a:t>is the policy </a:t>
            </a:r>
            <a:r>
              <a:rPr lang="en-US" sz="2000" dirty="0">
                <a:latin typeface="Times New Roman" pitchFamily="18" charset="0"/>
                <a:cs typeface="Times New Roman" pitchFamily="18" charset="0"/>
              </a:rPr>
              <a:t>Agent uses to determine its action in a given state, so behavior policy is in charge of selecting actions for the Agent.</a:t>
            </a:r>
          </a:p>
          <a:p>
            <a:pPr algn="just">
              <a:buFont typeface="Arial" pitchFamily="34" charset="0"/>
              <a:buChar char="•"/>
            </a:pPr>
            <a:r>
              <a:rPr lang="en-US" sz="2400" b="1" dirty="0">
                <a:latin typeface="Times New Roman" pitchFamily="18" charset="0"/>
                <a:cs typeface="Times New Roman" pitchFamily="18" charset="0"/>
              </a:rPr>
              <a:t>Target Policy </a:t>
            </a:r>
            <a:r>
              <a:rPr lang="en-US" sz="2000" b="1" dirty="0">
                <a:latin typeface="Times New Roman" pitchFamily="18" charset="0"/>
                <a:cs typeface="Times New Roman" pitchFamily="18" charset="0"/>
              </a:rPr>
              <a:t>is the policy </a:t>
            </a:r>
            <a:r>
              <a:rPr lang="en-US" sz="2000" dirty="0">
                <a:latin typeface="Times New Roman" pitchFamily="18" charset="0"/>
                <a:cs typeface="Times New Roman" pitchFamily="18" charset="0"/>
              </a:rPr>
              <a:t>Agent uses to learn from the rewards received for its actions which are used to update the Q-value.</a:t>
            </a:r>
          </a:p>
          <a:p>
            <a:pPr algn="just">
              <a:buFont typeface="Arial" pitchFamily="34" charset="0"/>
              <a:buChar char="•"/>
            </a:pPr>
            <a:r>
              <a:rPr lang="en-US" sz="2000" dirty="0">
                <a:latin typeface="Times New Roman" pitchFamily="18" charset="0"/>
                <a:cs typeface="Times New Roman" pitchFamily="18" charset="0"/>
              </a:rPr>
              <a:t>Actions selected by the target policy should be selected at least from time to time by the behavior policy if the target policy decides that the action should be executed.</a:t>
            </a:r>
          </a:p>
          <a:p>
            <a:pPr algn="just" fontAlgn="base">
              <a:spcBef>
                <a:spcPct val="0"/>
              </a:spcBef>
              <a:spcAft>
                <a:spcPct val="0"/>
              </a:spcAft>
              <a:buFont typeface="Arial" pitchFamily="34" charset="0"/>
              <a:buChar char="•"/>
            </a:pPr>
            <a:endParaRPr lang="en-US" sz="2000" b="1" dirty="0">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838200"/>
            <a:ext cx="9144000" cy="4524315"/>
          </a:xfrm>
          <a:prstGeom prst="rect">
            <a:avLst/>
          </a:prstGeom>
        </p:spPr>
        <p:txBody>
          <a:bodyPr wrap="square">
            <a:spAutoFit/>
          </a:bodyPr>
          <a:lstStyle/>
          <a:p>
            <a:r>
              <a:rPr lang="en-US" sz="2400" dirty="0">
                <a:latin typeface="Times New Roman" pitchFamily="18" charset="0"/>
                <a:cs typeface="Times New Roman" pitchFamily="18" charset="0"/>
              </a:rPr>
              <a:t>When the target policy is different from the behavior policy, then the agent is called an</a:t>
            </a:r>
            <a:r>
              <a:rPr lang="en-US" sz="2400" b="1" dirty="0">
                <a:latin typeface="Times New Roman" pitchFamily="18" charset="0"/>
                <a:cs typeface="Times New Roman" pitchFamily="18" charset="0"/>
              </a:rPr>
              <a:t> off-policy learner.</a:t>
            </a:r>
          </a:p>
          <a:p>
            <a:endParaRPr lang="en-US" sz="2400" b="1"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when the target policy is the same as the behavior policy, then the agent is called an</a:t>
            </a:r>
            <a:r>
              <a:rPr lang="en-US" sz="2400" b="1" dirty="0">
                <a:latin typeface="Times New Roman" pitchFamily="18" charset="0"/>
                <a:cs typeface="Times New Roman" pitchFamily="18" charset="0"/>
              </a:rPr>
              <a:t> on-policy learner.</a:t>
            </a:r>
          </a:p>
          <a:p>
            <a:endParaRPr lang="en-US" sz="2400" b="1" dirty="0">
              <a:latin typeface="Times New Roman" pitchFamily="18" charset="0"/>
              <a:cs typeface="Times New Roman" pitchFamily="18" charset="0"/>
            </a:endParaRPr>
          </a:p>
          <a:p>
            <a:pPr algn="just"/>
            <a:r>
              <a:rPr lang="en-US" sz="2400" dirty="0">
                <a:latin typeface="Times New Roman" pitchFamily="18" charset="0"/>
                <a:cs typeface="Times New Roman" pitchFamily="18" charset="0"/>
              </a:rPr>
              <a:t>The </a:t>
            </a:r>
            <a:r>
              <a:rPr lang="en-US" sz="2400" b="1" dirty="0">
                <a:latin typeface="Times New Roman" pitchFamily="18" charset="0"/>
                <a:cs typeface="Times New Roman" pitchFamily="18" charset="0"/>
              </a:rPr>
              <a:t>Off-Policy</a:t>
            </a:r>
            <a:r>
              <a:rPr lang="en-US" sz="2400" dirty="0">
                <a:latin typeface="Times New Roman" pitchFamily="18" charset="0"/>
                <a:cs typeface="Times New Roman" pitchFamily="18" charset="0"/>
              </a:rPr>
              <a:t> can be understood as when you use Google to recommend the best restaurants, but you decide if you want to follow Google's recommendations to search for the best restaurant in your area or not. Here Google recommendations can be thought of as a behavioral policy, and when you decide, you act like a target policy.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9144000" cy="6555641"/>
          </a:xfrm>
          <a:prstGeom prst="rect">
            <a:avLst/>
          </a:prstGeom>
        </p:spPr>
        <p:txBody>
          <a:bodyPr wrap="square">
            <a:spAutoFit/>
          </a:bodyPr>
          <a:lstStyle/>
          <a:p>
            <a:pPr algn="ctr">
              <a:lnSpc>
                <a:spcPct val="150000"/>
              </a:lnSpc>
            </a:pPr>
            <a:r>
              <a:rPr lang="en-US" sz="2000" b="1" dirty="0">
                <a:latin typeface="Times New Roman" pitchFamily="18" charset="0"/>
                <a:cs typeface="Times New Roman" pitchFamily="18" charset="0"/>
              </a:rPr>
              <a:t>Moving in to Q-Learning(Q means quality)</a:t>
            </a:r>
          </a:p>
          <a:p>
            <a:pPr algn="just">
              <a:lnSpc>
                <a:spcPct val="150000"/>
              </a:lnSpc>
            </a:pPr>
            <a:endParaRPr lang="en-US" sz="2000" b="1" dirty="0">
              <a:latin typeface="Times New Roman" pitchFamily="18" charset="0"/>
              <a:cs typeface="Times New Roman" pitchFamily="18" charset="0"/>
            </a:endParaRPr>
          </a:p>
          <a:p>
            <a:pPr algn="just">
              <a:lnSpc>
                <a:spcPct val="150000"/>
              </a:lnSpc>
              <a:buFont typeface="Arial" pitchFamily="34" charset="0"/>
              <a:buChar char="•"/>
            </a:pPr>
            <a:r>
              <a:rPr lang="en-US" sz="2000" b="1" dirty="0">
                <a:latin typeface="Times New Roman" pitchFamily="18" charset="0"/>
                <a:cs typeface="Times New Roman" pitchFamily="18" charset="0"/>
              </a:rPr>
              <a:t>Q-learning</a:t>
            </a:r>
            <a:r>
              <a:rPr lang="en-US" sz="2000" dirty="0">
                <a:latin typeface="Times New Roman" pitchFamily="18" charset="0"/>
                <a:cs typeface="Times New Roman" pitchFamily="18" charset="0"/>
              </a:rPr>
              <a:t> is a</a:t>
            </a:r>
            <a:r>
              <a:rPr lang="en-US" sz="2000" b="1" dirty="0">
                <a:latin typeface="Times New Roman" pitchFamily="18" charset="0"/>
                <a:cs typeface="Times New Roman" pitchFamily="18" charset="0"/>
              </a:rPr>
              <a:t> model-free</a:t>
            </a:r>
            <a:r>
              <a:rPr lang="en-US" sz="2000" dirty="0">
                <a:latin typeface="Times New Roman" pitchFamily="18" charset="0"/>
                <a:cs typeface="Times New Roman" pitchFamily="18" charset="0"/>
              </a:rPr>
              <a:t> reinforcement learning algorithm.</a:t>
            </a:r>
          </a:p>
          <a:p>
            <a:pPr algn="just">
              <a:lnSpc>
                <a:spcPct val="150000"/>
              </a:lnSpc>
            </a:pPr>
            <a:endParaRPr lang="en-US" sz="2000" dirty="0">
              <a:latin typeface="Times New Roman" pitchFamily="18" charset="0"/>
              <a:cs typeface="Times New Roman" pitchFamily="18" charset="0"/>
            </a:endParaRPr>
          </a:p>
          <a:p>
            <a:pPr algn="just">
              <a:lnSpc>
                <a:spcPct val="150000"/>
              </a:lnSpc>
              <a:buFont typeface="Arial" pitchFamily="34" charset="0"/>
              <a:buChar char="•"/>
            </a:pPr>
            <a:r>
              <a:rPr lang="en-US" sz="2000" dirty="0">
                <a:latin typeface="Times New Roman" pitchFamily="18" charset="0"/>
                <a:cs typeface="Times New Roman" pitchFamily="18" charset="0"/>
              </a:rPr>
              <a:t>Q-learning is a </a:t>
            </a:r>
            <a:r>
              <a:rPr lang="en-US" sz="2000" b="1" dirty="0">
                <a:latin typeface="Times New Roman" pitchFamily="18" charset="0"/>
                <a:cs typeface="Times New Roman" pitchFamily="18" charset="0"/>
              </a:rPr>
              <a:t>values-based</a:t>
            </a:r>
            <a:r>
              <a:rPr lang="en-US" sz="2000" dirty="0">
                <a:latin typeface="Times New Roman" pitchFamily="18" charset="0"/>
                <a:cs typeface="Times New Roman" pitchFamily="18" charset="0"/>
              </a:rPr>
              <a:t> learning algorithm. Value based algorithms updates the value function based on an equation(particularly Bellman equation). Whereas the other type, </a:t>
            </a:r>
            <a:r>
              <a:rPr lang="en-US" sz="2000" b="1" dirty="0">
                <a:latin typeface="Times New Roman" pitchFamily="18" charset="0"/>
                <a:cs typeface="Times New Roman" pitchFamily="18" charset="0"/>
              </a:rPr>
              <a:t>policy-based </a:t>
            </a:r>
            <a:r>
              <a:rPr lang="en-US" sz="2000" dirty="0">
                <a:latin typeface="Times New Roman" pitchFamily="18" charset="0"/>
                <a:cs typeface="Times New Roman" pitchFamily="18" charset="0"/>
              </a:rPr>
              <a:t>estimates the value function with a greedy policy obtained from the last policy improvement.</a:t>
            </a:r>
          </a:p>
          <a:p>
            <a:pPr algn="just">
              <a:lnSpc>
                <a:spcPct val="150000"/>
              </a:lnSpc>
            </a:pPr>
            <a:endParaRPr lang="en-US" sz="2000" dirty="0">
              <a:latin typeface="Times New Roman" pitchFamily="18" charset="0"/>
              <a:cs typeface="Times New Roman" pitchFamily="18" charset="0"/>
            </a:endParaRPr>
          </a:p>
          <a:p>
            <a:pPr algn="just">
              <a:lnSpc>
                <a:spcPct val="150000"/>
              </a:lnSpc>
              <a:buFont typeface="Arial" pitchFamily="34" charset="0"/>
              <a:buChar char="•"/>
            </a:pPr>
            <a:r>
              <a:rPr lang="en-US" sz="2000" dirty="0">
                <a:latin typeface="Times New Roman" pitchFamily="18" charset="0"/>
                <a:cs typeface="Times New Roman" pitchFamily="18" charset="0"/>
              </a:rPr>
              <a:t>Q-learning is an </a:t>
            </a:r>
            <a:r>
              <a:rPr lang="en-US" sz="2000" b="1" dirty="0">
                <a:latin typeface="Times New Roman" pitchFamily="18" charset="0"/>
                <a:cs typeface="Times New Roman" pitchFamily="18" charset="0"/>
              </a:rPr>
              <a:t>off-policy learner</a:t>
            </a:r>
            <a:r>
              <a:rPr lang="en-US" sz="2000" dirty="0">
                <a:latin typeface="Times New Roman" pitchFamily="18" charset="0"/>
                <a:cs typeface="Times New Roman" pitchFamily="18" charset="0"/>
              </a:rPr>
              <a:t>. Means it learns the value of the optimal policy independently of the agent’s actions. On the other hand, an </a:t>
            </a:r>
            <a:r>
              <a:rPr lang="en-US" sz="2000" b="1" dirty="0">
                <a:latin typeface="Times New Roman" pitchFamily="18" charset="0"/>
                <a:cs typeface="Times New Roman" pitchFamily="18" charset="0"/>
              </a:rPr>
              <a:t>on-policy learner </a:t>
            </a:r>
            <a:r>
              <a:rPr lang="en-US" sz="2000" dirty="0">
                <a:latin typeface="Times New Roman" pitchFamily="18" charset="0"/>
                <a:cs typeface="Times New Roman" pitchFamily="18" charset="0"/>
              </a:rPr>
              <a:t>learns the value of the policy being carried out by the agent, including the exploration steps and it will find a policy that is optimal, taking into account the exploration inherent in the policy.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A76062-8772-B267-61AC-5E2B4A05E207}"/>
              </a:ext>
            </a:extLst>
          </p:cNvPr>
          <p:cNvSpPr txBox="1"/>
          <p:nvPr/>
        </p:nvSpPr>
        <p:spPr>
          <a:xfrm>
            <a:off x="457200" y="1042449"/>
            <a:ext cx="8153400" cy="2695610"/>
          </a:xfrm>
          <a:prstGeom prst="rect">
            <a:avLst/>
          </a:prstGeom>
          <a:noFill/>
        </p:spPr>
        <p:txBody>
          <a:bodyPr wrap="square">
            <a:spAutoFit/>
          </a:bodyPr>
          <a:lstStyle/>
          <a:p>
            <a:pPr algn="l">
              <a:lnSpc>
                <a:spcPts val="2700"/>
              </a:lnSpc>
              <a:buNone/>
            </a:pPr>
            <a:r>
              <a:rPr lang="en-US" b="0" i="0" dirty="0">
                <a:solidFill>
                  <a:srgbClr val="383838"/>
                </a:solidFill>
                <a:effectLst/>
                <a:latin typeface="Inter"/>
              </a:rPr>
              <a:t>Q-learning is a model-free, value-based, off-policy learning algorithm.</a:t>
            </a:r>
          </a:p>
          <a:p>
            <a:pPr algn="l">
              <a:lnSpc>
                <a:spcPts val="2700"/>
              </a:lnSpc>
              <a:spcAft>
                <a:spcPts val="750"/>
              </a:spcAft>
              <a:buFont typeface="Arial" panose="020B0604020202020204" pitchFamily="34" charset="0"/>
              <a:buChar char="•"/>
            </a:pPr>
            <a:r>
              <a:rPr lang="en-US" b="1" i="0" dirty="0">
                <a:solidFill>
                  <a:srgbClr val="383838"/>
                </a:solidFill>
                <a:effectLst/>
                <a:latin typeface="Inter"/>
              </a:rPr>
              <a:t>Model-free:</a:t>
            </a:r>
            <a:r>
              <a:rPr lang="en-US" b="0" i="0" dirty="0">
                <a:solidFill>
                  <a:srgbClr val="383838"/>
                </a:solidFill>
                <a:effectLst/>
                <a:latin typeface="Inter"/>
              </a:rPr>
              <a:t> The algorithm that estimates its optimal policy without the need for any transition or reward functions from the environment.</a:t>
            </a:r>
          </a:p>
          <a:p>
            <a:pPr algn="l">
              <a:lnSpc>
                <a:spcPts val="2700"/>
              </a:lnSpc>
              <a:spcAft>
                <a:spcPts val="750"/>
              </a:spcAft>
              <a:buFont typeface="Arial" panose="020B0604020202020204" pitchFamily="34" charset="0"/>
              <a:buChar char="•"/>
            </a:pPr>
            <a:r>
              <a:rPr lang="en-US" b="1" i="0" dirty="0">
                <a:solidFill>
                  <a:srgbClr val="383838"/>
                </a:solidFill>
                <a:effectLst/>
                <a:latin typeface="Inter"/>
              </a:rPr>
              <a:t>Value-based:</a:t>
            </a:r>
            <a:r>
              <a:rPr lang="en-US" b="0" i="0" dirty="0">
                <a:solidFill>
                  <a:srgbClr val="383838"/>
                </a:solidFill>
                <a:effectLst/>
                <a:latin typeface="Inter"/>
              </a:rPr>
              <a:t> Q learning updates its value functions based on equations, (say Bellman equation) rather than estimating the value function with a greedy policy.</a:t>
            </a:r>
          </a:p>
          <a:p>
            <a:pPr algn="l">
              <a:lnSpc>
                <a:spcPts val="2700"/>
              </a:lnSpc>
              <a:spcAft>
                <a:spcPts val="750"/>
              </a:spcAft>
              <a:buFont typeface="Arial" panose="020B0604020202020204" pitchFamily="34" charset="0"/>
              <a:buChar char="•"/>
            </a:pPr>
            <a:r>
              <a:rPr lang="en-US" b="1" i="0" dirty="0">
                <a:solidFill>
                  <a:srgbClr val="383838"/>
                </a:solidFill>
                <a:effectLst/>
                <a:latin typeface="Inter"/>
              </a:rPr>
              <a:t>Off-policy:</a:t>
            </a:r>
            <a:r>
              <a:rPr lang="en-US" b="0" i="0" dirty="0">
                <a:solidFill>
                  <a:srgbClr val="383838"/>
                </a:solidFill>
                <a:effectLst/>
                <a:latin typeface="Inter"/>
              </a:rPr>
              <a:t> The function learns from its own actions and doesn’t depend on the current policy.</a:t>
            </a:r>
          </a:p>
        </p:txBody>
      </p:sp>
    </p:spTree>
    <p:extLst>
      <p:ext uri="{BB962C8B-B14F-4D97-AF65-F5344CB8AC3E}">
        <p14:creationId xmlns:p14="http://schemas.microsoft.com/office/powerpoint/2010/main" val="31579888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889844"/>
            <a:ext cx="8610600" cy="5632311"/>
          </a:xfrm>
          <a:prstGeom prst="rect">
            <a:avLst/>
          </a:prstGeom>
        </p:spPr>
        <p:txBody>
          <a:bodyPr wrap="square">
            <a:spAutoFit/>
          </a:bodyPr>
          <a:lstStyle/>
          <a:p>
            <a:pPr algn="ctr">
              <a:lnSpc>
                <a:spcPct val="150000"/>
              </a:lnSpc>
            </a:pPr>
            <a:r>
              <a:rPr lang="en-US" sz="2000" b="1" dirty="0">
                <a:latin typeface="Times New Roman" pitchFamily="18" charset="0"/>
                <a:cs typeface="Times New Roman" pitchFamily="18" charset="0"/>
              </a:rPr>
              <a:t>What’s this ‘Q’?</a:t>
            </a:r>
          </a:p>
          <a:p>
            <a:pPr>
              <a:lnSpc>
                <a:spcPct val="150000"/>
              </a:lnSpc>
            </a:pPr>
            <a:r>
              <a:rPr lang="en-US" sz="2000" dirty="0">
                <a:latin typeface="Times New Roman" pitchFamily="18" charset="0"/>
                <a:cs typeface="Times New Roman" pitchFamily="18" charset="0"/>
              </a:rPr>
              <a:t>The ‘Q’ in Q-learning stands for quality. Quality here represents how useful a given action is in gaining some future reward.</a:t>
            </a:r>
          </a:p>
          <a:p>
            <a:pPr>
              <a:lnSpc>
                <a:spcPct val="150000"/>
              </a:lnSpc>
            </a:pPr>
            <a:r>
              <a:rPr lang="en-US" sz="2000" b="1" dirty="0">
                <a:latin typeface="Times New Roman" pitchFamily="18" charset="0"/>
                <a:cs typeface="Times New Roman" pitchFamily="18" charset="0"/>
              </a:rPr>
              <a:t>Q-learning Definition</a:t>
            </a:r>
          </a:p>
          <a:p>
            <a:pPr>
              <a:lnSpc>
                <a:spcPct val="150000"/>
              </a:lnSpc>
              <a:buFont typeface="Arial" pitchFamily="34" charset="0"/>
              <a:buChar char="•"/>
            </a:pPr>
            <a:r>
              <a:rPr lang="en-US" sz="2000" b="1" dirty="0">
                <a:latin typeface="Times New Roman" pitchFamily="18" charset="0"/>
                <a:cs typeface="Times New Roman" pitchFamily="18" charset="0"/>
              </a:rPr>
              <a:t>Q*(</a:t>
            </a:r>
            <a:r>
              <a:rPr lang="en-US" sz="2000" b="1" dirty="0" err="1">
                <a:latin typeface="Times New Roman" pitchFamily="18" charset="0"/>
                <a:cs typeface="Times New Roman" pitchFamily="18" charset="0"/>
              </a:rPr>
              <a:t>s,a</a:t>
            </a:r>
            <a:r>
              <a:rPr lang="en-US" sz="2000" b="1" dirty="0">
                <a:latin typeface="Times New Roman" pitchFamily="18" charset="0"/>
                <a:cs typeface="Times New Roman" pitchFamily="18" charset="0"/>
              </a:rPr>
              <a:t>)</a:t>
            </a:r>
            <a:r>
              <a:rPr lang="en-US" sz="2000" dirty="0">
                <a:latin typeface="Times New Roman" pitchFamily="18" charset="0"/>
                <a:cs typeface="Times New Roman" pitchFamily="18" charset="0"/>
              </a:rPr>
              <a:t> is the expected value (cumulative discounted reward) of doing a in state s and then following the optimal policy.</a:t>
            </a:r>
          </a:p>
          <a:p>
            <a:pPr>
              <a:lnSpc>
                <a:spcPct val="150000"/>
              </a:lnSpc>
              <a:buFont typeface="Arial" pitchFamily="34" charset="0"/>
              <a:buChar char="•"/>
            </a:pPr>
            <a:r>
              <a:rPr lang="en-US" sz="2000" dirty="0">
                <a:latin typeface="Times New Roman" pitchFamily="18" charset="0"/>
                <a:cs typeface="Times New Roman" pitchFamily="18" charset="0"/>
              </a:rPr>
              <a:t>Q-learning uses </a:t>
            </a:r>
            <a:r>
              <a:rPr lang="en-US" sz="2000" b="1" dirty="0">
                <a:latin typeface="Times New Roman" pitchFamily="18" charset="0"/>
                <a:cs typeface="Times New Roman" pitchFamily="18" charset="0"/>
              </a:rPr>
              <a:t>Temporal Differences(TD)</a:t>
            </a:r>
            <a:r>
              <a:rPr lang="en-US" sz="2000" dirty="0">
                <a:latin typeface="Times New Roman" pitchFamily="18" charset="0"/>
                <a:cs typeface="Times New Roman" pitchFamily="18" charset="0"/>
              </a:rPr>
              <a:t> to estimate the value of Q*(</a:t>
            </a:r>
            <a:r>
              <a:rPr lang="en-US" sz="2000" dirty="0" err="1">
                <a:latin typeface="Times New Roman" pitchFamily="18" charset="0"/>
                <a:cs typeface="Times New Roman" pitchFamily="18" charset="0"/>
              </a:rPr>
              <a:t>s,a</a:t>
            </a:r>
            <a:r>
              <a:rPr lang="en-US" sz="2000" dirty="0">
                <a:latin typeface="Times New Roman" pitchFamily="18" charset="0"/>
                <a:cs typeface="Times New Roman" pitchFamily="18" charset="0"/>
              </a:rPr>
              <a:t>). Temporal difference is an agent learning from an environment through episodes with no prior knowledge of the environment.</a:t>
            </a:r>
          </a:p>
          <a:p>
            <a:pPr>
              <a:lnSpc>
                <a:spcPct val="150000"/>
              </a:lnSpc>
              <a:buFont typeface="Arial" pitchFamily="34" charset="0"/>
              <a:buChar char="•"/>
            </a:pPr>
            <a:r>
              <a:rPr lang="en-US" sz="2000" dirty="0">
                <a:latin typeface="Times New Roman" pitchFamily="18" charset="0"/>
                <a:cs typeface="Times New Roman" pitchFamily="18" charset="0"/>
              </a:rPr>
              <a:t>The agent maintains a table of </a:t>
            </a:r>
            <a:r>
              <a:rPr lang="en-US" sz="2000" b="1" dirty="0">
                <a:latin typeface="Times New Roman" pitchFamily="18" charset="0"/>
                <a:cs typeface="Times New Roman" pitchFamily="18" charset="0"/>
              </a:rPr>
              <a:t>Q[S, A]</a:t>
            </a:r>
            <a:r>
              <a:rPr lang="en-US" sz="2000" dirty="0">
                <a:latin typeface="Times New Roman" pitchFamily="18" charset="0"/>
                <a:cs typeface="Times New Roman" pitchFamily="18" charset="0"/>
              </a:rPr>
              <a:t>, where </a:t>
            </a:r>
            <a:r>
              <a:rPr lang="en-US" sz="2000" b="1" dirty="0">
                <a:latin typeface="Times New Roman" pitchFamily="18" charset="0"/>
                <a:cs typeface="Times New Roman" pitchFamily="18" charset="0"/>
              </a:rPr>
              <a:t>S</a:t>
            </a:r>
            <a:r>
              <a:rPr lang="en-US" sz="2000" dirty="0">
                <a:latin typeface="Times New Roman" pitchFamily="18" charset="0"/>
                <a:cs typeface="Times New Roman" pitchFamily="18" charset="0"/>
              </a:rPr>
              <a:t> is the set of </a:t>
            </a:r>
            <a:r>
              <a:rPr lang="en-US" sz="2000" b="1" dirty="0">
                <a:latin typeface="Times New Roman" pitchFamily="18" charset="0"/>
                <a:cs typeface="Times New Roman" pitchFamily="18" charset="0"/>
              </a:rPr>
              <a:t>states</a:t>
            </a:r>
            <a:r>
              <a:rPr lang="en-US" sz="2000" dirty="0">
                <a:latin typeface="Times New Roman" pitchFamily="18" charset="0"/>
                <a:cs typeface="Times New Roman" pitchFamily="18" charset="0"/>
              </a:rPr>
              <a:t> and </a:t>
            </a:r>
            <a:r>
              <a:rPr lang="en-US" sz="2000" b="1" dirty="0">
                <a:latin typeface="Times New Roman" pitchFamily="18" charset="0"/>
                <a:cs typeface="Times New Roman" pitchFamily="18" charset="0"/>
              </a:rPr>
              <a:t>A </a:t>
            </a:r>
            <a:r>
              <a:rPr lang="en-US" sz="2000" dirty="0">
                <a:latin typeface="Times New Roman" pitchFamily="18" charset="0"/>
                <a:cs typeface="Times New Roman" pitchFamily="18" charset="0"/>
              </a:rPr>
              <a:t>is the set of </a:t>
            </a:r>
            <a:r>
              <a:rPr lang="en-US" sz="2000" b="1" dirty="0">
                <a:latin typeface="Times New Roman" pitchFamily="18" charset="0"/>
                <a:cs typeface="Times New Roman" pitchFamily="18" charset="0"/>
              </a:rPr>
              <a:t>actions</a:t>
            </a:r>
            <a:r>
              <a:rPr lang="en-US" sz="2000" dirty="0">
                <a:latin typeface="Times New Roman" pitchFamily="18" charset="0"/>
                <a:cs typeface="Times New Roman" pitchFamily="18" charset="0"/>
              </a:rPr>
              <a:t>.</a:t>
            </a:r>
          </a:p>
          <a:p>
            <a:pPr>
              <a:lnSpc>
                <a:spcPct val="150000"/>
              </a:lnSpc>
              <a:buFont typeface="Arial" pitchFamily="34" charset="0"/>
              <a:buChar char="•"/>
            </a:pPr>
            <a:r>
              <a:rPr lang="en-US" sz="2000" dirty="0">
                <a:latin typeface="Times New Roman" pitchFamily="18" charset="0"/>
                <a:cs typeface="Times New Roman" pitchFamily="18" charset="0"/>
              </a:rPr>
              <a:t>Q[s, a] represents its current estimate of Q*(</a:t>
            </a:r>
            <a:r>
              <a:rPr lang="en-US" sz="2000" dirty="0" err="1">
                <a:latin typeface="Times New Roman" pitchFamily="18" charset="0"/>
                <a:cs typeface="Times New Roman" pitchFamily="18" charset="0"/>
              </a:rPr>
              <a:t>s,a</a:t>
            </a:r>
            <a:r>
              <a:rPr lang="en-US" sz="2000" dirty="0">
                <a:latin typeface="Times New Roman" pitchFamily="18" charset="0"/>
                <a:cs typeface="Times New Roman" pitchFamily="18" charset="0"/>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8600"/>
            <a:ext cx="9144000" cy="3416320"/>
          </a:xfrm>
          <a:prstGeom prst="rect">
            <a:avLst/>
          </a:prstGeom>
        </p:spPr>
        <p:txBody>
          <a:bodyPr wrap="square">
            <a:spAutoFit/>
          </a:bodyPr>
          <a:lstStyle/>
          <a:p>
            <a:pPr algn="just">
              <a:lnSpc>
                <a:spcPct val="150000"/>
              </a:lnSpc>
            </a:pPr>
            <a:r>
              <a:rPr lang="en-US" b="1" dirty="0">
                <a:latin typeface="Times New Roman" pitchFamily="18" charset="0"/>
                <a:cs typeface="Times New Roman" pitchFamily="18" charset="0"/>
              </a:rPr>
              <a:t>Q-learning Simple Example</a:t>
            </a:r>
          </a:p>
          <a:p>
            <a:pPr algn="just">
              <a:lnSpc>
                <a:spcPct val="150000"/>
              </a:lnSpc>
            </a:pPr>
            <a:r>
              <a:rPr lang="en-US" dirty="0">
                <a:latin typeface="Times New Roman" pitchFamily="18" charset="0"/>
                <a:cs typeface="Times New Roman" pitchFamily="18" charset="0"/>
              </a:rPr>
              <a:t>In this section Q-learning has been explained along with a demo.</a:t>
            </a:r>
          </a:p>
          <a:p>
            <a:pPr algn="just">
              <a:lnSpc>
                <a:spcPct val="150000"/>
              </a:lnSpc>
            </a:pPr>
            <a:r>
              <a:rPr lang="en-US" dirty="0">
                <a:latin typeface="Times New Roman" pitchFamily="18" charset="0"/>
                <a:cs typeface="Times New Roman" pitchFamily="18" charset="0"/>
              </a:rPr>
              <a:t>Let’s say an agent has to move from a starting point to an ending point along a path that has obstacles. Agent needs to reach the target in the shortest path possible without hitting in the obstacles and he needs to follow the boundary covered by the obstacles. For our convenience, I have introduced this in a customized grid environment as follows.</a:t>
            </a:r>
          </a:p>
          <a:p>
            <a:pPr algn="just">
              <a:lnSpc>
                <a:spcPct val="150000"/>
              </a:lnSpc>
            </a:pPr>
            <a:endParaRPr lang="en-US" dirty="0">
              <a:latin typeface="Times New Roman" pitchFamily="18" charset="0"/>
              <a:cs typeface="Times New Roman" pitchFamily="18" charset="0"/>
            </a:endParaRPr>
          </a:p>
          <a:p>
            <a:pPr algn="just">
              <a:lnSpc>
                <a:spcPct val="150000"/>
              </a:lnSpc>
            </a:pPr>
            <a:r>
              <a:rPr lang="en-US" dirty="0">
                <a:latin typeface="Times New Roman" pitchFamily="18" charset="0"/>
                <a:cs typeface="Times New Roman" pitchFamily="18" charset="0"/>
              </a:rPr>
              <a:t>2 Things: Q-function and Q-Table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423AFF-A4B5-59B1-5C92-4317F387CFDF}"/>
              </a:ext>
            </a:extLst>
          </p:cNvPr>
          <p:cNvPicPr>
            <a:picLocks noChangeAspect="1"/>
          </p:cNvPicPr>
          <p:nvPr/>
        </p:nvPicPr>
        <p:blipFill>
          <a:blip r:embed="rId2"/>
          <a:stretch>
            <a:fillRect/>
          </a:stretch>
        </p:blipFill>
        <p:spPr>
          <a:xfrm>
            <a:off x="0" y="1743170"/>
            <a:ext cx="9144000" cy="3371659"/>
          </a:xfrm>
          <a:prstGeom prst="rect">
            <a:avLst/>
          </a:prstGeom>
        </p:spPr>
      </p:pic>
    </p:spTree>
    <p:extLst>
      <p:ext uri="{BB962C8B-B14F-4D97-AF65-F5344CB8AC3E}">
        <p14:creationId xmlns:p14="http://schemas.microsoft.com/office/powerpoint/2010/main" val="3563967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7A9229-DCCD-CCE9-DF01-F86B952758F0}"/>
              </a:ext>
            </a:extLst>
          </p:cNvPr>
          <p:cNvPicPr>
            <a:picLocks noChangeAspect="1"/>
          </p:cNvPicPr>
          <p:nvPr/>
        </p:nvPicPr>
        <p:blipFill>
          <a:blip r:embed="rId2"/>
          <a:stretch>
            <a:fillRect/>
          </a:stretch>
        </p:blipFill>
        <p:spPr>
          <a:xfrm>
            <a:off x="0" y="1615068"/>
            <a:ext cx="9144000" cy="3627864"/>
          </a:xfrm>
          <a:prstGeom prst="rect">
            <a:avLst/>
          </a:prstGeom>
        </p:spPr>
      </p:pic>
    </p:spTree>
    <p:extLst>
      <p:ext uri="{BB962C8B-B14F-4D97-AF65-F5344CB8AC3E}">
        <p14:creationId xmlns:p14="http://schemas.microsoft.com/office/powerpoint/2010/main" val="2150523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E0F984-3401-CF9B-0DDE-5733EA4590E2}"/>
              </a:ext>
            </a:extLst>
          </p:cNvPr>
          <p:cNvPicPr>
            <a:picLocks noChangeAspect="1"/>
          </p:cNvPicPr>
          <p:nvPr/>
        </p:nvPicPr>
        <p:blipFill>
          <a:blip r:embed="rId2"/>
          <a:stretch>
            <a:fillRect/>
          </a:stretch>
        </p:blipFill>
        <p:spPr>
          <a:xfrm>
            <a:off x="0" y="68943"/>
            <a:ext cx="9144000" cy="6720114"/>
          </a:xfrm>
          <a:prstGeom prst="rect">
            <a:avLst/>
          </a:prstGeom>
        </p:spPr>
      </p:pic>
    </p:spTree>
    <p:extLst>
      <p:ext uri="{BB962C8B-B14F-4D97-AF65-F5344CB8AC3E}">
        <p14:creationId xmlns:p14="http://schemas.microsoft.com/office/powerpoint/2010/main" val="2449421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66D13B-7481-D5F0-8ED9-C3548CA87402}"/>
              </a:ext>
            </a:extLst>
          </p:cNvPr>
          <p:cNvPicPr>
            <a:picLocks noChangeAspect="1"/>
          </p:cNvPicPr>
          <p:nvPr/>
        </p:nvPicPr>
        <p:blipFill>
          <a:blip r:embed="rId2"/>
          <a:stretch>
            <a:fillRect/>
          </a:stretch>
        </p:blipFill>
        <p:spPr>
          <a:xfrm>
            <a:off x="0" y="958616"/>
            <a:ext cx="9144000" cy="4940767"/>
          </a:xfrm>
          <a:prstGeom prst="rect">
            <a:avLst/>
          </a:prstGeom>
        </p:spPr>
      </p:pic>
    </p:spTree>
    <p:extLst>
      <p:ext uri="{BB962C8B-B14F-4D97-AF65-F5344CB8AC3E}">
        <p14:creationId xmlns:p14="http://schemas.microsoft.com/office/powerpoint/2010/main" val="1421036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C66CB2-22B2-F04F-670B-8EFF7BB38A43}"/>
              </a:ext>
            </a:extLst>
          </p:cNvPr>
          <p:cNvPicPr>
            <a:picLocks noChangeAspect="1"/>
          </p:cNvPicPr>
          <p:nvPr/>
        </p:nvPicPr>
        <p:blipFill>
          <a:blip r:embed="rId2"/>
          <a:stretch>
            <a:fillRect/>
          </a:stretch>
        </p:blipFill>
        <p:spPr>
          <a:xfrm>
            <a:off x="20719" y="0"/>
            <a:ext cx="9102562" cy="6858000"/>
          </a:xfrm>
          <a:prstGeom prst="rect">
            <a:avLst/>
          </a:prstGeom>
        </p:spPr>
      </p:pic>
    </p:spTree>
    <p:extLst>
      <p:ext uri="{BB962C8B-B14F-4D97-AF65-F5344CB8AC3E}">
        <p14:creationId xmlns:p14="http://schemas.microsoft.com/office/powerpoint/2010/main" val="1759859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593A9C-B6C8-ACD3-178D-E078EBCFF96B}"/>
              </a:ext>
            </a:extLst>
          </p:cNvPr>
          <p:cNvPicPr>
            <a:picLocks noChangeAspect="1"/>
          </p:cNvPicPr>
          <p:nvPr/>
        </p:nvPicPr>
        <p:blipFill>
          <a:blip r:embed="rId2"/>
          <a:stretch>
            <a:fillRect/>
          </a:stretch>
        </p:blipFill>
        <p:spPr>
          <a:xfrm>
            <a:off x="0" y="18421"/>
            <a:ext cx="9144000" cy="6821157"/>
          </a:xfrm>
          <a:prstGeom prst="rect">
            <a:avLst/>
          </a:prstGeom>
        </p:spPr>
      </p:pic>
    </p:spTree>
    <p:extLst>
      <p:ext uri="{BB962C8B-B14F-4D97-AF65-F5344CB8AC3E}">
        <p14:creationId xmlns:p14="http://schemas.microsoft.com/office/powerpoint/2010/main" val="812937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4D729E3-57C4-C054-4049-CD0AF1E7A7CA}"/>
              </a:ext>
            </a:extLst>
          </p:cNvPr>
          <p:cNvPicPr>
            <a:picLocks noChangeAspect="1"/>
          </p:cNvPicPr>
          <p:nvPr/>
        </p:nvPicPr>
        <p:blipFill>
          <a:blip r:embed="rId2"/>
          <a:stretch>
            <a:fillRect/>
          </a:stretch>
        </p:blipFill>
        <p:spPr>
          <a:xfrm>
            <a:off x="0" y="242569"/>
            <a:ext cx="9144000" cy="6372862"/>
          </a:xfrm>
          <a:prstGeom prst="rect">
            <a:avLst/>
          </a:prstGeom>
        </p:spPr>
      </p:pic>
    </p:spTree>
    <p:extLst>
      <p:ext uri="{BB962C8B-B14F-4D97-AF65-F5344CB8AC3E}">
        <p14:creationId xmlns:p14="http://schemas.microsoft.com/office/powerpoint/2010/main" val="25755464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miro.medium.com/v2/resize:fit:665/1*3CsV0MUbcAI-6Xc-29txow.png"/>
          <p:cNvPicPr>
            <a:picLocks noChangeAspect="1" noChangeArrowheads="1"/>
          </p:cNvPicPr>
          <p:nvPr/>
        </p:nvPicPr>
        <p:blipFill>
          <a:blip r:embed="rId2"/>
          <a:srcRect/>
          <a:stretch>
            <a:fillRect/>
          </a:stretch>
        </p:blipFill>
        <p:spPr bwMode="auto">
          <a:xfrm>
            <a:off x="304800" y="0"/>
            <a:ext cx="8839200" cy="6858000"/>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r="7731" b="8750"/>
          <a:stretch>
            <a:fillRect/>
          </a:stretch>
        </p:blipFill>
        <p:spPr bwMode="auto">
          <a:xfrm>
            <a:off x="1" y="0"/>
            <a:ext cx="9144000" cy="667512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l="5622" b="10000"/>
          <a:stretch>
            <a:fillRect/>
          </a:stretch>
        </p:blipFill>
        <p:spPr bwMode="auto">
          <a:xfrm>
            <a:off x="731568" y="0"/>
            <a:ext cx="8412432" cy="658368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l="5622" b="13750"/>
          <a:stretch>
            <a:fillRect/>
          </a:stretch>
        </p:blipFill>
        <p:spPr bwMode="auto">
          <a:xfrm>
            <a:off x="228600" y="0"/>
            <a:ext cx="8717293" cy="630936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l="5622" r="2811" b="13750"/>
          <a:stretch>
            <a:fillRect/>
          </a:stretch>
        </p:blipFill>
        <p:spPr bwMode="auto">
          <a:xfrm>
            <a:off x="1" y="0"/>
            <a:ext cx="9144000" cy="6309360"/>
          </a:xfrm>
          <a:prstGeom prst="rect">
            <a:avLst/>
          </a:prstGeom>
          <a:noFill/>
          <a:ln w="9525">
            <a:noFill/>
            <a:miter lim="800000"/>
            <a:headEnd/>
            <a:tailEnd/>
          </a:ln>
          <a:effec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l="7028" t="6250" r="3514" b="12500"/>
          <a:stretch>
            <a:fillRect/>
          </a:stretch>
        </p:blipFill>
        <p:spPr bwMode="auto">
          <a:xfrm>
            <a:off x="1" y="457200"/>
            <a:ext cx="9144000" cy="5943600"/>
          </a:xfrm>
          <a:prstGeom prst="rect">
            <a:avLst/>
          </a:prstGeom>
          <a:noFill/>
          <a:ln w="9525">
            <a:noFill/>
            <a:miter lim="800000"/>
            <a:headEnd/>
            <a:tailEnd/>
          </a:ln>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938992"/>
          </a:xfrm>
          <a:prstGeom prst="rect">
            <a:avLst/>
          </a:prstGeom>
        </p:spPr>
        <p:txBody>
          <a:bodyPr wrap="square">
            <a:spAutoFit/>
          </a:bodyPr>
          <a:lstStyle/>
          <a:p>
            <a:r>
              <a:rPr lang="en-US" sz="2000" b="1" dirty="0">
                <a:latin typeface="Times New Roman" pitchFamily="18" charset="0"/>
                <a:cs typeface="Times New Roman" pitchFamily="18" charset="0"/>
              </a:rPr>
              <a:t>Introducing the Q-Table</a:t>
            </a:r>
          </a:p>
          <a:p>
            <a:r>
              <a:rPr lang="en-US" sz="2000" dirty="0">
                <a:latin typeface="Times New Roman" pitchFamily="18" charset="0"/>
                <a:cs typeface="Times New Roman" pitchFamily="18" charset="0"/>
              </a:rPr>
              <a:t>Q-Table is the data structure used to calculate the maximum expected future rewards for action at each state. Basically, this table will guide us to the best action at each state. To learn each value of the Q-table, Q-Learning algorithm is used.</a:t>
            </a:r>
          </a:p>
          <a:p>
            <a:r>
              <a:rPr lang="en-US" sz="2000" b="1" dirty="0">
                <a:latin typeface="Times New Roman" pitchFamily="18" charset="0"/>
                <a:cs typeface="Times New Roman" pitchFamily="18" charset="0"/>
              </a:rPr>
              <a:t>Q-function</a:t>
            </a:r>
          </a:p>
          <a:p>
            <a:r>
              <a:rPr lang="en-US" sz="2000" dirty="0">
                <a:latin typeface="Times New Roman" pitchFamily="18" charset="0"/>
                <a:cs typeface="Times New Roman" pitchFamily="18" charset="0"/>
              </a:rPr>
              <a:t>The Q-function uses the Bellman equation and takes two inputs: state (s) and action (a).</a:t>
            </a:r>
          </a:p>
        </p:txBody>
      </p:sp>
      <p:pic>
        <p:nvPicPr>
          <p:cNvPr id="18434" name="Picture 2" descr="https://miro.medium.com/v2/resize:fit:538/1*raYvY38yWm4E4J3iYqv6dA.png"/>
          <p:cNvPicPr>
            <a:picLocks noChangeAspect="1" noChangeArrowheads="1"/>
          </p:cNvPicPr>
          <p:nvPr/>
        </p:nvPicPr>
        <p:blipFill>
          <a:blip r:embed="rId2"/>
          <a:srcRect/>
          <a:stretch>
            <a:fillRect/>
          </a:stretch>
        </p:blipFill>
        <p:spPr bwMode="auto">
          <a:xfrm>
            <a:off x="381000" y="2438400"/>
            <a:ext cx="8763000" cy="28194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57200"/>
            <a:ext cx="8991600" cy="5632311"/>
          </a:xfrm>
          <a:prstGeom prst="rect">
            <a:avLst/>
          </a:prstGeom>
        </p:spPr>
        <p:txBody>
          <a:bodyPr wrap="square">
            <a:spAutoFit/>
          </a:bodyPr>
          <a:lstStyle/>
          <a:p>
            <a:pPr algn="ctr"/>
            <a:r>
              <a:rPr lang="en-US" sz="2000" b="1" dirty="0">
                <a:latin typeface="Times New Roman" pitchFamily="18" charset="0"/>
                <a:cs typeface="Times New Roman" pitchFamily="18" charset="0"/>
              </a:rPr>
              <a:t>Exploitation in Reinforcement Learning</a:t>
            </a:r>
          </a:p>
          <a:p>
            <a:pPr algn="just"/>
            <a:r>
              <a:rPr lang="en-US" sz="2000" dirty="0">
                <a:latin typeface="Times New Roman" pitchFamily="18" charset="0"/>
                <a:cs typeface="Times New Roman" pitchFamily="18" charset="0"/>
              </a:rPr>
              <a:t>Exploitation is defined as a greedy approach in which agents try to get more rewards by using estimated value but not the actual value. So, in this technique, </a:t>
            </a:r>
            <a:r>
              <a:rPr lang="en-US" sz="2000" b="1" dirty="0">
                <a:latin typeface="Times New Roman" pitchFamily="18" charset="0"/>
                <a:cs typeface="Times New Roman" pitchFamily="18" charset="0"/>
              </a:rPr>
              <a:t>agents make the best decision based on current information.</a:t>
            </a:r>
            <a:endParaRPr lang="en-US" sz="2000" dirty="0">
              <a:latin typeface="Times New Roman" pitchFamily="18" charset="0"/>
              <a:cs typeface="Times New Roman" pitchFamily="18" charset="0"/>
            </a:endParaRPr>
          </a:p>
          <a:p>
            <a:pPr algn="ctr"/>
            <a:r>
              <a:rPr lang="en-US" sz="2000" b="1" dirty="0">
                <a:latin typeface="Times New Roman" pitchFamily="18" charset="0"/>
                <a:cs typeface="Times New Roman" pitchFamily="18" charset="0"/>
              </a:rPr>
              <a:t>Exploration in Reinforcement Learning</a:t>
            </a:r>
          </a:p>
          <a:p>
            <a:pPr algn="just"/>
            <a:r>
              <a:rPr lang="en-US" sz="2000" dirty="0">
                <a:latin typeface="Times New Roman" pitchFamily="18" charset="0"/>
                <a:cs typeface="Times New Roman" pitchFamily="18" charset="0"/>
              </a:rPr>
              <a:t>Unlike exploitation, in exploration techniques, agents primarily focus on improving their knowledge about each action instead of getting more rewards so that they can get long-term benefits. So, in this technique, </a:t>
            </a:r>
            <a:r>
              <a:rPr lang="en-US" sz="2000" b="1" dirty="0">
                <a:latin typeface="Times New Roman" pitchFamily="18" charset="0"/>
                <a:cs typeface="Times New Roman" pitchFamily="18" charset="0"/>
              </a:rPr>
              <a:t>agents work on gathering more information to make the best overall decision.</a:t>
            </a:r>
          </a:p>
          <a:p>
            <a:pPr algn="just"/>
            <a:endParaRPr lang="en-US" sz="2000" b="1" dirty="0">
              <a:latin typeface="Times New Roman" pitchFamily="18" charset="0"/>
              <a:cs typeface="Times New Roman" pitchFamily="18" charset="0"/>
            </a:endParaRPr>
          </a:p>
          <a:p>
            <a:pPr algn="just"/>
            <a:endParaRPr lang="en-US" sz="2000" b="1"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Let's say we have a scenario of online restaurant selection for food orders, where you have two options to select the restaurant. In the first option, you can choose your favorite restaurant from where you ordered food in the past; this is called </a:t>
            </a:r>
            <a:r>
              <a:rPr lang="en-US" sz="2000" b="1" dirty="0">
                <a:latin typeface="Times New Roman" pitchFamily="18" charset="0"/>
                <a:cs typeface="Times New Roman" pitchFamily="18" charset="0"/>
              </a:rPr>
              <a:t>exploitation</a:t>
            </a:r>
            <a:r>
              <a:rPr lang="en-US" sz="2000" dirty="0">
                <a:latin typeface="Times New Roman" pitchFamily="18" charset="0"/>
                <a:cs typeface="Times New Roman" pitchFamily="18" charset="0"/>
              </a:rPr>
              <a:t> because here, you only know information about a specific restaurant. And for other options, you can try a new restaurant to explore new varieties and tastes of food, and it is called exploration. However, food quality might be better in the first option, but it is also possible that it is more delicious in another restaurant.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04800"/>
            <a:ext cx="9144000" cy="3139321"/>
          </a:xfrm>
          <a:prstGeom prst="rect">
            <a:avLst/>
          </a:prstGeom>
        </p:spPr>
        <p:txBody>
          <a:bodyPr wrap="square">
            <a:spAutoFit/>
          </a:bodyPr>
          <a:lstStyle/>
          <a:p>
            <a:r>
              <a:rPr lang="en-US" sz="2000" dirty="0">
                <a:latin typeface="Times New Roman" pitchFamily="18" charset="0"/>
                <a:cs typeface="Times New Roman" pitchFamily="18" charset="0"/>
              </a:rPr>
              <a:t>In order to overcome the Exploration-Exploitation Dilemma, we use the Epsilon Greedy Policy.</a:t>
            </a:r>
          </a:p>
          <a:p>
            <a:endParaRPr lang="en-US" sz="2000" dirty="0">
              <a:latin typeface="Times New Roman" pitchFamily="18" charset="0"/>
              <a:cs typeface="Times New Roman" pitchFamily="18" charset="0"/>
            </a:endParaRPr>
          </a:p>
          <a:p>
            <a:r>
              <a:rPr lang="en-US" sz="2000" u="sng" cap="all" dirty="0">
                <a:latin typeface="Times New Roman" pitchFamily="18" charset="0"/>
                <a:cs typeface="Times New Roman" pitchFamily="18" charset="0"/>
              </a:rPr>
              <a:t>EPSILON GREEDY POLICY</a:t>
            </a:r>
            <a:endParaRPr lang="en-US" sz="2000" cap="all" dirty="0">
              <a:latin typeface="Times New Roman" pitchFamily="18" charset="0"/>
              <a:cs typeface="Times New Roman" pitchFamily="18" charset="0"/>
            </a:endParaRPr>
          </a:p>
          <a:p>
            <a:r>
              <a:rPr lang="en-US" sz="2000" dirty="0">
                <a:latin typeface="Times New Roman" pitchFamily="18" charset="0"/>
                <a:cs typeface="Times New Roman" pitchFamily="18" charset="0"/>
              </a:rPr>
              <a:t>To choose between exploration and exploitation a very simple method is to choose randomly. This could be one by choosing to exploit most of the time with little exploring.</a:t>
            </a:r>
          </a:p>
          <a:p>
            <a:r>
              <a:rPr lang="en-US" sz="2000" u="sng" dirty="0">
                <a:latin typeface="Times New Roman" pitchFamily="18" charset="0"/>
                <a:cs typeface="Times New Roman" pitchFamily="18" charset="0"/>
              </a:rPr>
              <a:t>Example 1</a:t>
            </a:r>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Suppose we are rolling a dice, and if it lands on 1 then we will explore, else exploit.</a:t>
            </a:r>
          </a:p>
          <a:p>
            <a:endParaRPr lang="en-US" dirty="0"/>
          </a:p>
        </p:txBody>
      </p:sp>
      <p:pic>
        <p:nvPicPr>
          <p:cNvPr id="1026" name="Picture 2" descr="https://ai-ml-analytics.com/wp-content/uploads/2020/12/image-48.png"/>
          <p:cNvPicPr>
            <a:picLocks noChangeAspect="1" noChangeArrowheads="1"/>
          </p:cNvPicPr>
          <p:nvPr/>
        </p:nvPicPr>
        <p:blipFill>
          <a:blip r:embed="rId2"/>
          <a:srcRect/>
          <a:stretch>
            <a:fillRect/>
          </a:stretch>
        </p:blipFill>
        <p:spPr bwMode="auto">
          <a:xfrm>
            <a:off x="609600" y="3352800"/>
            <a:ext cx="6477000" cy="1600200"/>
          </a:xfrm>
          <a:prstGeom prst="rect">
            <a:avLst/>
          </a:prstGeom>
          <a:noFill/>
        </p:spPr>
      </p:pic>
      <p:sp>
        <p:nvSpPr>
          <p:cNvPr id="4" name="Rectangle 3"/>
          <p:cNvSpPr/>
          <p:nvPr/>
        </p:nvSpPr>
        <p:spPr>
          <a:xfrm>
            <a:off x="0" y="5334000"/>
            <a:ext cx="9144000" cy="1323439"/>
          </a:xfrm>
          <a:prstGeom prst="rect">
            <a:avLst/>
          </a:prstGeom>
        </p:spPr>
        <p:txBody>
          <a:bodyPr wrap="square">
            <a:spAutoFit/>
          </a:bodyPr>
          <a:lstStyle/>
          <a:p>
            <a:r>
              <a:rPr lang="en-US" sz="2000" dirty="0">
                <a:latin typeface="Times New Roman" pitchFamily="18" charset="0"/>
                <a:cs typeface="Times New Roman" pitchFamily="18" charset="0"/>
              </a:rPr>
              <a:t>This method is called the Epsilon Greedy Action where Epsilon refers to the probability of choosing to explore.</a:t>
            </a:r>
          </a:p>
          <a:p>
            <a:r>
              <a:rPr lang="en-US" sz="2000" dirty="0">
                <a:latin typeface="Times New Roman" pitchFamily="18" charset="0"/>
                <a:cs typeface="Times New Roman" pitchFamily="18" charset="0"/>
              </a:rPr>
              <a:t>In the above case the value of Epsilon will be 1/6 which is the probability of getting 1 on rolling a dice.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71800" y="457200"/>
            <a:ext cx="3912866" cy="461665"/>
          </a:xfrm>
          <a:prstGeom prst="rect">
            <a:avLst/>
          </a:prstGeom>
        </p:spPr>
        <p:txBody>
          <a:bodyPr wrap="none">
            <a:spAutoFit/>
          </a:bodyPr>
          <a:lstStyle/>
          <a:p>
            <a:r>
              <a:rPr lang="en-US" sz="2400" b="1" dirty="0"/>
              <a:t>Q-learning Algorithm Process</a:t>
            </a:r>
          </a:p>
        </p:txBody>
      </p:sp>
      <p:pic>
        <p:nvPicPr>
          <p:cNvPr id="20482" name="Picture 2" descr="https://miro.medium.com/v2/resize:fit:581/1*XSvi_PFFazxEe1TZbsnn7Q.png"/>
          <p:cNvPicPr>
            <a:picLocks noChangeAspect="1" noChangeArrowheads="1"/>
          </p:cNvPicPr>
          <p:nvPr/>
        </p:nvPicPr>
        <p:blipFill>
          <a:blip r:embed="rId2"/>
          <a:srcRect/>
          <a:stretch>
            <a:fillRect/>
          </a:stretch>
        </p:blipFill>
        <p:spPr bwMode="auto">
          <a:xfrm>
            <a:off x="1066800" y="990600"/>
            <a:ext cx="7315200" cy="5524500"/>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631216"/>
          </a:xfrm>
          <a:prstGeom prst="rect">
            <a:avLst/>
          </a:prstGeom>
        </p:spPr>
        <p:txBody>
          <a:bodyPr wrap="square">
            <a:spAutoFit/>
          </a:bodyPr>
          <a:lstStyle/>
          <a:p>
            <a:pPr algn="just"/>
            <a:r>
              <a:rPr lang="en-US" sz="2000" b="1" dirty="0">
                <a:latin typeface="Times New Roman" pitchFamily="18" charset="0"/>
                <a:cs typeface="Times New Roman" pitchFamily="18" charset="0"/>
              </a:rPr>
              <a:t>Step 1: Initialize the Q-Table(combination of actions and states)</a:t>
            </a:r>
          </a:p>
          <a:p>
            <a:pPr algn="just"/>
            <a:r>
              <a:rPr lang="en-US" sz="2000" dirty="0">
                <a:latin typeface="Times New Roman" pitchFamily="18" charset="0"/>
                <a:cs typeface="Times New Roman" pitchFamily="18" charset="0"/>
              </a:rPr>
              <a:t>First the Q-table has to be built. There are n columns, where n= number of actions. There are m rows, where m= number of states.</a:t>
            </a:r>
          </a:p>
          <a:p>
            <a:pPr algn="just"/>
            <a:r>
              <a:rPr lang="en-US" sz="2000" dirty="0">
                <a:latin typeface="Times New Roman" pitchFamily="18" charset="0"/>
                <a:cs typeface="Times New Roman" pitchFamily="18" charset="0"/>
              </a:rPr>
              <a:t>In our example n=Go Left, Go Right, Go Up and Go Down and m= Start, Idle, Correct Path, Wrong Path and End. First, let’s initialize the values at 0.</a:t>
            </a:r>
          </a:p>
        </p:txBody>
      </p:sp>
      <p:pic>
        <p:nvPicPr>
          <p:cNvPr id="21506" name="Picture 2" descr="https://miro.medium.com/v2/resize:fit:377/1*3hKL8xjGfLN03ySnLl3Tag.png"/>
          <p:cNvPicPr>
            <a:picLocks noChangeAspect="1" noChangeArrowheads="1"/>
          </p:cNvPicPr>
          <p:nvPr/>
        </p:nvPicPr>
        <p:blipFill>
          <a:blip r:embed="rId2"/>
          <a:srcRect/>
          <a:stretch>
            <a:fillRect/>
          </a:stretch>
        </p:blipFill>
        <p:spPr bwMode="auto">
          <a:xfrm>
            <a:off x="838200" y="2438400"/>
            <a:ext cx="6858000" cy="3143250"/>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304800"/>
            <a:ext cx="8610600" cy="6555641"/>
          </a:xfrm>
          <a:prstGeom prst="rect">
            <a:avLst/>
          </a:prstGeom>
        </p:spPr>
        <p:txBody>
          <a:bodyPr wrap="square">
            <a:spAutoFit/>
          </a:bodyPr>
          <a:lstStyle/>
          <a:p>
            <a:pPr algn="just"/>
            <a:r>
              <a:rPr lang="en-US" sz="2000" b="1" dirty="0">
                <a:latin typeface="Times New Roman" pitchFamily="18" charset="0"/>
                <a:cs typeface="Times New Roman" pitchFamily="18" charset="0"/>
              </a:rPr>
              <a:t>Step 2 : Choose an Action</a:t>
            </a:r>
          </a:p>
          <a:p>
            <a:pPr algn="just"/>
            <a:r>
              <a:rPr lang="en-US" sz="2000" b="1" dirty="0">
                <a:latin typeface="Times New Roman" pitchFamily="18" charset="0"/>
                <a:cs typeface="Times New Roman" pitchFamily="18" charset="0"/>
              </a:rPr>
              <a:t>Step 3 : Perform an Action</a:t>
            </a:r>
          </a:p>
          <a:p>
            <a:pPr algn="just"/>
            <a:r>
              <a:rPr lang="en-US" sz="2000" dirty="0">
                <a:latin typeface="Times New Roman" pitchFamily="18" charset="0"/>
                <a:cs typeface="Times New Roman" pitchFamily="18" charset="0"/>
              </a:rPr>
              <a:t>The combination of steps 2 and 3 is performed for an undefined amount of time. These steps runs until the time training is stopped, or when the training loop stopped as defined in the code.</a:t>
            </a:r>
          </a:p>
          <a:p>
            <a:pPr algn="just"/>
            <a:r>
              <a:rPr lang="en-US" sz="2000" dirty="0">
                <a:latin typeface="Times New Roman" pitchFamily="18" charset="0"/>
                <a:cs typeface="Times New Roman" pitchFamily="18" charset="0"/>
              </a:rPr>
              <a:t>First, an action (a) in the state (s) is chosen based on the Q-Table. Note that, as mentioned earlier, when the episode initially starts, every Q-value should be 0.</a:t>
            </a:r>
          </a:p>
          <a:p>
            <a:pPr algn="just"/>
            <a:r>
              <a:rPr lang="en-US" sz="2000" dirty="0">
                <a:latin typeface="Times New Roman" pitchFamily="18" charset="0"/>
                <a:cs typeface="Times New Roman" pitchFamily="18" charset="0"/>
              </a:rPr>
              <a:t>Then, update the Q-values for being at the start and moving right using the Bellman equation which is stated above.</a:t>
            </a:r>
          </a:p>
          <a:p>
            <a:pPr algn="just"/>
            <a:endParaRPr lang="en-US" sz="2000" dirty="0">
              <a:latin typeface="Times New Roman" pitchFamily="18" charset="0"/>
              <a:cs typeface="Times New Roman" pitchFamily="18" charset="0"/>
            </a:endParaRPr>
          </a:p>
          <a:p>
            <a:pPr algn="just"/>
            <a:r>
              <a:rPr lang="en-US" sz="2000" b="1" i="1" dirty="0">
                <a:latin typeface="Times New Roman" pitchFamily="18" charset="0"/>
                <a:cs typeface="Times New Roman" pitchFamily="18" charset="0"/>
              </a:rPr>
              <a:t>Epsilon greedy strategy</a:t>
            </a:r>
            <a:r>
              <a:rPr lang="en-US" sz="2000" dirty="0">
                <a:latin typeface="Times New Roman" pitchFamily="18" charset="0"/>
                <a:cs typeface="Times New Roman" pitchFamily="18" charset="0"/>
              </a:rPr>
              <a:t> concept comes in to play here. In the beginning, the epsilon rates will be higher. The agent will explore the environment and randomly choose actions. This occurs like this </a:t>
            </a:r>
            <a:r>
              <a:rPr lang="en-US" sz="2000" dirty="0" err="1">
                <a:latin typeface="Times New Roman" pitchFamily="18" charset="0"/>
                <a:cs typeface="Times New Roman" pitchFamily="18" charset="0"/>
              </a:rPr>
              <a:t>logically,since</a:t>
            </a:r>
            <a:r>
              <a:rPr lang="en-US" sz="2000" dirty="0">
                <a:latin typeface="Times New Roman" pitchFamily="18" charset="0"/>
                <a:cs typeface="Times New Roman" pitchFamily="18" charset="0"/>
              </a:rPr>
              <a:t> the agent does not know anything about the environment. As the agent explores the environment, the epsilon rate decreases and the agent starts to exploit the environment.</a:t>
            </a:r>
          </a:p>
          <a:p>
            <a:pPr algn="just"/>
            <a:r>
              <a:rPr lang="en-US" sz="2000" dirty="0">
                <a:latin typeface="Times New Roman" pitchFamily="18" charset="0"/>
                <a:cs typeface="Times New Roman" pitchFamily="18" charset="0"/>
              </a:rPr>
              <a:t>During the process of exploration, the agent progressively becomes more confident in estimating the Q-values.</a:t>
            </a:r>
          </a:p>
          <a:p>
            <a:pPr algn="just"/>
            <a:r>
              <a:rPr lang="en-US" sz="2000" dirty="0">
                <a:latin typeface="Times New Roman" pitchFamily="18" charset="0"/>
                <a:cs typeface="Times New Roman" pitchFamily="18" charset="0"/>
              </a:rPr>
              <a:t>In our Agent example, when the training of agent starting, the agent is completely unaware about the environment. So let’s say it takes a random action to its ‘right’ direction.</a:t>
            </a:r>
          </a:p>
          <a:p>
            <a:pPr algn="just"/>
            <a:endParaRPr lang="en-US" sz="2000" dirty="0">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https://miro.medium.com/v2/resize:fit:493/1*cuMXeIZILS1lYu7NwgiB2w.png"/>
          <p:cNvPicPr>
            <a:picLocks noChangeAspect="1" noChangeArrowheads="1"/>
          </p:cNvPicPr>
          <p:nvPr/>
        </p:nvPicPr>
        <p:blipFill>
          <a:blip r:embed="rId2"/>
          <a:srcRect/>
          <a:stretch>
            <a:fillRect/>
          </a:stretch>
        </p:blipFill>
        <p:spPr bwMode="auto">
          <a:xfrm>
            <a:off x="228600" y="609600"/>
            <a:ext cx="8534400" cy="5867400"/>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1"/>
          <p:cNvSpPr>
            <a:spLocks noChangeArrowheads="1"/>
          </p:cNvSpPr>
          <p:nvPr/>
        </p:nvSpPr>
        <p:spPr bwMode="auto">
          <a:xfrm>
            <a:off x="1" y="0"/>
            <a:ext cx="8686800" cy="1015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292929"/>
                </a:solidFill>
                <a:effectLst/>
                <a:latin typeface="Times New Roman" pitchFamily="18" charset="0"/>
                <a:cs typeface="Times New Roman" pitchFamily="18" charset="0"/>
              </a:rPr>
              <a:t>We can now update the Q-values for being at the start and moving right using the Bellman equation.</a:t>
            </a:r>
            <a:endParaRPr kumimoji="0" lang="en-US" sz="20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itchFamily="18" charset="0"/>
                <a:cs typeface="Times New Roman" pitchFamily="18" charset="0"/>
              </a:rPr>
              <a:t>  </a:t>
            </a:r>
          </a:p>
        </p:txBody>
      </p:sp>
      <p:pic>
        <p:nvPicPr>
          <p:cNvPr id="24578" name="Picture 2" descr="https://miro.medium.com/v2/resize:fit:290/1*MMwJarCPAg_RIETjl5GSqA.png"/>
          <p:cNvPicPr>
            <a:picLocks noChangeAspect="1" noChangeArrowheads="1"/>
          </p:cNvPicPr>
          <p:nvPr/>
        </p:nvPicPr>
        <p:blipFill>
          <a:blip r:embed="rId2"/>
          <a:srcRect/>
          <a:stretch>
            <a:fillRect/>
          </a:stretch>
        </p:blipFill>
        <p:spPr bwMode="auto">
          <a:xfrm>
            <a:off x="838200" y="1371600"/>
            <a:ext cx="6477000" cy="3571875"/>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04800"/>
            <a:ext cx="8991600" cy="2031325"/>
          </a:xfrm>
          <a:prstGeom prst="rect">
            <a:avLst/>
          </a:prstGeom>
        </p:spPr>
        <p:txBody>
          <a:bodyPr wrap="square">
            <a:spAutoFit/>
          </a:bodyPr>
          <a:lstStyle/>
          <a:p>
            <a:pPr algn="just"/>
            <a:r>
              <a:rPr lang="en-US" b="1" dirty="0">
                <a:latin typeface="Times New Roman" pitchFamily="18" charset="0"/>
                <a:cs typeface="Times New Roman" pitchFamily="18" charset="0"/>
              </a:rPr>
              <a:t>Steps 4 : Measure Reward</a:t>
            </a:r>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Now we have taken an action and observed an outcome and reward.</a:t>
            </a:r>
          </a:p>
          <a:p>
            <a:pPr algn="just"/>
            <a:r>
              <a:rPr lang="en-US" b="1" dirty="0">
                <a:latin typeface="Times New Roman" pitchFamily="18" charset="0"/>
                <a:cs typeface="Times New Roman" pitchFamily="18" charset="0"/>
              </a:rPr>
              <a:t>Steps 5 : Evaluate</a:t>
            </a:r>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We need to update the function Q(</a:t>
            </a:r>
            <a:r>
              <a:rPr lang="en-US" dirty="0" err="1">
                <a:latin typeface="Times New Roman" pitchFamily="18" charset="0"/>
                <a:cs typeface="Times New Roman" pitchFamily="18" charset="0"/>
              </a:rPr>
              <a:t>s,a</a:t>
            </a:r>
            <a:r>
              <a:rPr lang="en-US" dirty="0">
                <a:latin typeface="Times New Roman" pitchFamily="18" charset="0"/>
                <a:cs typeface="Times New Roman" pitchFamily="18" charset="0"/>
              </a:rPr>
              <a:t>).</a:t>
            </a:r>
          </a:p>
          <a:p>
            <a:pPr algn="just"/>
            <a:r>
              <a:rPr lang="en-US" dirty="0">
                <a:latin typeface="Times New Roman" pitchFamily="18" charset="0"/>
                <a:cs typeface="Times New Roman" pitchFamily="18" charset="0"/>
              </a:rPr>
              <a:t>This process is repeated again and again until the learning is stopped. In this way the Q-Table is been updated and the value function Q is maximized. Here the Q(state, action) returns the </a:t>
            </a:r>
            <a:r>
              <a:rPr lang="en-US" b="1" dirty="0">
                <a:latin typeface="Times New Roman" pitchFamily="18" charset="0"/>
                <a:cs typeface="Times New Roman" pitchFamily="18" charset="0"/>
              </a:rPr>
              <a:t>expected future reward</a:t>
            </a:r>
            <a:r>
              <a:rPr lang="en-US" dirty="0">
                <a:latin typeface="Times New Roman" pitchFamily="18" charset="0"/>
                <a:cs typeface="Times New Roman" pitchFamily="18" charset="0"/>
              </a:rPr>
              <a:t> of that action at that state.</a:t>
            </a:r>
          </a:p>
        </p:txBody>
      </p:sp>
      <p:pic>
        <p:nvPicPr>
          <p:cNvPr id="25602" name="Picture 2" descr="https://miro.medium.com/v2/resize:fit:700/1*EQ-tDj-iMdsHlGKUR81Xgw.png"/>
          <p:cNvPicPr>
            <a:picLocks noChangeAspect="1" noChangeArrowheads="1"/>
          </p:cNvPicPr>
          <p:nvPr/>
        </p:nvPicPr>
        <p:blipFill>
          <a:blip r:embed="rId2"/>
          <a:srcRect/>
          <a:stretch>
            <a:fillRect/>
          </a:stretch>
        </p:blipFill>
        <p:spPr bwMode="auto">
          <a:xfrm>
            <a:off x="228600" y="2819400"/>
            <a:ext cx="8382000" cy="2838450"/>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
          <p:cNvSpPr>
            <a:spLocks noChangeArrowheads="1"/>
          </p:cNvSpPr>
          <p:nvPr/>
        </p:nvSpPr>
        <p:spPr bwMode="auto">
          <a:xfrm>
            <a:off x="0" y="304800"/>
            <a:ext cx="9144000" cy="132343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rgbClr val="292929"/>
                </a:solidFill>
                <a:effectLst/>
                <a:latin typeface="Times New Roman" pitchFamily="18" charset="0"/>
                <a:cs typeface="Times New Roman" pitchFamily="18" charset="0"/>
              </a:rPr>
              <a:t>In the example, I have entered the rewarding scheme as follows.</a:t>
            </a:r>
            <a:endParaRPr kumimoji="0" lang="en-US" sz="20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1" i="1" u="none" strike="noStrike" cap="none" normalizeH="0" baseline="0" dirty="0">
                <a:ln>
                  <a:noFill/>
                </a:ln>
                <a:solidFill>
                  <a:srgbClr val="292929"/>
                </a:solidFill>
                <a:effectLst/>
                <a:latin typeface="Times New Roman" pitchFamily="18" charset="0"/>
                <a:cs typeface="Times New Roman" pitchFamily="18" charset="0"/>
              </a:rPr>
              <a:t>Reward when reach step closer to goal= +1</a:t>
            </a:r>
            <a:endParaRPr kumimoji="0" lang="en-US" sz="20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1" i="1" u="none" strike="noStrike" cap="none" normalizeH="0" baseline="0" dirty="0">
                <a:ln>
                  <a:noFill/>
                </a:ln>
                <a:solidFill>
                  <a:srgbClr val="292929"/>
                </a:solidFill>
                <a:effectLst/>
                <a:latin typeface="Times New Roman" pitchFamily="18" charset="0"/>
                <a:cs typeface="Times New Roman" pitchFamily="18" charset="0"/>
              </a:rPr>
              <a:t>Reward when hit obstacle =-1</a:t>
            </a:r>
            <a:endParaRPr kumimoji="0" lang="en-US" sz="2000" b="1"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1" i="1" u="none" strike="noStrike" cap="none" normalizeH="0" baseline="0" dirty="0">
                <a:ln>
                  <a:noFill/>
                </a:ln>
                <a:solidFill>
                  <a:srgbClr val="292929"/>
                </a:solidFill>
                <a:effectLst/>
                <a:latin typeface="Times New Roman" pitchFamily="18" charset="0"/>
                <a:cs typeface="Times New Roman" pitchFamily="18" charset="0"/>
              </a:rPr>
              <a:t>Reward when idle=0</a:t>
            </a:r>
            <a:endParaRPr kumimoji="0" lang="en-US" sz="2000" b="1" i="0" u="none" strike="noStrike" cap="none" normalizeH="0" baseline="0" dirty="0">
              <a:ln>
                <a:noFill/>
              </a:ln>
              <a:solidFill>
                <a:schemeClr val="tx1"/>
              </a:solidFill>
              <a:effectLst/>
              <a:latin typeface="Times New Roman" pitchFamily="18" charset="0"/>
              <a:cs typeface="Times New Roman" pitchFamily="18" charset="0"/>
            </a:endParaRPr>
          </a:p>
        </p:txBody>
      </p:sp>
      <p:pic>
        <p:nvPicPr>
          <p:cNvPr id="26630" name="Picture 6" descr="https://miro.medium.com/v2/resize:fit:505/1*tGTRg0CxDGLt-FyAWS6efw.png"/>
          <p:cNvPicPr>
            <a:picLocks noChangeAspect="1" noChangeArrowheads="1"/>
          </p:cNvPicPr>
          <p:nvPr/>
        </p:nvPicPr>
        <p:blipFill>
          <a:blip r:embed="rId2"/>
          <a:srcRect/>
          <a:stretch>
            <a:fillRect/>
          </a:stretch>
        </p:blipFill>
        <p:spPr bwMode="auto">
          <a:xfrm>
            <a:off x="3505200" y="1743075"/>
            <a:ext cx="2781300" cy="5114925"/>
          </a:xfrm>
          <a:prstGeom prst="rect">
            <a:avLst/>
          </a:prstGeom>
          <a:noFill/>
        </p:spPr>
      </p:pic>
      <p:pic>
        <p:nvPicPr>
          <p:cNvPr id="26631" name="Picture 7" descr="https://miro.medium.com/v2/resize:fit:504/1*0U98tVbheXhyNMXLOs-WrA.png"/>
          <p:cNvPicPr>
            <a:picLocks noChangeAspect="1" noChangeArrowheads="1"/>
          </p:cNvPicPr>
          <p:nvPr/>
        </p:nvPicPr>
        <p:blipFill>
          <a:blip r:embed="rId3"/>
          <a:srcRect/>
          <a:stretch>
            <a:fillRect/>
          </a:stretch>
        </p:blipFill>
        <p:spPr bwMode="auto">
          <a:xfrm>
            <a:off x="6400800" y="1790700"/>
            <a:ext cx="2505075" cy="5067300"/>
          </a:xfrm>
          <a:prstGeom prst="rect">
            <a:avLst/>
          </a:prstGeom>
          <a:noFill/>
        </p:spPr>
      </p:pic>
      <p:pic>
        <p:nvPicPr>
          <p:cNvPr id="26629" name="Picture 5" descr="https://miro.medium.com/v2/resize:fit:508/1*bKFEGQK9ODER-KY0iKfzGw.png"/>
          <p:cNvPicPr>
            <a:picLocks noChangeAspect="1" noChangeArrowheads="1"/>
          </p:cNvPicPr>
          <p:nvPr/>
        </p:nvPicPr>
        <p:blipFill>
          <a:blip r:embed="rId4"/>
          <a:srcRect/>
          <a:stretch>
            <a:fillRect/>
          </a:stretch>
        </p:blipFill>
        <p:spPr bwMode="auto">
          <a:xfrm>
            <a:off x="0" y="1743074"/>
            <a:ext cx="3181350" cy="5114926"/>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33400"/>
            <a:ext cx="9144000" cy="923330"/>
          </a:xfrm>
          <a:prstGeom prst="rect">
            <a:avLst/>
          </a:prstGeom>
        </p:spPr>
        <p:txBody>
          <a:bodyPr wrap="square">
            <a:spAutoFit/>
          </a:bodyPr>
          <a:lstStyle/>
          <a:p>
            <a:pPr algn="just"/>
            <a:r>
              <a:rPr lang="en-US" dirty="0">
                <a:latin typeface="Times New Roman" pitchFamily="18" charset="0"/>
                <a:cs typeface="Times New Roman" pitchFamily="18" charset="0"/>
              </a:rPr>
              <a:t>Initially, we explore the agent’s environment and update the Q-Table. When the Q-Table is ready, the agent start to exploit the environment and start taking better actions. Final Q-table can be like following (for example).</a:t>
            </a:r>
          </a:p>
        </p:txBody>
      </p:sp>
      <p:pic>
        <p:nvPicPr>
          <p:cNvPr id="27650" name="Picture 2" descr="https://miro.medium.com/v2/resize:fit:281/1*BGSmzoESJarhZ3ok4Dheyg.png"/>
          <p:cNvPicPr>
            <a:picLocks noChangeAspect="1" noChangeArrowheads="1"/>
          </p:cNvPicPr>
          <p:nvPr/>
        </p:nvPicPr>
        <p:blipFill>
          <a:blip r:embed="rId2"/>
          <a:srcRect/>
          <a:stretch>
            <a:fillRect/>
          </a:stretch>
        </p:blipFill>
        <p:spPr bwMode="auto">
          <a:xfrm>
            <a:off x="1828800" y="1371600"/>
            <a:ext cx="4724400" cy="3200400"/>
          </a:xfrm>
          <a:prstGeom prst="rect">
            <a:avLst/>
          </a:prstGeom>
          <a:noFill/>
        </p:spPr>
      </p:pic>
      <p:sp>
        <p:nvSpPr>
          <p:cNvPr id="4" name="Rectangle 3"/>
          <p:cNvSpPr/>
          <p:nvPr/>
        </p:nvSpPr>
        <p:spPr>
          <a:xfrm>
            <a:off x="0" y="4953000"/>
            <a:ext cx="9144000" cy="646331"/>
          </a:xfrm>
          <a:prstGeom prst="rect">
            <a:avLst/>
          </a:prstGeom>
        </p:spPr>
        <p:txBody>
          <a:bodyPr wrap="square">
            <a:spAutoFit/>
          </a:bodyPr>
          <a:lstStyle/>
          <a:p>
            <a:r>
              <a:rPr lang="en-US" b="1" dirty="0">
                <a:latin typeface="Times New Roman" pitchFamily="18" charset="0"/>
                <a:cs typeface="Times New Roman" pitchFamily="18" charset="0"/>
              </a:rPr>
              <a:t>Following are the outcomes that results the agent’s shortest path towards goal after training.</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https://miro.medium.com/v2/resize:fit:501/1*HPwrR1NgxOcqYwjBpxwQQg.png"/>
          <p:cNvPicPr>
            <a:picLocks noChangeAspect="1" noChangeArrowheads="1"/>
          </p:cNvPicPr>
          <p:nvPr/>
        </p:nvPicPr>
        <p:blipFill>
          <a:blip r:embed="rId2"/>
          <a:srcRect/>
          <a:stretch>
            <a:fillRect/>
          </a:stretch>
        </p:blipFill>
        <p:spPr bwMode="auto">
          <a:xfrm>
            <a:off x="381000" y="228600"/>
            <a:ext cx="8305800" cy="5629276"/>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srcRect l="2811" t="2500" r="6325" b="7500"/>
          <a:stretch>
            <a:fillRect/>
          </a:stretch>
        </p:blipFill>
        <p:spPr bwMode="auto">
          <a:xfrm>
            <a:off x="365763" y="182880"/>
            <a:ext cx="8397237" cy="6583680"/>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a:srcRect r="4217" b="11250"/>
          <a:stretch>
            <a:fillRect/>
          </a:stretch>
        </p:blipFill>
        <p:spPr bwMode="auto">
          <a:xfrm>
            <a:off x="1" y="0"/>
            <a:ext cx="8763000" cy="649224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2"/>
          <a:srcRect b="35000"/>
          <a:stretch>
            <a:fillRect/>
          </a:stretch>
        </p:blipFill>
        <p:spPr bwMode="auto">
          <a:xfrm>
            <a:off x="0" y="0"/>
            <a:ext cx="8915400" cy="4754880"/>
          </a:xfrm>
          <a:prstGeom prst="rect">
            <a:avLst/>
          </a:prstGeom>
          <a:noFill/>
          <a:ln w="9525">
            <a:noFill/>
            <a:miter lim="800000"/>
            <a:headEnd/>
            <a:tailEnd/>
          </a:ln>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srcRect t="2500" r="1406" b="6250"/>
          <a:stretch>
            <a:fillRect/>
          </a:stretch>
        </p:blipFill>
        <p:spPr bwMode="auto">
          <a:xfrm>
            <a:off x="0" y="182880"/>
            <a:ext cx="8763000" cy="6675120"/>
          </a:xfrm>
          <a:prstGeom prst="rect">
            <a:avLst/>
          </a:prstGeom>
          <a:noFill/>
          <a:ln w="9525">
            <a:noFill/>
            <a:miter lim="800000"/>
            <a:headEnd/>
            <a:tailEnd/>
          </a:ln>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a:srcRect l="1406" r="5622" b="20000"/>
          <a:stretch>
            <a:fillRect/>
          </a:stretch>
        </p:blipFill>
        <p:spPr bwMode="auto">
          <a:xfrm>
            <a:off x="0" y="0"/>
            <a:ext cx="9189751" cy="585216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330</TotalTime>
  <Words>2687</Words>
  <Application>Microsoft Office PowerPoint</Application>
  <PresentationFormat>On-screen Show (4:3)</PresentationFormat>
  <Paragraphs>173</Paragraphs>
  <Slides>46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Inter</vt:lpstr>
      <vt:lpstr>Times New Roman</vt:lpstr>
      <vt:lpstr>Office Theme</vt:lpstr>
      <vt:lpstr>U-3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U-3 </dc:title>
  <dc:creator>klp_mmu</dc:creator>
  <cp:lastModifiedBy>Sonali Goyal</cp:lastModifiedBy>
  <cp:revision>8</cp:revision>
  <dcterms:created xsi:type="dcterms:W3CDTF">2006-08-16T00:00:00Z</dcterms:created>
  <dcterms:modified xsi:type="dcterms:W3CDTF">2026-02-18T13:04:00Z</dcterms:modified>
</cp:coreProperties>
</file>