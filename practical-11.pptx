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2" r:id="rId6"/>
    <p:sldId id="264" r:id="rId7"/>
    <p:sldId id="260" r:id="rId8"/>
    <p:sldId id="261" r:id="rId9"/>
    <p:sldId id="25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99CEC-8D2B-5EE2-0CAA-BC702C3290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119E4-BBD6-E95A-9F3C-D19BAF3DDA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FDDE7-CA88-B127-EB7C-269A2C5A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A776F-F29D-56FB-55DE-7E3EF330A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59E73-88C5-53B2-166C-F6BC3933D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998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E864A-B52A-6D55-86D1-D4D9976B1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6EBBD-9070-33E3-9454-D7BAE52B1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2341A9-D798-2E7C-CF72-12AEF7FF9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C13FC-0E1F-309A-36AB-38D1AF740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8EC03-987A-08C1-EF77-D2041C66E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877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ACF59-6BE0-F2AB-2345-7B384128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93718-B0F3-A4FF-CF73-CE38F1D71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10682-EA5B-CC17-5D53-6E771D850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56BA5-C7DB-8071-6DF4-B54819658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A24DA-2003-EFFC-E6CF-5D08B0B23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3868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D87B8-BB7B-2C9A-1CDA-360FBB8F2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DAECD-8237-54C0-2D8E-1F0D2939F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2A191-0E87-AF71-EE66-0171EBA091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B87D9-8755-07EE-0167-BDD48775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B198D2-0312-E735-8BBE-7485B758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D0C05-0E71-157F-B3E6-FEB0F16F1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23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A6FC8-402F-F062-B686-51CB27F11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655C0-1B02-4ADD-9BC2-1BBE3B89B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134D3F-AB53-2A17-4C4D-9747E10B17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BF61B6-4B91-972E-A8C6-E388A4506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3823E2-8A2E-8080-1C20-41E4B6243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27ACD7-410B-AABB-2209-D5243378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F0AFD-EC33-6AAD-38AC-BD401FD4D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13AD3-9C4A-3A4C-51E5-F52EDC58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474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D94C9-E41E-BE0E-112C-B13714869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9F2ED3-AA74-A02F-116F-56E6DB3F1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2CD5AA-CD23-C997-A063-E3C2615F5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B8739-27C3-85C2-6595-F181AA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329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BE34B2-A912-2122-2A0F-2ADB03BF2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0932AD-500C-93A9-6C99-3D78AD8DE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1473A-3D3A-8807-E5F3-94C96CBF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677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43788-25B0-5F3C-BE61-E8E4C2FB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F734-B993-21E0-9BC0-4261570A9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F55F6-F809-C08E-C1FF-1CE0AA8709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9AB78-E64C-EFBE-BA62-3A3FFF07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3AC590-AD08-3945-D819-A7B4FAA0B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37D255-3C41-38FB-78FE-614F2AA58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6674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00C30-0E6C-0C7E-F61A-0F27C1A95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300CEB-7A4F-9593-65B6-0B57AD76E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6353B-4B4C-CB4D-E436-80C58FCE1A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FF09BD-B6B4-E34C-DB7B-F4F105926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9D2B7-2124-10EC-52DA-A3499AAB5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45886-0652-DCC3-84D3-59C7DBC89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076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5A11A-D05E-CF53-E9FF-1464E0475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10965E-234B-CBA3-99F4-181C4D4C8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0C682-8EBF-FFB3-E308-A66F56CE1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97AED-1AD2-A3C5-F214-2E9DAE9E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52427-49D8-A7B2-B1EA-648222EC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26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377CAF-866C-DA5E-E03E-28F71E35E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5522B6-5F9F-4ACA-56B2-0C3DE9500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FEE0F-4CD4-37FC-A124-4AA3DC407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AE3AF-4C28-FC98-57FF-3B6E938A6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78835-F614-B99B-35D6-E9156972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145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2C47AF-02D1-C0FC-023C-9D9A8B22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73F23E-B8A4-4CE0-AA59-AAEA31A7F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6CB22-2BE0-C392-D206-25AA3D4954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580BC-15C3-4816-84D5-87FE6C64DCF8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87F52-5AC2-20D5-4C2F-15B1C01870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6BF61-7B7B-1FAB-975C-14E490016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67349B-5FEF-4AFA-A9B3-220536E3E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93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FC263-5A17-F776-F89B-7DF1F166B0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Write a program to implement Smart Traffic Light Controller using Reinforcement Learning.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86F44-ADEB-E252-1282-BA10F331A2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768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53A87-868D-F9E5-C6DA-B75E420F235F}"/>
              </a:ext>
            </a:extLst>
          </p:cNvPr>
          <p:cNvSpPr txBox="1"/>
          <p:nvPr/>
        </p:nvSpPr>
        <p:spPr>
          <a:xfrm>
            <a:off x="424544" y="1166843"/>
            <a:ext cx="1080951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Smart Traffic Light Controller using Reinforcement Learning</a:t>
            </a:r>
          </a:p>
          <a:p>
            <a:r>
              <a:rPr lang="en-US" b="1" dirty="0"/>
              <a:t> Idea</a:t>
            </a:r>
          </a:p>
          <a:p>
            <a:r>
              <a:rPr lang="en-US" dirty="0"/>
              <a:t>We train a traffic signal to automatically decide:</a:t>
            </a:r>
          </a:p>
          <a:p>
            <a:r>
              <a:rPr lang="en-US" dirty="0"/>
              <a:t>Give Green to </a:t>
            </a:r>
            <a:r>
              <a:rPr lang="en-US" b="1" dirty="0"/>
              <a:t>North–South</a:t>
            </a:r>
            <a:br>
              <a:rPr lang="en-US" dirty="0"/>
            </a:br>
            <a:r>
              <a:rPr lang="en-US" dirty="0"/>
              <a:t>OR</a:t>
            </a:r>
          </a:p>
          <a:p>
            <a:r>
              <a:rPr lang="en-US" dirty="0"/>
              <a:t>Give Green to </a:t>
            </a:r>
            <a:r>
              <a:rPr lang="en-US" b="1" dirty="0"/>
              <a:t>East–West</a:t>
            </a:r>
            <a:endParaRPr lang="en-US" dirty="0"/>
          </a:p>
          <a:p>
            <a:r>
              <a:rPr lang="en-US" dirty="0"/>
              <a:t>The goal is to </a:t>
            </a:r>
            <a:r>
              <a:rPr lang="en-US" b="1" dirty="0"/>
              <a:t>reduce traffic congestion</a:t>
            </a:r>
            <a:r>
              <a:rPr lang="en-US" dirty="0"/>
              <a:t> (reduce waiting vehicles).</a:t>
            </a:r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014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3EBC58-C699-0641-9468-B5A7814650FE}"/>
              </a:ext>
            </a:extLst>
          </p:cNvPr>
          <p:cNvSpPr txBox="1"/>
          <p:nvPr/>
        </p:nvSpPr>
        <p:spPr>
          <a:xfrm>
            <a:off x="7826827" y="328965"/>
            <a:ext cx="45611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1200" dirty="0"/>
          </a:p>
          <a:p>
            <a:endParaRPr lang="en-IN" sz="1200" dirty="0"/>
          </a:p>
          <a:p>
            <a:endParaRPr lang="en-IN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D46CAB-4BB0-4EA9-F41C-81A9650FB31A}"/>
              </a:ext>
            </a:extLst>
          </p:cNvPr>
          <p:cNvSpPr txBox="1"/>
          <p:nvPr/>
        </p:nvSpPr>
        <p:spPr>
          <a:xfrm>
            <a:off x="97973" y="671691"/>
            <a:ext cx="622662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numpy</a:t>
            </a:r>
            <a:r>
              <a:rPr lang="en-IN" dirty="0"/>
              <a:t> as np</a:t>
            </a:r>
          </a:p>
          <a:p>
            <a:r>
              <a:rPr lang="en-IN" dirty="0"/>
              <a:t>import random</a:t>
            </a:r>
          </a:p>
          <a:p>
            <a:endParaRPr lang="en-IN" dirty="0"/>
          </a:p>
          <a:p>
            <a:r>
              <a:rPr lang="en-IN" dirty="0"/>
              <a:t># Parameters</a:t>
            </a:r>
          </a:p>
          <a:p>
            <a:r>
              <a:rPr lang="en-IN" dirty="0"/>
              <a:t>alpha = 0.1      # Learning rate        </a:t>
            </a:r>
          </a:p>
          <a:p>
            <a:r>
              <a:rPr lang="en-IN" dirty="0"/>
              <a:t>gamma = 0.9      # Discount factor</a:t>
            </a:r>
          </a:p>
          <a:p>
            <a:r>
              <a:rPr lang="en-IN" dirty="0"/>
              <a:t>epsilon = 0.1    # Exploration rate</a:t>
            </a:r>
          </a:p>
          <a:p>
            <a:r>
              <a:rPr lang="en-IN" dirty="0"/>
              <a:t>episodes = 5000</a:t>
            </a:r>
          </a:p>
          <a:p>
            <a:endParaRPr lang="en-IN" dirty="0"/>
          </a:p>
          <a:p>
            <a:r>
              <a:rPr lang="en-IN" dirty="0"/>
              <a:t># States:</a:t>
            </a:r>
          </a:p>
          <a:p>
            <a:r>
              <a:rPr lang="en-IN" dirty="0"/>
              <a:t># 0 = Low NS, Low EW</a:t>
            </a:r>
          </a:p>
          <a:p>
            <a:r>
              <a:rPr lang="en-IN" dirty="0"/>
              <a:t># 1 = High NS, Low EW</a:t>
            </a:r>
          </a:p>
          <a:p>
            <a:r>
              <a:rPr lang="en-IN" dirty="0"/>
              <a:t># 2 = Low NS, High EW</a:t>
            </a:r>
          </a:p>
          <a:p>
            <a:r>
              <a:rPr lang="en-IN" dirty="0"/>
              <a:t># 3 = High NS, High EW</a:t>
            </a:r>
          </a:p>
          <a:p>
            <a:endParaRPr lang="en-IN" dirty="0"/>
          </a:p>
          <a:p>
            <a:r>
              <a:rPr lang="en-IN" dirty="0" err="1"/>
              <a:t>n_states</a:t>
            </a:r>
            <a:r>
              <a:rPr lang="en-IN" dirty="0"/>
              <a:t> = 4</a:t>
            </a:r>
          </a:p>
          <a:p>
            <a:r>
              <a:rPr lang="en-IN" dirty="0" err="1"/>
              <a:t>n_actions</a:t>
            </a:r>
            <a:r>
              <a:rPr lang="en-IN" dirty="0"/>
              <a:t> = 2   # 0 = Green NS, 1 = Green EW</a:t>
            </a:r>
          </a:p>
          <a:p>
            <a:endParaRPr lang="en-IN" dirty="0"/>
          </a:p>
          <a:p>
            <a:r>
              <a:rPr lang="en-IN" dirty="0"/>
              <a:t># Initialize Q-table</a:t>
            </a:r>
          </a:p>
          <a:p>
            <a:r>
              <a:rPr lang="en-IN" dirty="0"/>
              <a:t>Q = </a:t>
            </a:r>
            <a:r>
              <a:rPr lang="en-IN" dirty="0" err="1"/>
              <a:t>np.zeros</a:t>
            </a:r>
            <a:r>
              <a:rPr lang="en-IN" dirty="0"/>
              <a:t>((</a:t>
            </a:r>
            <a:r>
              <a:rPr lang="en-IN" dirty="0" err="1"/>
              <a:t>n_states</a:t>
            </a:r>
            <a:r>
              <a:rPr lang="en-IN" dirty="0"/>
              <a:t>, </a:t>
            </a:r>
            <a:r>
              <a:rPr lang="en-IN" dirty="0" err="1"/>
              <a:t>n_actions</a:t>
            </a:r>
            <a:r>
              <a:rPr lang="en-IN" dirty="0"/>
              <a:t>))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AC6A702-1AE1-844C-17C5-C200F06FA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8113" y="1722447"/>
            <a:ext cx="4408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controls how fast the system learns.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 value = slow learning.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C937AF0-4E9F-64D6-54B5-DA29D6ABE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1029" y="2245667"/>
            <a:ext cx="425631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tells how important future rewards 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0.9 means future rewards are very important.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ED8ACB8-8A4C-A235-6E65-3F3BFFDD4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384" y="5794606"/>
            <a:ext cx="365677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creates a table of size 4 × 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Initially all values are 0.</a:t>
            </a:r>
          </a:p>
        </p:txBody>
      </p:sp>
    </p:spTree>
    <p:extLst>
      <p:ext uri="{BB962C8B-B14F-4D97-AF65-F5344CB8AC3E}">
        <p14:creationId xmlns:p14="http://schemas.microsoft.com/office/powerpoint/2010/main" val="2140607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32DC3E-B639-6BA6-09D7-9FD6EC1A8013}"/>
              </a:ext>
            </a:extLst>
          </p:cNvPr>
          <p:cNvSpPr txBox="1"/>
          <p:nvPr/>
        </p:nvSpPr>
        <p:spPr>
          <a:xfrm>
            <a:off x="5823857" y="3358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This function calculates reward.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6A049-DD39-9B31-0035-4AE33695B6CF}"/>
              </a:ext>
            </a:extLst>
          </p:cNvPr>
          <p:cNvSpPr txBox="1"/>
          <p:nvPr/>
        </p:nvSpPr>
        <p:spPr>
          <a:xfrm>
            <a:off x="152400" y="335845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def </a:t>
            </a:r>
            <a:r>
              <a:rPr lang="en-IN" sz="1800" dirty="0" err="1"/>
              <a:t>get_reward</a:t>
            </a:r>
            <a:r>
              <a:rPr lang="en-IN" sz="1800" dirty="0"/>
              <a:t>(state, action):</a:t>
            </a:r>
          </a:p>
          <a:p>
            <a:r>
              <a:rPr lang="en-IN" sz="1800" dirty="0"/>
              <a:t>    # If high traffic side gets green → good reward</a:t>
            </a:r>
          </a:p>
          <a:p>
            <a:r>
              <a:rPr lang="en-IN" sz="1800" dirty="0"/>
              <a:t>    if state == 1 and action == 0:</a:t>
            </a:r>
          </a:p>
          <a:p>
            <a:r>
              <a:rPr lang="en-IN" sz="1800" dirty="0"/>
              <a:t>        return 10</a:t>
            </a:r>
          </a:p>
          <a:p>
            <a:r>
              <a:rPr lang="en-IN" sz="1800" dirty="0"/>
              <a:t>    </a:t>
            </a:r>
            <a:r>
              <a:rPr lang="en-IN" sz="1800" dirty="0" err="1"/>
              <a:t>elif</a:t>
            </a:r>
            <a:r>
              <a:rPr lang="en-IN" sz="1800" dirty="0"/>
              <a:t> state == 2 and action == 1:</a:t>
            </a:r>
          </a:p>
          <a:p>
            <a:r>
              <a:rPr lang="en-IN" sz="1800" dirty="0"/>
              <a:t>        return 10</a:t>
            </a:r>
          </a:p>
          <a:p>
            <a:r>
              <a:rPr lang="en-IN" sz="1800" dirty="0"/>
              <a:t>    </a:t>
            </a:r>
            <a:r>
              <a:rPr lang="en-IN" sz="1800" dirty="0" err="1"/>
              <a:t>elif</a:t>
            </a:r>
            <a:r>
              <a:rPr lang="en-IN" sz="1800" dirty="0"/>
              <a:t> state == 3:</a:t>
            </a:r>
          </a:p>
          <a:p>
            <a:r>
              <a:rPr lang="en-IN" sz="1800" dirty="0"/>
              <a:t>        return 5</a:t>
            </a:r>
          </a:p>
          <a:p>
            <a:r>
              <a:rPr lang="en-IN" sz="1800" dirty="0"/>
              <a:t>    else:</a:t>
            </a:r>
          </a:p>
          <a:p>
            <a:r>
              <a:rPr lang="en-IN" sz="1800" dirty="0"/>
              <a:t>        return -5        </a:t>
            </a:r>
          </a:p>
          <a:p>
            <a:r>
              <a:rPr lang="en-IN" sz="1800" dirty="0"/>
              <a:t>state = </a:t>
            </a:r>
            <a:r>
              <a:rPr lang="en-IN" sz="1800" dirty="0" err="1"/>
              <a:t>next_state</a:t>
            </a:r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print("Trained Q-Table:")</a:t>
            </a:r>
          </a:p>
          <a:p>
            <a:r>
              <a:rPr lang="en-IN" sz="1800" dirty="0"/>
              <a:t>print(Q)</a:t>
            </a:r>
          </a:p>
          <a:p>
            <a:endParaRPr lang="en-IN" sz="1800" dirty="0"/>
          </a:p>
          <a:p>
            <a:r>
              <a:rPr lang="en-IN" sz="1800" dirty="0"/>
              <a:t>print("\</a:t>
            </a:r>
            <a:r>
              <a:rPr lang="en-IN" sz="1800" dirty="0" err="1"/>
              <a:t>nBest</a:t>
            </a:r>
            <a:r>
              <a:rPr lang="en-IN" sz="1800" dirty="0"/>
              <a:t> Traffic Decisions:")</a:t>
            </a:r>
          </a:p>
          <a:p>
            <a:r>
              <a:rPr lang="en-IN" sz="1800" dirty="0"/>
              <a:t>for state in range(4):</a:t>
            </a:r>
          </a:p>
          <a:p>
            <a:r>
              <a:rPr lang="en-IN" sz="1800" dirty="0"/>
              <a:t>    action = </a:t>
            </a:r>
            <a:r>
              <a:rPr lang="en-IN" sz="1800" dirty="0" err="1"/>
              <a:t>np.argmax</a:t>
            </a:r>
            <a:r>
              <a:rPr lang="en-IN" sz="1800" dirty="0"/>
              <a:t>(Q[state])</a:t>
            </a:r>
          </a:p>
          <a:p>
            <a:r>
              <a:rPr lang="en-IN" sz="1800" dirty="0"/>
              <a:t>    if action == 0:</a:t>
            </a:r>
          </a:p>
          <a:p>
            <a:r>
              <a:rPr lang="en-IN" sz="1800" dirty="0"/>
              <a:t>        print(</a:t>
            </a:r>
            <a:r>
              <a:rPr lang="en-IN" sz="1800" dirty="0" err="1"/>
              <a:t>f"State</a:t>
            </a:r>
            <a:r>
              <a:rPr lang="en-IN" sz="1800" dirty="0"/>
              <a:t> {state} → Green: North-South")</a:t>
            </a:r>
          </a:p>
          <a:p>
            <a:r>
              <a:rPr lang="en-IN" sz="1800" dirty="0"/>
              <a:t>    else:</a:t>
            </a:r>
          </a:p>
          <a:p>
            <a:r>
              <a:rPr lang="en-IN" sz="1800" dirty="0"/>
              <a:t>        print(</a:t>
            </a:r>
            <a:r>
              <a:rPr lang="en-IN" sz="1800" dirty="0" err="1"/>
              <a:t>f"State</a:t>
            </a:r>
            <a:r>
              <a:rPr lang="en-IN" sz="1800" dirty="0"/>
              <a:t> {state} → Green: East-West")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93D48B-DCA7-9595-C909-8C48DEE90988}"/>
              </a:ext>
            </a:extLst>
          </p:cNvPr>
          <p:cNvSpPr txBox="1"/>
          <p:nvPr/>
        </p:nvSpPr>
        <p:spPr>
          <a:xfrm>
            <a:off x="5519057" y="9365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NS traffic is high and NS gets green → good → +10.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F65E7-8493-7AD5-9B9B-548C13281103}"/>
              </a:ext>
            </a:extLst>
          </p:cNvPr>
          <p:cNvSpPr txBox="1"/>
          <p:nvPr/>
        </p:nvSpPr>
        <p:spPr>
          <a:xfrm>
            <a:off x="5334000" y="135261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EW traffic is high and EW gets green → +10.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A1C46D-C644-DA6C-719A-7F41A7FD3107}"/>
              </a:ext>
            </a:extLst>
          </p:cNvPr>
          <p:cNvSpPr txBox="1"/>
          <p:nvPr/>
        </p:nvSpPr>
        <p:spPr>
          <a:xfrm>
            <a:off x="5377543" y="19533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both sides high → small positive reward.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DA92CF-67B3-9C74-5E6E-A6597DD623E2}"/>
              </a:ext>
            </a:extLst>
          </p:cNvPr>
          <p:cNvSpPr txBox="1"/>
          <p:nvPr/>
        </p:nvSpPr>
        <p:spPr>
          <a:xfrm>
            <a:off x="5377543" y="262025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wrong side gets green → penalty.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1543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4EE0C6-8C6B-268E-100B-2F9E792620C0}"/>
              </a:ext>
            </a:extLst>
          </p:cNvPr>
          <p:cNvSpPr txBox="1"/>
          <p:nvPr/>
        </p:nvSpPr>
        <p:spPr>
          <a:xfrm>
            <a:off x="707572" y="317089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def </a:t>
            </a:r>
            <a:r>
              <a:rPr lang="en-IN" sz="1800" dirty="0" err="1"/>
              <a:t>get_next_state</a:t>
            </a:r>
            <a:r>
              <a:rPr lang="en-IN" sz="1800" dirty="0"/>
              <a:t>():</a:t>
            </a:r>
          </a:p>
          <a:p>
            <a:r>
              <a:rPr lang="en-IN" sz="1800" dirty="0"/>
              <a:t>    return </a:t>
            </a:r>
            <a:r>
              <a:rPr lang="en-IN" sz="1800" dirty="0" err="1"/>
              <a:t>random.randint</a:t>
            </a:r>
            <a:r>
              <a:rPr lang="en-IN" sz="1800" dirty="0"/>
              <a:t>(0, 3)</a:t>
            </a:r>
          </a:p>
          <a:p>
            <a:endParaRPr lang="en-IN" sz="1800" dirty="0"/>
          </a:p>
          <a:p>
            <a:r>
              <a:rPr lang="en-IN" sz="1800" dirty="0"/>
              <a:t># Training</a:t>
            </a:r>
          </a:p>
          <a:p>
            <a:r>
              <a:rPr lang="en-IN" sz="1800" dirty="0"/>
              <a:t>for episode in range(episodes):</a:t>
            </a:r>
          </a:p>
          <a:p>
            <a:r>
              <a:rPr lang="en-IN" sz="1800" dirty="0"/>
              <a:t>    state = </a:t>
            </a:r>
            <a:r>
              <a:rPr lang="en-IN" sz="1800" dirty="0" err="1"/>
              <a:t>random.randint</a:t>
            </a:r>
            <a:r>
              <a:rPr lang="en-IN" sz="1800" dirty="0"/>
              <a:t>(0, 3)</a:t>
            </a:r>
          </a:p>
          <a:p>
            <a:endParaRPr lang="en-IN" sz="1800" dirty="0"/>
          </a:p>
          <a:p>
            <a:r>
              <a:rPr lang="en-IN" sz="1800" dirty="0"/>
              <a:t>    for step in range(10):</a:t>
            </a:r>
          </a:p>
          <a:p>
            <a:endParaRPr lang="en-IN" sz="1800" dirty="0"/>
          </a:p>
          <a:p>
            <a:r>
              <a:rPr lang="en-IN" sz="1800" dirty="0"/>
              <a:t>        # Epsilon-greedy</a:t>
            </a:r>
          </a:p>
          <a:p>
            <a:r>
              <a:rPr lang="en-IN" sz="1800" dirty="0"/>
              <a:t>        if </a:t>
            </a:r>
            <a:r>
              <a:rPr lang="en-IN" sz="1800" dirty="0" err="1"/>
              <a:t>random.uniform</a:t>
            </a:r>
            <a:r>
              <a:rPr lang="en-IN" sz="1800" dirty="0"/>
              <a:t>(0, 1) &lt; epsilon:</a:t>
            </a:r>
          </a:p>
          <a:p>
            <a:r>
              <a:rPr lang="en-IN" sz="1800" dirty="0"/>
              <a:t>            action = </a:t>
            </a:r>
            <a:r>
              <a:rPr lang="en-IN" sz="1800" dirty="0" err="1"/>
              <a:t>random.randint</a:t>
            </a:r>
            <a:r>
              <a:rPr lang="en-IN" sz="1800" dirty="0"/>
              <a:t>(0, 1)</a:t>
            </a:r>
          </a:p>
          <a:p>
            <a:r>
              <a:rPr lang="en-IN" sz="1800" dirty="0"/>
              <a:t>        else:</a:t>
            </a:r>
          </a:p>
          <a:p>
            <a:r>
              <a:rPr lang="en-IN" sz="1800" dirty="0"/>
              <a:t>            action = </a:t>
            </a:r>
            <a:r>
              <a:rPr lang="en-IN" sz="1800" dirty="0" err="1"/>
              <a:t>np.argmax</a:t>
            </a:r>
            <a:r>
              <a:rPr lang="en-IN" sz="1800" dirty="0"/>
              <a:t>(Q[state])</a:t>
            </a:r>
          </a:p>
          <a:p>
            <a:endParaRPr lang="en-IN" sz="1800" dirty="0"/>
          </a:p>
          <a:p>
            <a:r>
              <a:rPr lang="en-IN" sz="1800" dirty="0"/>
              <a:t>        reward = </a:t>
            </a:r>
            <a:r>
              <a:rPr lang="en-IN" sz="1800" dirty="0" err="1"/>
              <a:t>get_reward</a:t>
            </a:r>
            <a:r>
              <a:rPr lang="en-IN" sz="1800" dirty="0"/>
              <a:t>(state, action)</a:t>
            </a:r>
          </a:p>
          <a:p>
            <a:r>
              <a:rPr lang="en-IN" sz="1800" dirty="0"/>
              <a:t>        </a:t>
            </a:r>
            <a:r>
              <a:rPr lang="en-IN" sz="1800" dirty="0" err="1"/>
              <a:t>next_state</a:t>
            </a:r>
            <a:r>
              <a:rPr lang="en-IN" sz="1800" dirty="0"/>
              <a:t> = </a:t>
            </a:r>
            <a:r>
              <a:rPr lang="en-IN" sz="1800" dirty="0" err="1"/>
              <a:t>get_next_state</a:t>
            </a:r>
            <a:r>
              <a:rPr lang="en-IN" sz="1800" dirty="0"/>
              <a:t>()</a:t>
            </a:r>
          </a:p>
          <a:p>
            <a:endParaRPr lang="en-IN" sz="1800" dirty="0"/>
          </a:p>
          <a:p>
            <a:r>
              <a:rPr lang="en-IN" sz="1800" dirty="0"/>
              <a:t>        # Q-learning update</a:t>
            </a:r>
          </a:p>
          <a:p>
            <a:r>
              <a:rPr lang="en-IN" sz="1800" dirty="0"/>
              <a:t>        Q[state, action] = Q[state, action] + alpha * (</a:t>
            </a:r>
          </a:p>
          <a:p>
            <a:r>
              <a:rPr lang="en-IN" sz="1800" dirty="0"/>
              <a:t>            reward + gamma * </a:t>
            </a:r>
            <a:r>
              <a:rPr lang="en-IN" sz="1800" dirty="0" err="1"/>
              <a:t>np.max</a:t>
            </a:r>
            <a:r>
              <a:rPr lang="en-IN" sz="1800" dirty="0"/>
              <a:t>(Q[</a:t>
            </a:r>
            <a:r>
              <a:rPr lang="en-IN" sz="1800" dirty="0" err="1"/>
              <a:t>next_state</a:t>
            </a:r>
            <a:r>
              <a:rPr lang="en-IN" sz="1800" dirty="0"/>
              <a:t>]) - Q[state, action]</a:t>
            </a:r>
          </a:p>
          <a:p>
            <a:r>
              <a:rPr lang="en-IN" sz="1800" dirty="0"/>
              <a:t>       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6A262B-7A48-833F-B862-6BFACA668201}"/>
              </a:ext>
            </a:extLst>
          </p:cNvPr>
          <p:cNvSpPr txBox="1"/>
          <p:nvPr/>
        </p:nvSpPr>
        <p:spPr>
          <a:xfrm>
            <a:off x="5976257" y="3170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Randomly generates next traffic condition.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Simulates changing traffic.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487509-4B91-683C-38E9-7ECE82A9AC8F}"/>
              </a:ext>
            </a:extLst>
          </p:cNvPr>
          <p:cNvSpPr txBox="1"/>
          <p:nvPr/>
        </p:nvSpPr>
        <p:spPr>
          <a:xfrm>
            <a:off x="6096000" y="1644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Start with a random traffic situation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46BEFC-C60A-0DC9-3693-8BF9E2169761}"/>
              </a:ext>
            </a:extLst>
          </p:cNvPr>
          <p:cNvSpPr txBox="1"/>
          <p:nvPr/>
        </p:nvSpPr>
        <p:spPr>
          <a:xfrm>
            <a:off x="5867400" y="3059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10% of time → choose random action (exploration).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0BEEF3-53E7-9EAE-540A-140AA29793FA}"/>
              </a:ext>
            </a:extLst>
          </p:cNvPr>
          <p:cNvSpPr txBox="1"/>
          <p:nvPr/>
        </p:nvSpPr>
        <p:spPr>
          <a:xfrm>
            <a:off x="5780314" y="37407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Otherwise choose best known action (exploitation).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86923-5778-38ED-5887-CA8681C91222}"/>
              </a:ext>
            </a:extLst>
          </p:cNvPr>
          <p:cNvSpPr txBox="1"/>
          <p:nvPr/>
        </p:nvSpPr>
        <p:spPr>
          <a:xfrm>
            <a:off x="5682343" y="457137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Calculate reward for chosen action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C03EEE-55A3-AF27-CB52-7D92029FC011}"/>
              </a:ext>
            </a:extLst>
          </p:cNvPr>
          <p:cNvSpPr txBox="1"/>
          <p:nvPr/>
        </p:nvSpPr>
        <p:spPr>
          <a:xfrm>
            <a:off x="5682343" y="48445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Simulate new traffic situation.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4F7E61-8FA9-D938-587A-9859CB39C330}"/>
              </a:ext>
            </a:extLst>
          </p:cNvPr>
          <p:cNvSpPr txBox="1"/>
          <p:nvPr/>
        </p:nvSpPr>
        <p:spPr>
          <a:xfrm>
            <a:off x="6449786" y="54870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is the main learning step.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B503CD-393A-3DF9-D048-69903C3333D0}"/>
              </a:ext>
            </a:extLst>
          </p:cNvPr>
          <p:cNvSpPr txBox="1"/>
          <p:nvPr/>
        </p:nvSpPr>
        <p:spPr>
          <a:xfrm>
            <a:off x="6281058" y="5727358"/>
            <a:ext cx="64334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It updates the Q-value using:</a:t>
            </a:r>
          </a:p>
          <a:p>
            <a:pPr>
              <a:buNone/>
            </a:pPr>
            <a:r>
              <a:rPr lang="en-US" dirty="0"/>
              <a:t>New Q = Old Q + Learning Rate × (Reward + Future Reward − Old Q)</a:t>
            </a:r>
          </a:p>
          <a:p>
            <a:pPr>
              <a:buNone/>
            </a:pPr>
            <a:r>
              <a:rPr lang="en-US" dirty="0"/>
              <a:t>This helps the system learn better decisions over time.</a:t>
            </a:r>
          </a:p>
        </p:txBody>
      </p:sp>
    </p:spTree>
    <p:extLst>
      <p:ext uri="{BB962C8B-B14F-4D97-AF65-F5344CB8AC3E}">
        <p14:creationId xmlns:p14="http://schemas.microsoft.com/office/powerpoint/2010/main" val="1176148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C307C0-50B9-4B2C-124C-FDD81916E28A}"/>
              </a:ext>
            </a:extLst>
          </p:cNvPr>
          <p:cNvSpPr txBox="1"/>
          <p:nvPr/>
        </p:nvSpPr>
        <p:spPr>
          <a:xfrm>
            <a:off x="446314" y="462953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print("Trained Q-Table:")</a:t>
            </a:r>
            <a:br>
              <a:rPr lang="en-IN" dirty="0"/>
            </a:br>
            <a:r>
              <a:rPr lang="en-IN" dirty="0"/>
              <a:t>print(Q)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print("\</a:t>
            </a:r>
            <a:r>
              <a:rPr lang="en-IN" dirty="0" err="1"/>
              <a:t>nBest</a:t>
            </a:r>
            <a:r>
              <a:rPr lang="en-IN" dirty="0"/>
              <a:t> Traffic Decisions:")</a:t>
            </a:r>
            <a:br>
              <a:rPr lang="en-IN" dirty="0"/>
            </a:br>
            <a:r>
              <a:rPr lang="en-IN" dirty="0"/>
              <a:t>for state in range(4):</a:t>
            </a:r>
            <a:br>
              <a:rPr lang="en-IN" dirty="0"/>
            </a:br>
            <a:r>
              <a:rPr lang="en-IN" dirty="0"/>
              <a:t>action = </a:t>
            </a:r>
            <a:r>
              <a:rPr lang="en-IN" dirty="0" err="1"/>
              <a:t>np.argmax</a:t>
            </a:r>
            <a:r>
              <a:rPr lang="en-IN" dirty="0"/>
              <a:t>(Q[state])</a:t>
            </a:r>
            <a:br>
              <a:rPr lang="en-IN" dirty="0"/>
            </a:br>
            <a:r>
              <a:rPr lang="en-IN" dirty="0"/>
              <a:t>if action == 0:</a:t>
            </a:r>
            <a:br>
              <a:rPr lang="en-IN" dirty="0"/>
            </a:br>
            <a:r>
              <a:rPr lang="en-IN" dirty="0"/>
              <a:t>print(</a:t>
            </a:r>
            <a:r>
              <a:rPr lang="en-IN" dirty="0" err="1"/>
              <a:t>f"State</a:t>
            </a:r>
            <a:r>
              <a:rPr lang="en-IN" dirty="0"/>
              <a:t> {state} → Green: North-South")</a:t>
            </a:r>
            <a:br>
              <a:rPr lang="en-IN" dirty="0"/>
            </a:br>
            <a:r>
              <a:rPr lang="en-IN" dirty="0"/>
              <a:t>else:</a:t>
            </a:r>
            <a:br>
              <a:rPr lang="en-IN" dirty="0"/>
            </a:br>
            <a:r>
              <a:rPr lang="en-IN" dirty="0"/>
              <a:t>print(</a:t>
            </a:r>
            <a:r>
              <a:rPr lang="en-IN" dirty="0" err="1"/>
              <a:t>f"State</a:t>
            </a:r>
            <a:r>
              <a:rPr lang="en-IN" dirty="0"/>
              <a:t> {state} → Green: East-West")</a:t>
            </a:r>
          </a:p>
        </p:txBody>
      </p:sp>
    </p:spTree>
    <p:extLst>
      <p:ext uri="{BB962C8B-B14F-4D97-AF65-F5344CB8AC3E}">
        <p14:creationId xmlns:p14="http://schemas.microsoft.com/office/powerpoint/2010/main" val="1957213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DCC4C6-1F01-C73E-BE3A-96DBA4765986}"/>
              </a:ext>
            </a:extLst>
          </p:cNvPr>
          <p:cNvSpPr txBox="1"/>
          <p:nvPr/>
        </p:nvSpPr>
        <p:spPr>
          <a:xfrm>
            <a:off x="446315" y="483552"/>
            <a:ext cx="1092925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Is the Problem?</a:t>
            </a:r>
          </a:p>
          <a:p>
            <a:pPr>
              <a:buNone/>
            </a:pPr>
            <a:r>
              <a:rPr lang="en-US" dirty="0"/>
              <a:t>We want to make a </a:t>
            </a:r>
            <a:r>
              <a:rPr lang="en-US" b="1" dirty="0"/>
              <a:t>smart traffic light</a:t>
            </a:r>
            <a:r>
              <a:rPr lang="en-US" dirty="0"/>
              <a:t> that learns automatically.</a:t>
            </a:r>
          </a:p>
          <a:p>
            <a:pPr>
              <a:buNone/>
            </a:pPr>
            <a:r>
              <a:rPr lang="en-US" dirty="0"/>
              <a:t>Instead of using fixed time signals, the system should: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Look at traffic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Decide which side should get green light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Learn from experience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B1800-0F64-323C-C6DA-94BFE6634053}"/>
              </a:ext>
            </a:extLst>
          </p:cNvPr>
          <p:cNvSpPr txBox="1"/>
          <p:nvPr/>
        </p:nvSpPr>
        <p:spPr>
          <a:xfrm>
            <a:off x="446315" y="236560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1: Define States (Traffic Condition)</a:t>
            </a:r>
          </a:p>
          <a:p>
            <a:pPr>
              <a:buNone/>
            </a:pPr>
            <a:r>
              <a:rPr lang="en-US" dirty="0"/>
              <a:t>There are 4 situations: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35907AF-B78A-307E-3538-2BF40644172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4590924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3458865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Traffic Condition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66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NS, Low 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44425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NS, Low 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557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 NS, High 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042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 NS, High 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655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937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876AD5-1934-27BD-47EA-41385E6B9982}"/>
              </a:ext>
            </a:extLst>
          </p:cNvPr>
          <p:cNvSpPr txBox="1"/>
          <p:nvPr/>
        </p:nvSpPr>
        <p:spPr>
          <a:xfrm>
            <a:off x="163285" y="118293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2: Define Actions</a:t>
            </a:r>
          </a:p>
          <a:p>
            <a:pPr>
              <a:buNone/>
            </a:pPr>
            <a:r>
              <a:rPr lang="en-US" dirty="0"/>
              <a:t>The traffic light has 2 actions: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Action 0 → Green for North–South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Action 1 → Green for East–West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A3C1B9-392D-9F49-4663-5134B353AFFA}"/>
              </a:ext>
            </a:extLst>
          </p:cNvPr>
          <p:cNvSpPr txBox="1"/>
          <p:nvPr/>
        </p:nvSpPr>
        <p:spPr>
          <a:xfrm>
            <a:off x="87085" y="1318622"/>
            <a:ext cx="1075508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Step 3: Define Reward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green is given to the side with high traffic → </a:t>
            </a:r>
            <a:r>
              <a:rPr lang="en-US" b="1" dirty="0"/>
              <a:t>+10 reward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wrong side gets green → </a:t>
            </a:r>
            <a:r>
              <a:rPr lang="en-US" b="1" dirty="0"/>
              <a:t>-5 penalty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both sides high → small positive reward</a:t>
            </a:r>
          </a:p>
          <a:p>
            <a:pPr>
              <a:buNone/>
            </a:pPr>
            <a:r>
              <a:rPr lang="en-US" dirty="0"/>
              <a:t>The goal is to </a:t>
            </a:r>
            <a:r>
              <a:rPr lang="en-US" b="1" dirty="0"/>
              <a:t>maximize total reward</a:t>
            </a:r>
            <a:r>
              <a:rPr lang="en-US" dirty="0"/>
              <a:t>.</a:t>
            </a:r>
          </a:p>
          <a:p>
            <a:pPr>
              <a:buNone/>
            </a:pPr>
            <a:br>
              <a:rPr lang="en-US" dirty="0"/>
            </a:br>
            <a:r>
              <a:rPr lang="en-US" b="1" dirty="0"/>
              <a:t>Step 4: Learning Process</a:t>
            </a:r>
          </a:p>
          <a:p>
            <a:pPr>
              <a:buNone/>
            </a:pPr>
            <a:r>
              <a:rPr lang="en-US" dirty="0"/>
              <a:t>The system:</a:t>
            </a:r>
          </a:p>
          <a:p>
            <a:pPr>
              <a:buFont typeface="+mj-lt"/>
              <a:buAutoNum type="arabicPeriod"/>
            </a:pPr>
            <a:r>
              <a:rPr lang="en-US" dirty="0"/>
              <a:t>Observes traffic</a:t>
            </a:r>
          </a:p>
          <a:p>
            <a:pPr>
              <a:buFont typeface="+mj-lt"/>
              <a:buAutoNum type="arabicPeriod"/>
            </a:pPr>
            <a:r>
              <a:rPr lang="en-US" dirty="0"/>
              <a:t>Chooses action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Gets reward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Updates Q-table</a:t>
            </a:r>
          </a:p>
          <a:p>
            <a:pPr>
              <a:buFont typeface="+mj-lt"/>
              <a:buAutoNum type="arabicPeriod"/>
            </a:pPr>
            <a:r>
              <a:rPr lang="en-US" dirty="0"/>
              <a:t>Repeats many times</a:t>
            </a:r>
          </a:p>
          <a:p>
            <a:pPr>
              <a:buNone/>
            </a:pPr>
            <a:r>
              <a:rPr lang="en-US" dirty="0"/>
              <a:t>After many episodes, it learns the best decision for each traffic condition.</a:t>
            </a:r>
          </a:p>
          <a:p>
            <a:pPr>
              <a:buNone/>
            </a:pPr>
            <a:r>
              <a:rPr lang="en-US" b="1" dirty="0"/>
              <a:t>Final Goal</a:t>
            </a:r>
          </a:p>
          <a:p>
            <a:pPr>
              <a:buNone/>
            </a:pPr>
            <a:r>
              <a:rPr lang="en-US" dirty="0"/>
              <a:t>The traffic light becomes smart and: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waiting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traffic jam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adapts to traffic</a:t>
            </a:r>
          </a:p>
        </p:txBody>
      </p:sp>
    </p:spTree>
    <p:extLst>
      <p:ext uri="{BB962C8B-B14F-4D97-AF65-F5344CB8AC3E}">
        <p14:creationId xmlns:p14="http://schemas.microsoft.com/office/powerpoint/2010/main" val="1411445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B8F45D-B2E9-5309-F790-54B0C3416A2B}"/>
              </a:ext>
            </a:extLst>
          </p:cNvPr>
          <p:cNvSpPr txBox="1"/>
          <p:nvPr/>
        </p:nvSpPr>
        <p:spPr>
          <a:xfrm>
            <a:off x="1534887" y="1997839"/>
            <a:ext cx="91766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🚗🚗🚗</a:t>
            </a:r>
          </a:p>
          <a:p>
            <a:r>
              <a:rPr lang="en-IN" dirty="0"/>
              <a:t>             North (N)</a:t>
            </a:r>
          </a:p>
          <a:p>
            <a:r>
              <a:rPr lang="en-IN" dirty="0"/>
              <a:t>                 ↑</a:t>
            </a:r>
          </a:p>
          <a:p>
            <a:r>
              <a:rPr lang="en-IN" dirty="0"/>
              <a:t>                 |</a:t>
            </a:r>
          </a:p>
          <a:p>
            <a:r>
              <a:rPr lang="en-IN" dirty="0"/>
              <a:t>     🚗🚗  ←  [ TRAFFIC LIGHT ]  →  🚗</a:t>
            </a:r>
          </a:p>
          <a:p>
            <a:r>
              <a:rPr lang="en-IN" dirty="0"/>
              <a:t> West (W)        🚦               East (E)</a:t>
            </a:r>
          </a:p>
          <a:p>
            <a:r>
              <a:rPr lang="en-IN" dirty="0"/>
              <a:t>                 |</a:t>
            </a:r>
          </a:p>
          <a:p>
            <a:r>
              <a:rPr lang="en-IN" dirty="0"/>
              <a:t>                 ↓</a:t>
            </a:r>
          </a:p>
          <a:p>
            <a:r>
              <a:rPr lang="en-IN" dirty="0"/>
              <a:t>             South (S)</a:t>
            </a:r>
          </a:p>
          <a:p>
            <a:r>
              <a:rPr lang="en-IN" dirty="0"/>
              <a:t>               🚗🚗🚗🚗</a:t>
            </a:r>
          </a:p>
        </p:txBody>
      </p:sp>
    </p:spTree>
    <p:extLst>
      <p:ext uri="{BB962C8B-B14F-4D97-AF65-F5344CB8AC3E}">
        <p14:creationId xmlns:p14="http://schemas.microsoft.com/office/powerpoint/2010/main" val="2764811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954</Words>
  <Application>Microsoft Office PowerPoint</Application>
  <PresentationFormat>Widescreen</PresentationFormat>
  <Paragraphs>145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Write a program to implement Smart Traffic Light Controller using Reinforcement Learning.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Sonali Goyal</dc:creator>
  <cp:lastModifiedBy>Sonali Goyal</cp:lastModifiedBy>
  <cp:revision>1</cp:revision>
  <dcterms:created xsi:type="dcterms:W3CDTF">2026-02-22T05:58:04Z</dcterms:created>
  <dcterms:modified xsi:type="dcterms:W3CDTF">2026-02-22T06:59:16Z</dcterms:modified>
</cp:coreProperties>
</file>