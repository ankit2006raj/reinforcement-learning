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59" r:id="rId6"/>
    <p:sldId id="260" r:id="rId7"/>
    <p:sldId id="261" r:id="rId8"/>
    <p:sldId id="263" r:id="rId9"/>
    <p:sldId id="267" r:id="rId10"/>
    <p:sldId id="268"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0D3FE-89C1-1187-5040-0F371D2C2E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704693-5FBF-F1ED-B96B-FE3A649819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DFCC86-7D94-3084-9FA9-4DF3E6F0AB9E}"/>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5" name="Footer Placeholder 4">
            <a:extLst>
              <a:ext uri="{FF2B5EF4-FFF2-40B4-BE49-F238E27FC236}">
                <a16:creationId xmlns:a16="http://schemas.microsoft.com/office/drawing/2014/main" id="{4129BC1B-7DD6-0CEF-DB95-B4EAC33DA2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DA013-F758-D2D7-6D9D-9D6843B04307}"/>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2404807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9AD41-AF9F-BEE0-2ADE-03FC49868E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641633-433E-3DAD-B335-7BE1BE9C30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478489-1155-29A8-CC9B-6D706BD29218}"/>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5" name="Footer Placeholder 4">
            <a:extLst>
              <a:ext uri="{FF2B5EF4-FFF2-40B4-BE49-F238E27FC236}">
                <a16:creationId xmlns:a16="http://schemas.microsoft.com/office/drawing/2014/main" id="{A1398551-7D4A-B68F-D8FE-FBBF3893D6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643FDF-BCC1-3CD9-0103-1158E097B6A9}"/>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1543605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F510B-85C4-3F50-F149-6196959F8B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984541-1EBB-4B29-8822-6C2EFE8AB3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B68514-68F7-D56E-E40E-89A957951FD8}"/>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5" name="Footer Placeholder 4">
            <a:extLst>
              <a:ext uri="{FF2B5EF4-FFF2-40B4-BE49-F238E27FC236}">
                <a16:creationId xmlns:a16="http://schemas.microsoft.com/office/drawing/2014/main" id="{C00DDE72-645E-1A12-37B8-461722ED37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874263-1731-F78F-E56E-467D44B4C911}"/>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2541766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3CE4D-E61B-0563-5601-3136AD7B18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52E90-8C59-1C29-409D-75A8420110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E2AAC2-DCB5-4587-80B9-B5A4D391C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A6667D-8BB0-59CC-F23F-CDFE7EDBC505}"/>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6" name="Footer Placeholder 5">
            <a:extLst>
              <a:ext uri="{FF2B5EF4-FFF2-40B4-BE49-F238E27FC236}">
                <a16:creationId xmlns:a16="http://schemas.microsoft.com/office/drawing/2014/main" id="{97231340-6A24-1F8C-9AF6-0A1DEA07C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9973CE-DC4D-540E-3616-25003688C50F}"/>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862174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7D60-6651-C3A2-F66B-DCD9A165CF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EA0A62-7339-05E3-0CF5-179E623EC2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80A6D-A5B2-D186-0C95-CAA2728BD6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5BF11B-7792-1529-099F-2A407A6361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2AEB56-E6C8-AA5D-40AD-1F81D50F14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5C988DB-B2BB-678E-0A97-0DBC1E1802CC}"/>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8" name="Footer Placeholder 7">
            <a:extLst>
              <a:ext uri="{FF2B5EF4-FFF2-40B4-BE49-F238E27FC236}">
                <a16:creationId xmlns:a16="http://schemas.microsoft.com/office/drawing/2014/main" id="{AD4B5CC3-5FD6-DA92-6BFE-54BF6F1B63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F20FDA-5004-D22E-F2F3-52C3B32B5F31}"/>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2501383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BAC02-BCF5-0746-569C-43086E1CD8F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E63F7A-AACD-9001-91AD-6A82E048C6A0}"/>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4" name="Footer Placeholder 3">
            <a:extLst>
              <a:ext uri="{FF2B5EF4-FFF2-40B4-BE49-F238E27FC236}">
                <a16:creationId xmlns:a16="http://schemas.microsoft.com/office/drawing/2014/main" id="{6B5F42BA-1857-830E-E8CE-5FB3933151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B5DAA6-1668-5A96-E5CC-1AD96E5D5A04}"/>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96353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C5345C-0FB3-D437-CE8D-A5C0BC438971}"/>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3" name="Footer Placeholder 2">
            <a:extLst>
              <a:ext uri="{FF2B5EF4-FFF2-40B4-BE49-F238E27FC236}">
                <a16:creationId xmlns:a16="http://schemas.microsoft.com/office/drawing/2014/main" id="{F96BF32F-908E-77F0-A29A-19D5DA92DB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E9823F-6564-C272-EF5F-B23329A24C8F}"/>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4046704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F3C4D-927B-A626-AF66-F553DEE880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58CA1B-4E16-84BC-E5F2-64A953664A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F25D91-BC79-6859-CF78-27634059C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0BD0D9-87F7-0AC6-3770-E1484F393BA8}"/>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6" name="Footer Placeholder 5">
            <a:extLst>
              <a:ext uri="{FF2B5EF4-FFF2-40B4-BE49-F238E27FC236}">
                <a16:creationId xmlns:a16="http://schemas.microsoft.com/office/drawing/2014/main" id="{63E34C64-C024-5CE6-0D35-D8FBC3EC1C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03D6AA-C3DD-E37A-A4D2-7AD20C44C4B2}"/>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277746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DC33-FB69-385D-0032-D35297768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DA1065-9F45-E40C-2DC4-AE0BF412AD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F2BEBD-56A4-773C-9803-E1CAF2DCD6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054EC-5A45-B27A-BD63-70640EA2CC92}"/>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6" name="Footer Placeholder 5">
            <a:extLst>
              <a:ext uri="{FF2B5EF4-FFF2-40B4-BE49-F238E27FC236}">
                <a16:creationId xmlns:a16="http://schemas.microsoft.com/office/drawing/2014/main" id="{30E0AB72-6055-2109-60AC-597EF64A2A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2EC8C8-3267-48D9-2227-1C55E8E36B14}"/>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2022268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5C846-518F-DA33-8C2E-2900AC823B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979FDF-507C-DA2B-0576-95D2E34D76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F654D6-F202-D959-FCE4-0F83DCEA2C74}"/>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5" name="Footer Placeholder 4">
            <a:extLst>
              <a:ext uri="{FF2B5EF4-FFF2-40B4-BE49-F238E27FC236}">
                <a16:creationId xmlns:a16="http://schemas.microsoft.com/office/drawing/2014/main" id="{373C4C2C-04C9-C154-196E-0F2654D6CA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6C5731-A0A8-B600-8888-A75193AAFB6F}"/>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680262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F05710-E555-411B-1E3B-F9725D2653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5B62AE-4506-911E-B7A9-392D759F66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2726C9-7343-AAE2-1F84-E4C880FF5959}"/>
              </a:ext>
            </a:extLst>
          </p:cNvPr>
          <p:cNvSpPr>
            <a:spLocks noGrp="1"/>
          </p:cNvSpPr>
          <p:nvPr>
            <p:ph type="dt" sz="half" idx="10"/>
          </p:nvPr>
        </p:nvSpPr>
        <p:spPr/>
        <p:txBody>
          <a:bodyPr/>
          <a:lstStyle/>
          <a:p>
            <a:fld id="{02B52F08-FC6E-45D0-9832-8B2EAAAE253F}" type="datetimeFigureOut">
              <a:rPr lang="en-IN" smtClean="0"/>
              <a:t>05-03-2026</a:t>
            </a:fld>
            <a:endParaRPr lang="en-IN"/>
          </a:p>
        </p:txBody>
      </p:sp>
      <p:sp>
        <p:nvSpPr>
          <p:cNvPr id="5" name="Footer Placeholder 4">
            <a:extLst>
              <a:ext uri="{FF2B5EF4-FFF2-40B4-BE49-F238E27FC236}">
                <a16:creationId xmlns:a16="http://schemas.microsoft.com/office/drawing/2014/main" id="{9CB3B770-7C0F-56E2-E605-936597CA9D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44F6E7-9D4D-C572-FEBB-D07F46703041}"/>
              </a:ext>
            </a:extLst>
          </p:cNvPr>
          <p:cNvSpPr>
            <a:spLocks noGrp="1"/>
          </p:cNvSpPr>
          <p:nvPr>
            <p:ph type="sldNum" sz="quarter" idx="12"/>
          </p:nvPr>
        </p:nvSpPr>
        <p:spPr/>
        <p:txBody>
          <a:bodyPr/>
          <a:lstStyle/>
          <a:p>
            <a:fld id="{0894FE29-E074-42BA-82D1-ADC815CFE829}" type="slidenum">
              <a:rPr lang="en-IN" smtClean="0"/>
              <a:t>‹#›</a:t>
            </a:fld>
            <a:endParaRPr lang="en-IN"/>
          </a:p>
        </p:txBody>
      </p:sp>
    </p:spTree>
    <p:extLst>
      <p:ext uri="{BB962C8B-B14F-4D97-AF65-F5344CB8AC3E}">
        <p14:creationId xmlns:p14="http://schemas.microsoft.com/office/powerpoint/2010/main" val="415843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EBC1F6-8EAB-FAAD-4787-583CA46CFA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D8AD0C-D88C-CB58-FB13-43C3FFCF91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7176AB-B771-D430-0081-74A9BD582E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B52F08-FC6E-45D0-9832-8B2EAAAE253F}" type="datetimeFigureOut">
              <a:rPr lang="en-IN" smtClean="0"/>
              <a:t>05-03-2026</a:t>
            </a:fld>
            <a:endParaRPr lang="en-IN"/>
          </a:p>
        </p:txBody>
      </p:sp>
      <p:sp>
        <p:nvSpPr>
          <p:cNvPr id="5" name="Footer Placeholder 4">
            <a:extLst>
              <a:ext uri="{FF2B5EF4-FFF2-40B4-BE49-F238E27FC236}">
                <a16:creationId xmlns:a16="http://schemas.microsoft.com/office/drawing/2014/main" id="{4BCCB885-2B78-539C-F3BB-CB3A9273A5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1D8768-F023-726E-4125-ADC9FCE3A9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94FE29-E074-42BA-82D1-ADC815CFE829}" type="slidenum">
              <a:rPr lang="en-IN" smtClean="0"/>
              <a:t>‹#›</a:t>
            </a:fld>
            <a:endParaRPr lang="en-IN"/>
          </a:p>
        </p:txBody>
      </p:sp>
    </p:spTree>
    <p:extLst>
      <p:ext uri="{BB962C8B-B14F-4D97-AF65-F5344CB8AC3E}">
        <p14:creationId xmlns:p14="http://schemas.microsoft.com/office/powerpoint/2010/main" val="168353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4FAE7-E746-0A27-A44E-A829F1303DFF}"/>
              </a:ext>
            </a:extLst>
          </p:cNvPr>
          <p:cNvSpPr>
            <a:spLocks noGrp="1"/>
          </p:cNvSpPr>
          <p:nvPr>
            <p:ph type="ctrTitle"/>
          </p:nvPr>
        </p:nvSpPr>
        <p:spPr/>
        <p:txBody>
          <a:bodyPr>
            <a:normAutofit fontScale="90000"/>
          </a:bodyPr>
          <a:lstStyle/>
          <a:p>
            <a:r>
              <a:rPr lang="en-IN" dirty="0"/>
              <a:t>Temporal Difference Learning</a:t>
            </a:r>
            <a:br>
              <a:rPr lang="en-IN" dirty="0"/>
            </a:br>
            <a:endParaRPr lang="en-IN" dirty="0"/>
          </a:p>
        </p:txBody>
      </p:sp>
      <p:sp>
        <p:nvSpPr>
          <p:cNvPr id="3" name="Subtitle 2">
            <a:extLst>
              <a:ext uri="{FF2B5EF4-FFF2-40B4-BE49-F238E27FC236}">
                <a16:creationId xmlns:a16="http://schemas.microsoft.com/office/drawing/2014/main" id="{7D974AF4-82F8-61BF-5BB0-A47FA70F645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0717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F44D18D-F308-33DA-2A5F-DA2B29EC0AC9}"/>
                  </a:ext>
                </a:extLst>
              </p:cNvPr>
              <p:cNvSpPr txBox="1"/>
              <p:nvPr/>
            </p:nvSpPr>
            <p:spPr>
              <a:xfrm>
                <a:off x="-1" y="893017"/>
                <a:ext cx="11680371" cy="5632311"/>
              </a:xfrm>
              <a:prstGeom prst="rect">
                <a:avLst/>
              </a:prstGeom>
              <a:noFill/>
            </p:spPr>
            <p:txBody>
              <a:bodyPr wrap="square">
                <a:spAutoFit/>
              </a:bodyPr>
              <a:lstStyle/>
              <a:p>
                <a:pPr>
                  <a:buNone/>
                </a:pPr>
                <a:r>
                  <a:rPr lang="en-IN" b="1" dirty="0"/>
                  <a:t>Temporal Difference Learning (TD Learning)</a:t>
                </a:r>
                <a:r>
                  <a:rPr lang="en-IN" dirty="0"/>
                  <a:t> is a method in </a:t>
                </a:r>
                <a:r>
                  <a:rPr lang="en-IN" b="1" dirty="0"/>
                  <a:t>reinforcement learning</a:t>
                </a:r>
                <a:r>
                  <a:rPr lang="en-IN" dirty="0"/>
                  <a:t> where an agent learns by </a:t>
                </a:r>
                <a:r>
                  <a:rPr lang="en-IN" b="1" dirty="0"/>
                  <a:t>updating its predictions based on the difference between expected and actual outcomes over time</a:t>
                </a:r>
                <a:r>
                  <a:rPr lang="en-IN" dirty="0"/>
                  <a:t>.</a:t>
                </a:r>
              </a:p>
              <a:p>
                <a:pPr>
                  <a:buNone/>
                </a:pPr>
                <a:br>
                  <a:rPr lang="en-IN" dirty="0"/>
                </a:br>
                <a:r>
                  <a:rPr lang="en-IN" dirty="0"/>
                  <a:t>It learns </a:t>
                </a:r>
                <a:r>
                  <a:rPr lang="en-IN" b="1" dirty="0"/>
                  <a:t>step-by-step from experience</a:t>
                </a:r>
                <a:r>
                  <a:rPr lang="en-IN" dirty="0"/>
                  <a:t>, without waiting for the final result.</a:t>
                </a:r>
              </a:p>
              <a:p>
                <a:pPr>
                  <a:buNone/>
                </a:pPr>
                <a:endParaRPr lang="en-IN" b="1" dirty="0"/>
              </a:p>
              <a:p>
                <a:pPr>
                  <a:buNone/>
                </a:pPr>
                <a:r>
                  <a:rPr lang="en-IN" b="1" dirty="0"/>
                  <a:t>Simple Idea</a:t>
                </a:r>
              </a:p>
              <a:p>
                <a:pPr>
                  <a:buNone/>
                </a:pPr>
                <a:r>
                  <a:rPr lang="en-IN" dirty="0"/>
                  <a:t>TD Learning updates its knowledge using:</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𝑁𝑒𝑤</m:t>
                      </m:r>
                      <m:r>
                        <m:rPr>
                          <m:nor/>
                        </m:rPr>
                        <a:rPr lang="en-IN" b="0" i="1">
                          <a:latin typeface="Cambria Math" panose="02040503050406030204" pitchFamily="18" charset="0"/>
                        </a:rPr>
                        <m:t> </m:t>
                      </m:r>
                      <m:r>
                        <a:rPr lang="en-IN" b="0" i="1">
                          <a:latin typeface="Cambria Math" panose="02040503050406030204" pitchFamily="18" charset="0"/>
                        </a:rPr>
                        <m:t>𝑉𝑎𝑙𝑢𝑒</m:t>
                      </m:r>
                      <m:r>
                        <a:rPr lang="en-IN" b="0" i="0">
                          <a:latin typeface="Cambria Math" panose="02040503050406030204" pitchFamily="18" charset="0"/>
                        </a:rPr>
                        <m:t>=</m:t>
                      </m:r>
                      <m:r>
                        <a:rPr lang="en-IN" b="0" i="1">
                          <a:latin typeface="Cambria Math" panose="02040503050406030204" pitchFamily="18" charset="0"/>
                        </a:rPr>
                        <m:t>𝑂𝑙𝑑</m:t>
                      </m:r>
                      <m:r>
                        <m:rPr>
                          <m:nor/>
                        </m:rPr>
                        <a:rPr lang="en-IN" b="0" i="1">
                          <a:latin typeface="Cambria Math" panose="02040503050406030204" pitchFamily="18" charset="0"/>
                        </a:rPr>
                        <m:t> </m:t>
                      </m:r>
                      <m:r>
                        <a:rPr lang="en-IN" b="0" i="1">
                          <a:latin typeface="Cambria Math" panose="02040503050406030204" pitchFamily="18" charset="0"/>
                        </a:rPr>
                        <m:t>𝑉𝑎𝑙𝑢𝑒</m:t>
                      </m:r>
                      <m:r>
                        <a:rPr lang="en-IN" b="0" i="0">
                          <a:latin typeface="Cambria Math" panose="02040503050406030204" pitchFamily="18" charset="0"/>
                        </a:rPr>
                        <m:t>+</m:t>
                      </m:r>
                      <m:r>
                        <a:rPr lang="en-IN" b="0" i="1">
                          <a:latin typeface="Cambria Math" panose="02040503050406030204" pitchFamily="18" charset="0"/>
                        </a:rPr>
                        <m:t>𝛼</m:t>
                      </m:r>
                      <m:d>
                        <m:dPr>
                          <m:ctrlPr>
                            <a:rPr lang="ar-AE" b="0" i="1">
                              <a:latin typeface="Cambria Math" panose="02040503050406030204" pitchFamily="18" charset="0"/>
                            </a:rPr>
                          </m:ctrlPr>
                        </m:dPr>
                        <m:e>
                          <m:r>
                            <a:rPr lang="ar-AE" b="0" i="1">
                              <a:latin typeface="Cambria Math" panose="02040503050406030204" pitchFamily="18" charset="0"/>
                            </a:rPr>
                            <m:t>𝑅𝑒𝑤𝑎𝑟𝑑</m:t>
                          </m:r>
                          <m:r>
                            <a:rPr lang="ar-AE" b="0" i="0">
                              <a:latin typeface="Cambria Math" panose="02040503050406030204" pitchFamily="18" charset="0"/>
                            </a:rPr>
                            <m:t>+</m:t>
                          </m:r>
                          <m:r>
                            <a:rPr lang="ar-AE" b="0" i="1">
                              <a:latin typeface="Cambria Math" panose="02040503050406030204" pitchFamily="18" charset="0"/>
                            </a:rPr>
                            <m:t>𝛾</m:t>
                          </m:r>
                          <m:r>
                            <a:rPr lang="ar-AE" b="0" i="0">
                              <a:latin typeface="Cambria Math" panose="02040503050406030204" pitchFamily="18" charset="0"/>
                            </a:rPr>
                            <m:t>×</m:t>
                          </m:r>
                          <m:r>
                            <a:rPr lang="ar-AE" b="0" i="1">
                              <a:latin typeface="Cambria Math" panose="02040503050406030204" pitchFamily="18" charset="0"/>
                            </a:rPr>
                            <m:t>𝑁𝑒𝑥𝑡</m:t>
                          </m:r>
                          <m:r>
                            <m:rPr>
                              <m:nor/>
                            </m:rPr>
                            <a:rPr lang="ar-AE" b="0" i="1">
                              <a:latin typeface="Cambria Math" panose="02040503050406030204" pitchFamily="18" charset="0"/>
                            </a:rPr>
                            <m:t> </m:t>
                          </m:r>
                          <m:r>
                            <a:rPr lang="ar-AE" b="0" i="1">
                              <a:latin typeface="Cambria Math" panose="02040503050406030204" pitchFamily="18" charset="0"/>
                            </a:rPr>
                            <m:t>𝑉𝑎𝑙𝑢𝑒</m:t>
                          </m:r>
                          <m:r>
                            <a:rPr lang="ar-AE" b="0" i="0">
                              <a:latin typeface="Cambria Math" panose="02040503050406030204" pitchFamily="18" charset="0"/>
                            </a:rPr>
                            <m:t>−</m:t>
                          </m:r>
                          <m:r>
                            <a:rPr lang="ar-AE" b="0" i="1">
                              <a:latin typeface="Cambria Math" panose="02040503050406030204" pitchFamily="18" charset="0"/>
                            </a:rPr>
                            <m:t>𝑂𝑙𝑑</m:t>
                          </m:r>
                          <m:r>
                            <m:rPr>
                              <m:nor/>
                            </m:rPr>
                            <a:rPr lang="ar-AE" b="0" i="1">
                              <a:latin typeface="Cambria Math" panose="02040503050406030204" pitchFamily="18" charset="0"/>
                            </a:rPr>
                            <m:t> </m:t>
                          </m:r>
                          <m:r>
                            <a:rPr lang="ar-AE" b="0" i="1">
                              <a:latin typeface="Cambria Math" panose="02040503050406030204" pitchFamily="18" charset="0"/>
                            </a:rPr>
                            <m:t>𝑉𝑎𝑙𝑢𝑒</m:t>
                          </m:r>
                        </m:e>
                      </m:d>
                    </m:oMath>
                  </m:oMathPara>
                </a14:m>
                <a:endParaRPr lang="ar-AE" b="0" dirty="0"/>
              </a:p>
              <a:p>
                <a:pPr>
                  <a:buNone/>
                </a:pPr>
                <a:endParaRPr lang="en-IN" dirty="0"/>
              </a:p>
              <a:p>
                <a:pPr>
                  <a:buNone/>
                </a:pPr>
                <a:endParaRPr lang="en-IN" dirty="0"/>
              </a:p>
              <a:p>
                <a:pPr>
                  <a:buNone/>
                </a:pPr>
                <a:r>
                  <a:rPr lang="en-IN" dirty="0"/>
                  <a:t>Where:</a:t>
                </a:r>
              </a:p>
              <a:p>
                <a:pPr>
                  <a:buFont typeface="Arial" panose="020B0604020202020204" pitchFamily="34" charset="0"/>
                  <a:buChar char="•"/>
                </a:pPr>
                <a:r>
                  <a:rPr lang="el-GR" b="1" dirty="0"/>
                  <a:t>α (</a:t>
                </a:r>
                <a:r>
                  <a:rPr lang="en-IN" b="1" dirty="0"/>
                  <a:t>alpha)</a:t>
                </a:r>
                <a:r>
                  <a:rPr lang="en-IN" dirty="0"/>
                  <a:t> = learning rate</a:t>
                </a:r>
              </a:p>
              <a:p>
                <a:pPr>
                  <a:buFont typeface="Arial" panose="020B0604020202020204" pitchFamily="34" charset="0"/>
                  <a:buChar char="•"/>
                </a:pPr>
                <a:r>
                  <a:rPr lang="el-GR" b="1" dirty="0"/>
                  <a:t>γ (</a:t>
                </a:r>
                <a:r>
                  <a:rPr lang="en-IN" b="1" dirty="0"/>
                  <a:t>gamma)</a:t>
                </a:r>
                <a:r>
                  <a:rPr lang="en-IN" dirty="0"/>
                  <a:t> = discount factor (importance of future reward)</a:t>
                </a:r>
              </a:p>
              <a:p>
                <a:pPr>
                  <a:buFont typeface="Arial" panose="020B0604020202020204" pitchFamily="34" charset="0"/>
                  <a:buChar char="•"/>
                </a:pPr>
                <a:r>
                  <a:rPr lang="en-IN" b="1" dirty="0"/>
                  <a:t>Reward</a:t>
                </a:r>
                <a:r>
                  <a:rPr lang="en-IN" dirty="0"/>
                  <a:t> = immediate feedback</a:t>
                </a:r>
              </a:p>
              <a:p>
                <a:pPr>
                  <a:buFont typeface="Arial" panose="020B0604020202020204" pitchFamily="34" charset="0"/>
                  <a:buChar char="•"/>
                </a:pPr>
                <a:r>
                  <a:rPr lang="en-IN" b="1" dirty="0"/>
                  <a:t>Next Value</a:t>
                </a:r>
                <a:r>
                  <a:rPr lang="en-IN" dirty="0"/>
                  <a:t> = estimated value of next state</a:t>
                </a:r>
              </a:p>
              <a:p>
                <a:pPr>
                  <a:buNone/>
                </a:pPr>
                <a:r>
                  <a:rPr lang="en-IN" dirty="0"/>
                  <a:t>The key part is the </a:t>
                </a:r>
                <a:r>
                  <a:rPr lang="en-IN" b="1" dirty="0"/>
                  <a:t>Temporal Difference (TD Error):</a:t>
                </a:r>
                <a:endParaRPr lang="en-IN" dirty="0"/>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𝑇𝐷</m:t>
                      </m:r>
                      <m:r>
                        <m:rPr>
                          <m:nor/>
                        </m:rPr>
                        <a:rPr lang="en-IN" b="0" i="1">
                          <a:latin typeface="Cambria Math" panose="02040503050406030204" pitchFamily="18" charset="0"/>
                        </a:rPr>
                        <m:t> </m:t>
                      </m:r>
                      <m:r>
                        <a:rPr lang="en-IN" b="0" i="1">
                          <a:latin typeface="Cambria Math" panose="02040503050406030204" pitchFamily="18" charset="0"/>
                        </a:rPr>
                        <m:t>𝐸𝑟𝑟𝑜𝑟</m:t>
                      </m:r>
                      <m:r>
                        <a:rPr lang="en-IN" b="0" i="0">
                          <a:latin typeface="Cambria Math" panose="02040503050406030204" pitchFamily="18" charset="0"/>
                        </a:rPr>
                        <m:t>=</m:t>
                      </m:r>
                      <m:r>
                        <a:rPr lang="en-IN" b="0" i="1">
                          <a:latin typeface="Cambria Math" panose="02040503050406030204" pitchFamily="18" charset="0"/>
                        </a:rPr>
                        <m:t>𝑅𝑒𝑤𝑎𝑟𝑑</m:t>
                      </m:r>
                      <m:r>
                        <a:rPr lang="en-IN" b="0" i="0">
                          <a:latin typeface="Cambria Math" panose="02040503050406030204" pitchFamily="18" charset="0"/>
                        </a:rPr>
                        <m:t>+</m:t>
                      </m:r>
                      <m:r>
                        <a:rPr lang="en-IN" b="0" i="1">
                          <a:latin typeface="Cambria Math" panose="02040503050406030204" pitchFamily="18" charset="0"/>
                        </a:rPr>
                        <m:t>𝛾</m:t>
                      </m:r>
                      <m:r>
                        <a:rPr lang="en-IN" b="0" i="0">
                          <a:latin typeface="Cambria Math" panose="02040503050406030204" pitchFamily="18" charset="0"/>
                        </a:rPr>
                        <m:t>×</m:t>
                      </m:r>
                      <m:r>
                        <a:rPr lang="en-IN" b="0" i="1">
                          <a:latin typeface="Cambria Math" panose="02040503050406030204" pitchFamily="18" charset="0"/>
                        </a:rPr>
                        <m:t>𝑁𝑒𝑥𝑡</m:t>
                      </m:r>
                      <m:r>
                        <m:rPr>
                          <m:nor/>
                        </m:rPr>
                        <a:rPr lang="en-IN" b="0" i="1">
                          <a:latin typeface="Cambria Math" panose="02040503050406030204" pitchFamily="18" charset="0"/>
                        </a:rPr>
                        <m:t> </m:t>
                      </m:r>
                      <m:r>
                        <a:rPr lang="en-IN" b="0" i="1">
                          <a:latin typeface="Cambria Math" panose="02040503050406030204" pitchFamily="18" charset="0"/>
                        </a:rPr>
                        <m:t>𝑉𝑎𝑙𝑢𝑒</m:t>
                      </m:r>
                      <m:r>
                        <a:rPr lang="en-IN" b="0" i="0">
                          <a:latin typeface="Cambria Math" panose="02040503050406030204" pitchFamily="18" charset="0"/>
                        </a:rPr>
                        <m:t>−</m:t>
                      </m:r>
                      <m:r>
                        <a:rPr lang="en-IN" b="0" i="1">
                          <a:latin typeface="Cambria Math" panose="02040503050406030204" pitchFamily="18" charset="0"/>
                        </a:rPr>
                        <m:t>𝑂𝑙𝑑</m:t>
                      </m:r>
                      <m:r>
                        <m:rPr>
                          <m:nor/>
                        </m:rPr>
                        <a:rPr lang="en-IN" b="0" i="1">
                          <a:latin typeface="Cambria Math" panose="02040503050406030204" pitchFamily="18" charset="0"/>
                        </a:rPr>
                        <m:t> </m:t>
                      </m:r>
                      <m:r>
                        <a:rPr lang="en-IN" b="0" i="1">
                          <a:latin typeface="Cambria Math" panose="02040503050406030204" pitchFamily="18" charset="0"/>
                        </a:rPr>
                        <m:t>𝑉𝑎𝑙𝑢𝑒</m:t>
                      </m:r>
                    </m:oMath>
                  </m:oMathPara>
                </a14:m>
                <a:endParaRPr lang="en-IN" b="0" dirty="0"/>
              </a:p>
              <a:p>
                <a:pPr>
                  <a:buNone/>
                </a:pPr>
                <a:endParaRPr lang="en-IN" dirty="0"/>
              </a:p>
              <a:p>
                <a:pPr>
                  <a:buNone/>
                </a:pPr>
                <a:endParaRPr lang="en-IN" dirty="0"/>
              </a:p>
              <a:p>
                <a:pPr>
                  <a:buNone/>
                </a:pPr>
                <a:r>
                  <a:rPr lang="en-IN" dirty="0"/>
                  <a:t>It measures </a:t>
                </a:r>
                <a:r>
                  <a:rPr lang="en-IN" b="1" dirty="0"/>
                  <a:t>how wrong the prediction was</a:t>
                </a:r>
                <a:r>
                  <a:rPr lang="en-IN" dirty="0"/>
                  <a:t>.</a:t>
                </a:r>
              </a:p>
            </p:txBody>
          </p:sp>
        </mc:Choice>
        <mc:Fallback>
          <p:sp>
            <p:nvSpPr>
              <p:cNvPr id="3" name="TextBox 2">
                <a:extLst>
                  <a:ext uri="{FF2B5EF4-FFF2-40B4-BE49-F238E27FC236}">
                    <a16:creationId xmlns:a16="http://schemas.microsoft.com/office/drawing/2014/main" id="{6F44D18D-F308-33DA-2A5F-DA2B29EC0AC9}"/>
                  </a:ext>
                </a:extLst>
              </p:cNvPr>
              <p:cNvSpPr txBox="1">
                <a:spLocks noRot="1" noChangeAspect="1" noMove="1" noResize="1" noEditPoints="1" noAdjustHandles="1" noChangeArrowheads="1" noChangeShapeType="1" noTextEdit="1"/>
              </p:cNvSpPr>
              <p:nvPr/>
            </p:nvSpPr>
            <p:spPr>
              <a:xfrm>
                <a:off x="-1" y="893017"/>
                <a:ext cx="11680371" cy="5632311"/>
              </a:xfrm>
              <a:prstGeom prst="rect">
                <a:avLst/>
              </a:prstGeom>
              <a:blipFill>
                <a:blip r:embed="rId2"/>
                <a:stretch>
                  <a:fillRect l="-418" t="-541" b="-758"/>
                </a:stretch>
              </a:blipFill>
            </p:spPr>
            <p:txBody>
              <a:bodyPr/>
              <a:lstStyle/>
              <a:p>
                <a:r>
                  <a:rPr lang="en-IN">
                    <a:noFill/>
                  </a:rPr>
                  <a:t> </a:t>
                </a:r>
              </a:p>
            </p:txBody>
          </p:sp>
        </mc:Fallback>
      </mc:AlternateContent>
    </p:spTree>
    <p:extLst>
      <p:ext uri="{BB962C8B-B14F-4D97-AF65-F5344CB8AC3E}">
        <p14:creationId xmlns:p14="http://schemas.microsoft.com/office/powerpoint/2010/main" val="88082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7C1D2D-9704-5EBB-035C-B51003735CEE}"/>
              </a:ext>
            </a:extLst>
          </p:cNvPr>
          <p:cNvSpPr txBox="1"/>
          <p:nvPr/>
        </p:nvSpPr>
        <p:spPr>
          <a:xfrm>
            <a:off x="141513" y="144760"/>
            <a:ext cx="11745685" cy="6119945"/>
          </a:xfrm>
          <a:prstGeom prst="rect">
            <a:avLst/>
          </a:prstGeom>
          <a:noFill/>
        </p:spPr>
        <p:txBody>
          <a:bodyPr wrap="square">
            <a:spAutoFit/>
          </a:bodyPr>
          <a:lstStyle/>
          <a:p>
            <a:pPr algn="l">
              <a:lnSpc>
                <a:spcPct val="150000"/>
              </a:lnSpc>
              <a:buNone/>
            </a:pPr>
            <a:r>
              <a:rPr lang="en-US" sz="2400" b="0" i="0" dirty="0">
                <a:solidFill>
                  <a:srgbClr val="000000"/>
                </a:solidFill>
                <a:effectLst/>
                <a:latin typeface="Times New Roman" panose="02020603050405020304" pitchFamily="18" charset="0"/>
                <a:cs typeface="Times New Roman" panose="02020603050405020304" pitchFamily="18" charset="0"/>
              </a:rPr>
              <a:t>Temporal Difference (TD) learning a model-free </a:t>
            </a:r>
            <a:r>
              <a:rPr lang="en-US" sz="2400" dirty="0">
                <a:solidFill>
                  <a:srgbClr val="008000"/>
                </a:solidFill>
                <a:latin typeface="Times New Roman" panose="02020603050405020304" pitchFamily="18" charset="0"/>
                <a:cs typeface="Times New Roman" panose="02020603050405020304" pitchFamily="18" charset="0"/>
              </a:rPr>
              <a:t>reinforcement learning</a:t>
            </a:r>
            <a:r>
              <a:rPr lang="en-US" sz="2400" b="0" i="0" dirty="0">
                <a:solidFill>
                  <a:srgbClr val="000000"/>
                </a:solidFill>
                <a:effectLst/>
                <a:latin typeface="Times New Roman" panose="02020603050405020304" pitchFamily="18" charset="0"/>
                <a:cs typeface="Times New Roman" panose="02020603050405020304" pitchFamily="18" charset="0"/>
              </a:rPr>
              <a:t> technique that aims to align the expected prediction with the latest prediction, thus matching expectations with actual outcomes and progressively enhancing the accuracy of the overall prediction chain. It also seeks to predict a combination of the immediate reward and its own reward prediction at the same moment.</a:t>
            </a:r>
          </a:p>
          <a:p>
            <a:pPr algn="l">
              <a:lnSpc>
                <a:spcPct val="150000"/>
              </a:lnSpc>
              <a:buNone/>
            </a:pPr>
            <a:r>
              <a:rPr lang="en-US" sz="2400" b="0" i="0" dirty="0">
                <a:solidFill>
                  <a:srgbClr val="000000"/>
                </a:solidFill>
                <a:effectLst/>
                <a:latin typeface="Times New Roman" panose="02020603050405020304" pitchFamily="18" charset="0"/>
                <a:cs typeface="Times New Roman" panose="02020603050405020304" pitchFamily="18" charset="0"/>
              </a:rPr>
              <a:t>In temporal difference learning, the signal used for training a prediction comes from a future prediction. This approach is a combination of the Monte Carlo (MC) technique and the Dynamic Programming (DP) technique. </a:t>
            </a:r>
            <a:r>
              <a:rPr lang="en-US" sz="2400" dirty="0">
                <a:solidFill>
                  <a:srgbClr val="008000"/>
                </a:solidFill>
                <a:latin typeface="Times New Roman" panose="02020603050405020304" pitchFamily="18" charset="0"/>
                <a:cs typeface="Times New Roman" panose="02020603050405020304" pitchFamily="18" charset="0"/>
              </a:rPr>
              <a:t>Monte Carlo methods</a:t>
            </a:r>
            <a:r>
              <a:rPr lang="en-US" sz="2400" b="0" i="0" dirty="0">
                <a:solidFill>
                  <a:srgbClr val="000000"/>
                </a:solidFill>
                <a:effectLst/>
                <a:latin typeface="Times New Roman" panose="02020603050405020304" pitchFamily="18" charset="0"/>
                <a:cs typeface="Times New Roman" panose="02020603050405020304" pitchFamily="18" charset="0"/>
              </a:rPr>
              <a:t> modify their estimates only after the final result is known, whereas temporal difference techniques adjust predictions to match later, more precise predictions for the future, well before knowing the final outcome. This is essentially a type of bootstrapping.</a:t>
            </a:r>
          </a:p>
        </p:txBody>
      </p:sp>
    </p:spTree>
    <p:extLst>
      <p:ext uri="{BB962C8B-B14F-4D97-AF65-F5344CB8AC3E}">
        <p14:creationId xmlns:p14="http://schemas.microsoft.com/office/powerpoint/2010/main" val="3156351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D13263-A4BD-EFA8-687A-C68812C33317}"/>
              </a:ext>
            </a:extLst>
          </p:cNvPr>
          <p:cNvSpPr txBox="1"/>
          <p:nvPr/>
        </p:nvSpPr>
        <p:spPr>
          <a:xfrm>
            <a:off x="576943" y="1720840"/>
            <a:ext cx="10689771" cy="4154984"/>
          </a:xfrm>
          <a:prstGeom prst="rect">
            <a:avLst/>
          </a:prstGeom>
          <a:noFill/>
        </p:spPr>
        <p:txBody>
          <a:bodyPr wrap="square">
            <a:spAutoFit/>
          </a:bodyPr>
          <a:lstStyle/>
          <a:p>
            <a:pPr>
              <a:buNone/>
            </a:pPr>
            <a:r>
              <a:rPr lang="en-US" sz="2400" b="1" dirty="0"/>
              <a:t>Real Life Examples of Temporal Difference Learning</a:t>
            </a:r>
          </a:p>
          <a:p>
            <a:pPr>
              <a:buNone/>
            </a:pPr>
            <a:r>
              <a:rPr lang="en-US" sz="2400" b="1" dirty="0"/>
              <a:t>1. Learning to Drive </a:t>
            </a:r>
          </a:p>
          <a:p>
            <a:pPr>
              <a:buNone/>
            </a:pPr>
            <a:r>
              <a:rPr lang="en-US" sz="2400" dirty="0"/>
              <a:t>Imagine a new driver learning how to drive.</a:t>
            </a:r>
          </a:p>
          <a:p>
            <a:pPr>
              <a:buNone/>
            </a:pPr>
            <a:r>
              <a:rPr lang="en-US" sz="2400" b="1" dirty="0"/>
              <a:t>Situation</a:t>
            </a:r>
            <a:endParaRPr lang="en-US" sz="2400" dirty="0"/>
          </a:p>
          <a:p>
            <a:pPr>
              <a:buFont typeface="Arial" panose="020B0604020202020204" pitchFamily="34" charset="0"/>
              <a:buChar char="•"/>
            </a:pPr>
            <a:r>
              <a:rPr lang="en-US" sz="2400" dirty="0"/>
              <a:t>You approach a speed breaker too fast.</a:t>
            </a:r>
          </a:p>
          <a:p>
            <a:pPr>
              <a:buFont typeface="Arial" panose="020B0604020202020204" pitchFamily="34" charset="0"/>
              <a:buChar char="•"/>
            </a:pPr>
            <a:r>
              <a:rPr lang="en-US" sz="2400" dirty="0"/>
              <a:t>The car bumps strongly (negative reward).</a:t>
            </a:r>
          </a:p>
          <a:p>
            <a:pPr>
              <a:buNone/>
            </a:pPr>
            <a:r>
              <a:rPr lang="en-US" sz="2400" b="1" dirty="0"/>
              <a:t>Learning Process</a:t>
            </a:r>
            <a:endParaRPr lang="en-US" sz="2400" dirty="0"/>
          </a:p>
          <a:p>
            <a:pPr>
              <a:buFont typeface="Arial" panose="020B0604020202020204" pitchFamily="34" charset="0"/>
              <a:buChar char="•"/>
            </a:pPr>
            <a:r>
              <a:rPr lang="en-US" sz="2400" dirty="0"/>
              <a:t>You adjust your speed earlier next time.</a:t>
            </a:r>
          </a:p>
          <a:p>
            <a:pPr>
              <a:buFont typeface="Arial" panose="020B0604020202020204" pitchFamily="34" charset="0"/>
              <a:buChar char="•"/>
            </a:pPr>
            <a:r>
              <a:rPr lang="en-US" sz="2400" dirty="0"/>
              <a:t>Your brain updates the expectation about road bumps.</a:t>
            </a:r>
          </a:p>
          <a:p>
            <a:pPr>
              <a:buNone/>
            </a:pPr>
            <a:r>
              <a:rPr lang="en-US" sz="2400" b="1" dirty="0"/>
              <a:t>TD Idea</a:t>
            </a:r>
            <a:br>
              <a:rPr lang="en-US" sz="2400" dirty="0"/>
            </a:br>
            <a:r>
              <a:rPr lang="en-US" sz="2400" dirty="0"/>
              <a:t>You don't wait until the entire trip ends; you </a:t>
            </a:r>
            <a:r>
              <a:rPr lang="en-US" sz="2400" b="1" dirty="0"/>
              <a:t>learn immediately after each action</a:t>
            </a:r>
            <a:r>
              <a:rPr lang="en-US" sz="2400" dirty="0"/>
              <a:t>.</a:t>
            </a:r>
          </a:p>
        </p:txBody>
      </p:sp>
    </p:spTree>
    <p:extLst>
      <p:ext uri="{BB962C8B-B14F-4D97-AF65-F5344CB8AC3E}">
        <p14:creationId xmlns:p14="http://schemas.microsoft.com/office/powerpoint/2010/main" val="3363172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F0528A-33D3-45B8-3328-E36921C10CA4}"/>
              </a:ext>
            </a:extLst>
          </p:cNvPr>
          <p:cNvSpPr txBox="1"/>
          <p:nvPr/>
        </p:nvSpPr>
        <p:spPr>
          <a:xfrm>
            <a:off x="446314" y="1859340"/>
            <a:ext cx="11527972" cy="3785652"/>
          </a:xfrm>
          <a:prstGeom prst="rect">
            <a:avLst/>
          </a:prstGeom>
          <a:noFill/>
        </p:spPr>
        <p:txBody>
          <a:bodyPr wrap="square">
            <a:spAutoFit/>
          </a:bodyPr>
          <a:lstStyle/>
          <a:p>
            <a:pPr>
              <a:buNone/>
            </a:pPr>
            <a:r>
              <a:rPr lang="en-US" sz="2400" b="1" dirty="0"/>
              <a:t>2. Studying for Exams </a:t>
            </a:r>
          </a:p>
          <a:p>
            <a:pPr>
              <a:buNone/>
            </a:pPr>
            <a:r>
              <a:rPr lang="en-US" sz="2400" dirty="0"/>
              <a:t>Suppose you prepare for a test.</a:t>
            </a:r>
          </a:p>
          <a:p>
            <a:pPr>
              <a:buNone/>
            </a:pPr>
            <a:r>
              <a:rPr lang="en-US" sz="2400" b="1" dirty="0"/>
              <a:t>Step 1:</a:t>
            </a:r>
            <a:br>
              <a:rPr lang="en-US" sz="2400" dirty="0"/>
            </a:br>
            <a:r>
              <a:rPr lang="en-US" sz="2400" dirty="0"/>
              <a:t>You think </a:t>
            </a:r>
            <a:r>
              <a:rPr lang="en-US" sz="2400" b="1" dirty="0"/>
              <a:t>1 hour of study = good preparation</a:t>
            </a:r>
            <a:r>
              <a:rPr lang="en-US" sz="2400" dirty="0"/>
              <a:t>.</a:t>
            </a:r>
          </a:p>
          <a:p>
            <a:pPr>
              <a:buNone/>
            </a:pPr>
            <a:r>
              <a:rPr lang="en-US" sz="2400" b="1" dirty="0"/>
              <a:t>Step 2:</a:t>
            </a:r>
            <a:br>
              <a:rPr lang="en-US" sz="2400" dirty="0"/>
            </a:br>
            <a:r>
              <a:rPr lang="en-US" sz="2400" dirty="0"/>
              <a:t>During a mock test, you perform poorly.</a:t>
            </a:r>
          </a:p>
          <a:p>
            <a:pPr>
              <a:buNone/>
            </a:pPr>
            <a:r>
              <a:rPr lang="en-US" sz="2400" b="1" dirty="0"/>
              <a:t>Step 3:</a:t>
            </a:r>
            <a:br>
              <a:rPr lang="en-US" sz="2400" dirty="0"/>
            </a:br>
            <a:r>
              <a:rPr lang="en-US" sz="2400" dirty="0"/>
              <a:t>You update your expectation:</a:t>
            </a:r>
            <a:br>
              <a:rPr lang="en-US" sz="2400" dirty="0"/>
            </a:br>
            <a:r>
              <a:rPr lang="en-US" sz="2400" dirty="0"/>
              <a:t>“Maybe I need 3 hours of study.”</a:t>
            </a:r>
          </a:p>
          <a:p>
            <a:pPr>
              <a:buNone/>
            </a:pPr>
            <a:r>
              <a:rPr lang="en-US" sz="2400" dirty="0"/>
              <a:t>You </a:t>
            </a:r>
            <a:r>
              <a:rPr lang="en-US" sz="2400" b="1" dirty="0"/>
              <a:t>adjust continuously after each test</a:t>
            </a:r>
            <a:r>
              <a:rPr lang="en-US" sz="2400" dirty="0"/>
              <a:t>, not only after the final exam.</a:t>
            </a:r>
          </a:p>
        </p:txBody>
      </p:sp>
    </p:spTree>
    <p:extLst>
      <p:ext uri="{BB962C8B-B14F-4D97-AF65-F5344CB8AC3E}">
        <p14:creationId xmlns:p14="http://schemas.microsoft.com/office/powerpoint/2010/main" val="2641366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7D0F55-B008-C0EE-E9FE-CDD423CC1FDF}"/>
              </a:ext>
            </a:extLst>
          </p:cNvPr>
          <p:cNvSpPr txBox="1"/>
          <p:nvPr/>
        </p:nvSpPr>
        <p:spPr>
          <a:xfrm>
            <a:off x="2046515" y="1286079"/>
            <a:ext cx="8654143" cy="2308324"/>
          </a:xfrm>
          <a:prstGeom prst="rect">
            <a:avLst/>
          </a:prstGeom>
          <a:noFill/>
        </p:spPr>
        <p:txBody>
          <a:bodyPr wrap="square">
            <a:spAutoFit/>
          </a:bodyPr>
          <a:lstStyle/>
          <a:p>
            <a:pPr>
              <a:buNone/>
            </a:pPr>
            <a:r>
              <a:rPr lang="en-US" sz="2400" b="1" dirty="0"/>
              <a:t>Why Temporal Difference Learning is Powerful</a:t>
            </a:r>
          </a:p>
          <a:p>
            <a:pPr>
              <a:buNone/>
            </a:pPr>
            <a:endParaRPr lang="en-US" sz="2400" b="1" dirty="0"/>
          </a:p>
          <a:p>
            <a:pPr>
              <a:buFont typeface="+mj-lt"/>
              <a:buAutoNum type="arabicPeriod"/>
            </a:pPr>
            <a:r>
              <a:rPr lang="en-US" sz="2400" b="1" dirty="0"/>
              <a:t>Learns without full knowledge of environment</a:t>
            </a:r>
            <a:endParaRPr lang="en-US" sz="2400" dirty="0"/>
          </a:p>
          <a:p>
            <a:pPr>
              <a:buFont typeface="+mj-lt"/>
              <a:buAutoNum type="arabicPeriod"/>
            </a:pPr>
            <a:r>
              <a:rPr lang="en-US" sz="2400" b="1" dirty="0"/>
              <a:t>Updates predictions instantly</a:t>
            </a:r>
            <a:endParaRPr lang="en-US" sz="2400" dirty="0"/>
          </a:p>
          <a:p>
            <a:pPr>
              <a:buFont typeface="+mj-lt"/>
              <a:buAutoNum type="arabicPeriod"/>
            </a:pPr>
            <a:r>
              <a:rPr lang="en-US" sz="2400" b="1" dirty="0"/>
              <a:t>Works for continuous decision problems</a:t>
            </a:r>
            <a:endParaRPr lang="en-US" sz="2400" dirty="0"/>
          </a:p>
          <a:p>
            <a:pPr>
              <a:buFont typeface="+mj-lt"/>
              <a:buAutoNum type="arabicPeriod"/>
            </a:pPr>
            <a:r>
              <a:rPr lang="en-US" sz="2400" b="1" dirty="0"/>
              <a:t>Used in AI, robotics, finance, and gaming</a:t>
            </a:r>
            <a:endParaRPr lang="en-US" sz="2400" dirty="0"/>
          </a:p>
        </p:txBody>
      </p:sp>
    </p:spTree>
    <p:extLst>
      <p:ext uri="{BB962C8B-B14F-4D97-AF65-F5344CB8AC3E}">
        <p14:creationId xmlns:p14="http://schemas.microsoft.com/office/powerpoint/2010/main" val="3334502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974BE-1DE6-5DBC-9FAA-847D9D63950A}"/>
              </a:ext>
            </a:extLst>
          </p:cNvPr>
          <p:cNvSpPr txBox="1"/>
          <p:nvPr/>
        </p:nvSpPr>
        <p:spPr>
          <a:xfrm>
            <a:off x="195942" y="251936"/>
            <a:ext cx="11996058" cy="461665"/>
          </a:xfrm>
          <a:prstGeom prst="rect">
            <a:avLst/>
          </a:prstGeom>
          <a:noFill/>
        </p:spPr>
        <p:txBody>
          <a:bodyPr wrap="square">
            <a:spAutoFit/>
          </a:bodyPr>
          <a:lstStyle/>
          <a:p>
            <a:pPr>
              <a:buNone/>
            </a:pPr>
            <a:r>
              <a:rPr lang="en-US" sz="2400" b="1" dirty="0"/>
              <a:t>Difference Between Temporal Difference Learning and Monte Carlo Method</a:t>
            </a:r>
          </a:p>
        </p:txBody>
      </p:sp>
      <p:graphicFrame>
        <p:nvGraphicFramePr>
          <p:cNvPr id="4" name="Table 3">
            <a:extLst>
              <a:ext uri="{FF2B5EF4-FFF2-40B4-BE49-F238E27FC236}">
                <a16:creationId xmlns:a16="http://schemas.microsoft.com/office/drawing/2014/main" id="{3E54290A-C411-E575-0BC9-EBFF1F0FD446}"/>
              </a:ext>
            </a:extLst>
          </p:cNvPr>
          <p:cNvGraphicFramePr>
            <a:graphicFrameLocks noGrp="1"/>
          </p:cNvGraphicFramePr>
          <p:nvPr>
            <p:extLst>
              <p:ext uri="{D42A27DB-BD31-4B8C-83A1-F6EECF244321}">
                <p14:modId xmlns:p14="http://schemas.microsoft.com/office/powerpoint/2010/main" val="2728489074"/>
              </p:ext>
            </p:extLst>
          </p:nvPr>
        </p:nvGraphicFramePr>
        <p:xfrm>
          <a:off x="297452" y="987365"/>
          <a:ext cx="11665947" cy="5035080"/>
        </p:xfrm>
        <a:graphic>
          <a:graphicData uri="http://schemas.openxmlformats.org/drawingml/2006/table">
            <a:tbl>
              <a:tblPr/>
              <a:tblGrid>
                <a:gridCol w="3888649">
                  <a:extLst>
                    <a:ext uri="{9D8B030D-6E8A-4147-A177-3AD203B41FA5}">
                      <a16:colId xmlns:a16="http://schemas.microsoft.com/office/drawing/2014/main" val="2642366881"/>
                    </a:ext>
                  </a:extLst>
                </a:gridCol>
                <a:gridCol w="3888649">
                  <a:extLst>
                    <a:ext uri="{9D8B030D-6E8A-4147-A177-3AD203B41FA5}">
                      <a16:colId xmlns:a16="http://schemas.microsoft.com/office/drawing/2014/main" val="627549282"/>
                    </a:ext>
                  </a:extLst>
                </a:gridCol>
                <a:gridCol w="3888649">
                  <a:extLst>
                    <a:ext uri="{9D8B030D-6E8A-4147-A177-3AD203B41FA5}">
                      <a16:colId xmlns:a16="http://schemas.microsoft.com/office/drawing/2014/main" val="255489350"/>
                    </a:ext>
                  </a:extLst>
                </a:gridCol>
              </a:tblGrid>
              <a:tr h="341281">
                <a:tc>
                  <a:txBody>
                    <a:bodyPr/>
                    <a:lstStyle/>
                    <a:p>
                      <a:pPr>
                        <a:buNone/>
                      </a:pPr>
                      <a:r>
                        <a:rPr lang="en-IN" sz="2000"/>
                        <a:t>Basis</a:t>
                      </a:r>
                    </a:p>
                  </a:txBody>
                  <a:tcPr marL="85320" marR="85320" marT="42660" marB="42660" anchor="ctr">
                    <a:lnL>
                      <a:noFill/>
                    </a:lnL>
                    <a:lnR>
                      <a:noFill/>
                    </a:lnR>
                    <a:lnT>
                      <a:noFill/>
                    </a:lnT>
                    <a:lnB>
                      <a:noFill/>
                    </a:lnB>
                    <a:noFill/>
                  </a:tcPr>
                </a:tc>
                <a:tc>
                  <a:txBody>
                    <a:bodyPr/>
                    <a:lstStyle/>
                    <a:p>
                      <a:pPr>
                        <a:buNone/>
                      </a:pPr>
                      <a:r>
                        <a:rPr lang="en-IN" sz="2000"/>
                        <a:t>Temporal Difference Learning (TD)</a:t>
                      </a:r>
                    </a:p>
                  </a:txBody>
                  <a:tcPr marL="85320" marR="85320" marT="42660" marB="42660" anchor="ctr">
                    <a:lnL>
                      <a:noFill/>
                    </a:lnL>
                    <a:lnR>
                      <a:noFill/>
                    </a:lnR>
                    <a:lnT>
                      <a:noFill/>
                    </a:lnT>
                    <a:lnB>
                      <a:noFill/>
                    </a:lnB>
                    <a:noFill/>
                  </a:tcPr>
                </a:tc>
                <a:tc>
                  <a:txBody>
                    <a:bodyPr/>
                    <a:lstStyle/>
                    <a:p>
                      <a:pPr>
                        <a:buNone/>
                      </a:pPr>
                      <a:r>
                        <a:rPr lang="en-IN" sz="2000"/>
                        <a:t>Monte Carlo Method (MC)</a:t>
                      </a:r>
                    </a:p>
                  </a:txBody>
                  <a:tcPr marL="85320" marR="85320" marT="42660" marB="42660" anchor="ctr">
                    <a:lnL>
                      <a:noFill/>
                    </a:lnL>
                    <a:lnR>
                      <a:noFill/>
                    </a:lnR>
                    <a:lnT>
                      <a:noFill/>
                    </a:lnT>
                    <a:lnB>
                      <a:noFill/>
                    </a:lnB>
                    <a:noFill/>
                  </a:tcPr>
                </a:tc>
                <a:extLst>
                  <a:ext uri="{0D108BD9-81ED-4DB2-BD59-A6C34878D82A}">
                    <a16:rowId xmlns:a16="http://schemas.microsoft.com/office/drawing/2014/main" val="3851790147"/>
                  </a:ext>
                </a:extLst>
              </a:tr>
              <a:tr h="597242">
                <a:tc>
                  <a:txBody>
                    <a:bodyPr/>
                    <a:lstStyle/>
                    <a:p>
                      <a:pPr>
                        <a:buNone/>
                      </a:pPr>
                      <a:r>
                        <a:rPr lang="en-IN" sz="2000" b="1"/>
                        <a:t>Learning Time</a:t>
                      </a:r>
                      <a:endParaRPr lang="en-IN" sz="2000"/>
                    </a:p>
                  </a:txBody>
                  <a:tcPr marL="85320" marR="85320" marT="42660" marB="42660" anchor="ctr">
                    <a:lnL>
                      <a:noFill/>
                    </a:lnL>
                    <a:lnR>
                      <a:noFill/>
                    </a:lnR>
                    <a:lnT>
                      <a:noFill/>
                    </a:lnT>
                    <a:lnB>
                      <a:noFill/>
                    </a:lnB>
                    <a:noFill/>
                  </a:tcPr>
                </a:tc>
                <a:tc>
                  <a:txBody>
                    <a:bodyPr/>
                    <a:lstStyle/>
                    <a:p>
                      <a:pPr>
                        <a:buNone/>
                      </a:pPr>
                      <a:r>
                        <a:rPr lang="en-IN" sz="2000"/>
                        <a:t>Learns </a:t>
                      </a:r>
                      <a:r>
                        <a:rPr lang="en-IN" sz="2000" b="1"/>
                        <a:t>after each step</a:t>
                      </a:r>
                      <a:endParaRPr lang="en-IN" sz="2000"/>
                    </a:p>
                  </a:txBody>
                  <a:tcPr marL="85320" marR="85320" marT="42660" marB="42660" anchor="ctr">
                    <a:lnL>
                      <a:noFill/>
                    </a:lnL>
                    <a:lnR>
                      <a:noFill/>
                    </a:lnR>
                    <a:lnT>
                      <a:noFill/>
                    </a:lnT>
                    <a:lnB>
                      <a:noFill/>
                    </a:lnB>
                    <a:noFill/>
                  </a:tcPr>
                </a:tc>
                <a:tc>
                  <a:txBody>
                    <a:bodyPr/>
                    <a:lstStyle/>
                    <a:p>
                      <a:pPr>
                        <a:buNone/>
                      </a:pPr>
                      <a:r>
                        <a:rPr lang="en-US" sz="2000"/>
                        <a:t>Learns </a:t>
                      </a:r>
                      <a:r>
                        <a:rPr lang="en-US" sz="2000" b="1"/>
                        <a:t>after the entire episode ends</a:t>
                      </a:r>
                      <a:endParaRPr lang="en-US" sz="2000"/>
                    </a:p>
                  </a:txBody>
                  <a:tcPr marL="85320" marR="85320" marT="42660" marB="42660" anchor="ctr">
                    <a:lnL>
                      <a:noFill/>
                    </a:lnL>
                    <a:lnR>
                      <a:noFill/>
                    </a:lnR>
                    <a:lnT>
                      <a:noFill/>
                    </a:lnT>
                    <a:lnB>
                      <a:noFill/>
                    </a:lnB>
                    <a:noFill/>
                  </a:tcPr>
                </a:tc>
                <a:extLst>
                  <a:ext uri="{0D108BD9-81ED-4DB2-BD59-A6C34878D82A}">
                    <a16:rowId xmlns:a16="http://schemas.microsoft.com/office/drawing/2014/main" val="53965542"/>
                  </a:ext>
                </a:extLst>
              </a:tr>
              <a:tr h="597242">
                <a:tc>
                  <a:txBody>
                    <a:bodyPr/>
                    <a:lstStyle/>
                    <a:p>
                      <a:pPr>
                        <a:buNone/>
                      </a:pPr>
                      <a:r>
                        <a:rPr lang="en-IN" sz="2000" b="1"/>
                        <a:t>Update Method</a:t>
                      </a:r>
                      <a:endParaRPr lang="en-IN" sz="2000"/>
                    </a:p>
                  </a:txBody>
                  <a:tcPr marL="85320" marR="85320" marT="42660" marB="42660" anchor="ctr">
                    <a:lnL>
                      <a:noFill/>
                    </a:lnL>
                    <a:lnR>
                      <a:noFill/>
                    </a:lnR>
                    <a:lnT>
                      <a:noFill/>
                    </a:lnT>
                    <a:lnB>
                      <a:noFill/>
                    </a:lnB>
                    <a:noFill/>
                  </a:tcPr>
                </a:tc>
                <a:tc>
                  <a:txBody>
                    <a:bodyPr/>
                    <a:lstStyle/>
                    <a:p>
                      <a:pPr>
                        <a:buNone/>
                      </a:pPr>
                      <a:r>
                        <a:rPr lang="en-US" sz="2000"/>
                        <a:t>Uses </a:t>
                      </a:r>
                      <a:r>
                        <a:rPr lang="en-US" sz="2000" b="1"/>
                        <a:t>current estimate + next state value</a:t>
                      </a:r>
                      <a:endParaRPr lang="en-US" sz="2000"/>
                    </a:p>
                  </a:txBody>
                  <a:tcPr marL="85320" marR="85320" marT="42660" marB="42660" anchor="ctr">
                    <a:lnL>
                      <a:noFill/>
                    </a:lnL>
                    <a:lnR>
                      <a:noFill/>
                    </a:lnR>
                    <a:lnT>
                      <a:noFill/>
                    </a:lnT>
                    <a:lnB>
                      <a:noFill/>
                    </a:lnB>
                    <a:noFill/>
                  </a:tcPr>
                </a:tc>
                <a:tc>
                  <a:txBody>
                    <a:bodyPr/>
                    <a:lstStyle/>
                    <a:p>
                      <a:pPr>
                        <a:buNone/>
                      </a:pPr>
                      <a:r>
                        <a:rPr lang="en-IN" sz="2000"/>
                        <a:t>Uses </a:t>
                      </a:r>
                      <a:r>
                        <a:rPr lang="en-IN" sz="2000" b="1"/>
                        <a:t>actual final return</a:t>
                      </a:r>
                      <a:endParaRPr lang="en-IN" sz="2000"/>
                    </a:p>
                  </a:txBody>
                  <a:tcPr marL="85320" marR="85320" marT="42660" marB="42660" anchor="ctr">
                    <a:lnL>
                      <a:noFill/>
                    </a:lnL>
                    <a:lnR>
                      <a:noFill/>
                    </a:lnR>
                    <a:lnT>
                      <a:noFill/>
                    </a:lnT>
                    <a:lnB>
                      <a:noFill/>
                    </a:lnB>
                    <a:noFill/>
                  </a:tcPr>
                </a:tc>
                <a:extLst>
                  <a:ext uri="{0D108BD9-81ED-4DB2-BD59-A6C34878D82A}">
                    <a16:rowId xmlns:a16="http://schemas.microsoft.com/office/drawing/2014/main" val="2694614418"/>
                  </a:ext>
                </a:extLst>
              </a:tr>
              <a:tr h="341281">
                <a:tc>
                  <a:txBody>
                    <a:bodyPr/>
                    <a:lstStyle/>
                    <a:p>
                      <a:pPr>
                        <a:buNone/>
                      </a:pPr>
                      <a:r>
                        <a:rPr lang="en-IN" sz="2000" b="1"/>
                        <a:t>Need of Episode End</a:t>
                      </a:r>
                      <a:endParaRPr lang="en-IN" sz="2000"/>
                    </a:p>
                  </a:txBody>
                  <a:tcPr marL="85320" marR="85320" marT="42660" marB="42660" anchor="ctr">
                    <a:lnL>
                      <a:noFill/>
                    </a:lnL>
                    <a:lnR>
                      <a:noFill/>
                    </a:lnR>
                    <a:lnT>
                      <a:noFill/>
                    </a:lnT>
                    <a:lnB>
                      <a:noFill/>
                    </a:lnB>
                    <a:noFill/>
                  </a:tcPr>
                </a:tc>
                <a:tc>
                  <a:txBody>
                    <a:bodyPr/>
                    <a:lstStyle/>
                    <a:p>
                      <a:pPr>
                        <a:buNone/>
                      </a:pPr>
                      <a:r>
                        <a:rPr lang="en-IN" sz="2000" b="1"/>
                        <a:t>Not required</a:t>
                      </a:r>
                      <a:endParaRPr lang="en-IN" sz="2000"/>
                    </a:p>
                  </a:txBody>
                  <a:tcPr marL="85320" marR="85320" marT="42660" marB="42660" anchor="ctr">
                    <a:lnL>
                      <a:noFill/>
                    </a:lnL>
                    <a:lnR>
                      <a:noFill/>
                    </a:lnR>
                    <a:lnT>
                      <a:noFill/>
                    </a:lnT>
                    <a:lnB>
                      <a:noFill/>
                    </a:lnB>
                    <a:noFill/>
                  </a:tcPr>
                </a:tc>
                <a:tc>
                  <a:txBody>
                    <a:bodyPr/>
                    <a:lstStyle/>
                    <a:p>
                      <a:pPr>
                        <a:buNone/>
                      </a:pPr>
                      <a:r>
                        <a:rPr lang="en-IN" sz="2000" b="1"/>
                        <a:t>Required</a:t>
                      </a:r>
                      <a:endParaRPr lang="en-IN" sz="2000"/>
                    </a:p>
                  </a:txBody>
                  <a:tcPr marL="85320" marR="85320" marT="42660" marB="42660" anchor="ctr">
                    <a:lnL>
                      <a:noFill/>
                    </a:lnL>
                    <a:lnR>
                      <a:noFill/>
                    </a:lnR>
                    <a:lnT>
                      <a:noFill/>
                    </a:lnT>
                    <a:lnB>
                      <a:noFill/>
                    </a:lnB>
                    <a:noFill/>
                  </a:tcPr>
                </a:tc>
                <a:extLst>
                  <a:ext uri="{0D108BD9-81ED-4DB2-BD59-A6C34878D82A}">
                    <a16:rowId xmlns:a16="http://schemas.microsoft.com/office/drawing/2014/main" val="24716069"/>
                  </a:ext>
                </a:extLst>
              </a:tr>
              <a:tr h="597242">
                <a:tc>
                  <a:txBody>
                    <a:bodyPr/>
                    <a:lstStyle/>
                    <a:p>
                      <a:pPr>
                        <a:buNone/>
                      </a:pPr>
                      <a:r>
                        <a:rPr lang="en-IN" sz="2000" b="1"/>
                        <a:t>Speed of Learning</a:t>
                      </a:r>
                      <a:endParaRPr lang="en-IN" sz="2000"/>
                    </a:p>
                  </a:txBody>
                  <a:tcPr marL="85320" marR="85320" marT="42660" marB="42660" anchor="ctr">
                    <a:lnL>
                      <a:noFill/>
                    </a:lnL>
                    <a:lnR>
                      <a:noFill/>
                    </a:lnR>
                    <a:lnT>
                      <a:noFill/>
                    </a:lnT>
                    <a:lnB>
                      <a:noFill/>
                    </a:lnB>
                    <a:noFill/>
                  </a:tcPr>
                </a:tc>
                <a:tc>
                  <a:txBody>
                    <a:bodyPr/>
                    <a:lstStyle/>
                    <a:p>
                      <a:pPr>
                        <a:buNone/>
                      </a:pPr>
                      <a:r>
                        <a:rPr lang="en-US" sz="2000" b="1" dirty="0"/>
                        <a:t>Faster</a:t>
                      </a:r>
                      <a:r>
                        <a:rPr lang="en-US" sz="2000" dirty="0"/>
                        <a:t> because updates occur continuously</a:t>
                      </a:r>
                    </a:p>
                  </a:txBody>
                  <a:tcPr marL="85320" marR="85320" marT="42660" marB="42660" anchor="ctr">
                    <a:lnL>
                      <a:noFill/>
                    </a:lnL>
                    <a:lnR>
                      <a:noFill/>
                    </a:lnR>
                    <a:lnT>
                      <a:noFill/>
                    </a:lnT>
                    <a:lnB>
                      <a:noFill/>
                    </a:lnB>
                    <a:noFill/>
                  </a:tcPr>
                </a:tc>
                <a:tc>
                  <a:txBody>
                    <a:bodyPr/>
                    <a:lstStyle/>
                    <a:p>
                      <a:pPr>
                        <a:buNone/>
                      </a:pPr>
                      <a:r>
                        <a:rPr lang="en-US" sz="2000" b="1"/>
                        <a:t>Slower</a:t>
                      </a:r>
                      <a:r>
                        <a:rPr lang="en-US" sz="2000"/>
                        <a:t> because it waits until the end</a:t>
                      </a:r>
                    </a:p>
                  </a:txBody>
                  <a:tcPr marL="85320" marR="85320" marT="42660" marB="42660" anchor="ctr">
                    <a:lnL>
                      <a:noFill/>
                    </a:lnL>
                    <a:lnR>
                      <a:noFill/>
                    </a:lnR>
                    <a:lnT>
                      <a:noFill/>
                    </a:lnT>
                    <a:lnB>
                      <a:noFill/>
                    </a:lnB>
                    <a:noFill/>
                  </a:tcPr>
                </a:tc>
                <a:extLst>
                  <a:ext uri="{0D108BD9-81ED-4DB2-BD59-A6C34878D82A}">
                    <a16:rowId xmlns:a16="http://schemas.microsoft.com/office/drawing/2014/main" val="2187385955"/>
                  </a:ext>
                </a:extLst>
              </a:tr>
              <a:tr h="341281">
                <a:tc>
                  <a:txBody>
                    <a:bodyPr/>
                    <a:lstStyle/>
                    <a:p>
                      <a:pPr>
                        <a:buNone/>
                      </a:pPr>
                      <a:r>
                        <a:rPr lang="en-IN" sz="2000" b="1"/>
                        <a:t>Variance</a:t>
                      </a:r>
                      <a:endParaRPr lang="en-IN" sz="2000"/>
                    </a:p>
                  </a:txBody>
                  <a:tcPr marL="85320" marR="85320" marT="42660" marB="42660" anchor="ctr">
                    <a:lnL>
                      <a:noFill/>
                    </a:lnL>
                    <a:lnR>
                      <a:noFill/>
                    </a:lnR>
                    <a:lnT>
                      <a:noFill/>
                    </a:lnT>
                    <a:lnB>
                      <a:noFill/>
                    </a:lnB>
                    <a:noFill/>
                  </a:tcPr>
                </a:tc>
                <a:tc>
                  <a:txBody>
                    <a:bodyPr/>
                    <a:lstStyle/>
                    <a:p>
                      <a:pPr>
                        <a:buNone/>
                      </a:pPr>
                      <a:r>
                        <a:rPr lang="en-IN" sz="2000"/>
                        <a:t>Lower variance</a:t>
                      </a:r>
                    </a:p>
                  </a:txBody>
                  <a:tcPr marL="85320" marR="85320" marT="42660" marB="42660" anchor="ctr">
                    <a:lnL>
                      <a:noFill/>
                    </a:lnL>
                    <a:lnR>
                      <a:noFill/>
                    </a:lnR>
                    <a:lnT>
                      <a:noFill/>
                    </a:lnT>
                    <a:lnB>
                      <a:noFill/>
                    </a:lnB>
                    <a:noFill/>
                  </a:tcPr>
                </a:tc>
                <a:tc>
                  <a:txBody>
                    <a:bodyPr/>
                    <a:lstStyle/>
                    <a:p>
                      <a:pPr>
                        <a:buNone/>
                      </a:pPr>
                      <a:r>
                        <a:rPr lang="en-IN" sz="2000"/>
                        <a:t>Higher variance</a:t>
                      </a:r>
                    </a:p>
                  </a:txBody>
                  <a:tcPr marL="85320" marR="85320" marT="42660" marB="42660" anchor="ctr">
                    <a:lnL>
                      <a:noFill/>
                    </a:lnL>
                    <a:lnR>
                      <a:noFill/>
                    </a:lnR>
                    <a:lnT>
                      <a:noFill/>
                    </a:lnT>
                    <a:lnB>
                      <a:noFill/>
                    </a:lnB>
                    <a:noFill/>
                  </a:tcPr>
                </a:tc>
                <a:extLst>
                  <a:ext uri="{0D108BD9-81ED-4DB2-BD59-A6C34878D82A}">
                    <a16:rowId xmlns:a16="http://schemas.microsoft.com/office/drawing/2014/main" val="1685348846"/>
                  </a:ext>
                </a:extLst>
              </a:tr>
              <a:tr h="597242">
                <a:tc>
                  <a:txBody>
                    <a:bodyPr/>
                    <a:lstStyle/>
                    <a:p>
                      <a:pPr>
                        <a:buNone/>
                      </a:pPr>
                      <a:r>
                        <a:rPr lang="en-IN" sz="2000" b="1"/>
                        <a:t>Bootstrapping</a:t>
                      </a:r>
                      <a:endParaRPr lang="en-IN" sz="2000"/>
                    </a:p>
                  </a:txBody>
                  <a:tcPr marL="85320" marR="85320" marT="42660" marB="42660" anchor="ctr">
                    <a:lnL>
                      <a:noFill/>
                    </a:lnL>
                    <a:lnR>
                      <a:noFill/>
                    </a:lnR>
                    <a:lnT>
                      <a:noFill/>
                    </a:lnT>
                    <a:lnB>
                      <a:noFill/>
                    </a:lnB>
                    <a:noFill/>
                  </a:tcPr>
                </a:tc>
                <a:tc>
                  <a:txBody>
                    <a:bodyPr/>
                    <a:lstStyle/>
                    <a:p>
                      <a:pPr>
                        <a:buNone/>
                      </a:pPr>
                      <a:r>
                        <a:rPr lang="en-US" sz="2000"/>
                        <a:t>Uses </a:t>
                      </a:r>
                      <a:r>
                        <a:rPr lang="en-US" sz="2000" b="1"/>
                        <a:t>bootstrapping</a:t>
                      </a:r>
                      <a:r>
                        <a:rPr lang="en-US" sz="2000"/>
                        <a:t> (updates using estimated values)</a:t>
                      </a:r>
                    </a:p>
                  </a:txBody>
                  <a:tcPr marL="85320" marR="85320" marT="42660" marB="42660" anchor="ctr">
                    <a:lnL>
                      <a:noFill/>
                    </a:lnL>
                    <a:lnR>
                      <a:noFill/>
                    </a:lnR>
                    <a:lnT>
                      <a:noFill/>
                    </a:lnT>
                    <a:lnB>
                      <a:noFill/>
                    </a:lnB>
                    <a:noFill/>
                  </a:tcPr>
                </a:tc>
                <a:tc>
                  <a:txBody>
                    <a:bodyPr/>
                    <a:lstStyle/>
                    <a:p>
                      <a:pPr>
                        <a:buNone/>
                      </a:pPr>
                      <a:r>
                        <a:rPr lang="en-US" sz="2000" b="1"/>
                        <a:t>No bootstrapping</a:t>
                      </a:r>
                      <a:r>
                        <a:rPr lang="en-US" sz="2000"/>
                        <a:t> (uses real outcome)</a:t>
                      </a:r>
                    </a:p>
                  </a:txBody>
                  <a:tcPr marL="85320" marR="85320" marT="42660" marB="42660" anchor="ctr">
                    <a:lnL>
                      <a:noFill/>
                    </a:lnL>
                    <a:lnR>
                      <a:noFill/>
                    </a:lnR>
                    <a:lnT>
                      <a:noFill/>
                    </a:lnT>
                    <a:lnB>
                      <a:noFill/>
                    </a:lnB>
                    <a:noFill/>
                  </a:tcPr>
                </a:tc>
                <a:extLst>
                  <a:ext uri="{0D108BD9-81ED-4DB2-BD59-A6C34878D82A}">
                    <a16:rowId xmlns:a16="http://schemas.microsoft.com/office/drawing/2014/main" val="2529016935"/>
                  </a:ext>
                </a:extLst>
              </a:tr>
              <a:tr h="341281">
                <a:tc>
                  <a:txBody>
                    <a:bodyPr/>
                    <a:lstStyle/>
                    <a:p>
                      <a:pPr>
                        <a:buNone/>
                      </a:pPr>
                      <a:r>
                        <a:rPr lang="en-IN" sz="2000" b="1"/>
                        <a:t>Suitability</a:t>
                      </a:r>
                      <a:endParaRPr lang="en-IN" sz="2000"/>
                    </a:p>
                  </a:txBody>
                  <a:tcPr marL="85320" marR="85320" marT="42660" marB="42660" anchor="ctr">
                    <a:lnL>
                      <a:noFill/>
                    </a:lnL>
                    <a:lnR>
                      <a:noFill/>
                    </a:lnR>
                    <a:lnT>
                      <a:noFill/>
                    </a:lnT>
                    <a:lnB>
                      <a:noFill/>
                    </a:lnB>
                    <a:noFill/>
                  </a:tcPr>
                </a:tc>
                <a:tc>
                  <a:txBody>
                    <a:bodyPr/>
                    <a:lstStyle/>
                    <a:p>
                      <a:pPr>
                        <a:buNone/>
                      </a:pPr>
                      <a:r>
                        <a:rPr lang="en-US" sz="2000"/>
                        <a:t>Works well for </a:t>
                      </a:r>
                      <a:r>
                        <a:rPr lang="en-US" sz="2000" b="1"/>
                        <a:t>continuous tasks</a:t>
                      </a:r>
                      <a:endParaRPr lang="en-US" sz="2000"/>
                    </a:p>
                  </a:txBody>
                  <a:tcPr marL="85320" marR="85320" marT="42660" marB="42660" anchor="ctr">
                    <a:lnL>
                      <a:noFill/>
                    </a:lnL>
                    <a:lnR>
                      <a:noFill/>
                    </a:lnR>
                    <a:lnT>
                      <a:noFill/>
                    </a:lnT>
                    <a:lnB>
                      <a:noFill/>
                    </a:lnB>
                    <a:noFill/>
                  </a:tcPr>
                </a:tc>
                <a:tc>
                  <a:txBody>
                    <a:bodyPr/>
                    <a:lstStyle/>
                    <a:p>
                      <a:pPr>
                        <a:buNone/>
                      </a:pPr>
                      <a:r>
                        <a:rPr lang="en-US" sz="2000"/>
                        <a:t>Works best for </a:t>
                      </a:r>
                      <a:r>
                        <a:rPr lang="en-US" sz="2000" b="1"/>
                        <a:t>episodic tasks</a:t>
                      </a:r>
                      <a:endParaRPr lang="en-US" sz="2000"/>
                    </a:p>
                  </a:txBody>
                  <a:tcPr marL="85320" marR="85320" marT="42660" marB="42660" anchor="ctr">
                    <a:lnL>
                      <a:noFill/>
                    </a:lnL>
                    <a:lnR>
                      <a:noFill/>
                    </a:lnR>
                    <a:lnT>
                      <a:noFill/>
                    </a:lnT>
                    <a:lnB>
                      <a:noFill/>
                    </a:lnB>
                    <a:noFill/>
                  </a:tcPr>
                </a:tc>
                <a:extLst>
                  <a:ext uri="{0D108BD9-81ED-4DB2-BD59-A6C34878D82A}">
                    <a16:rowId xmlns:a16="http://schemas.microsoft.com/office/drawing/2014/main" val="3235960805"/>
                  </a:ext>
                </a:extLst>
              </a:tr>
              <a:tr h="597242">
                <a:tc>
                  <a:txBody>
                    <a:bodyPr/>
                    <a:lstStyle/>
                    <a:p>
                      <a:pPr>
                        <a:buNone/>
                      </a:pPr>
                      <a:r>
                        <a:rPr lang="en-IN" sz="2000" b="1"/>
                        <a:t>Example</a:t>
                      </a:r>
                      <a:endParaRPr lang="en-IN" sz="2000"/>
                    </a:p>
                  </a:txBody>
                  <a:tcPr marL="85320" marR="85320" marT="42660" marB="42660" anchor="ctr">
                    <a:lnL>
                      <a:noFill/>
                    </a:lnL>
                    <a:lnR>
                      <a:noFill/>
                    </a:lnR>
                    <a:lnT>
                      <a:noFill/>
                    </a:lnT>
                    <a:lnB>
                      <a:noFill/>
                    </a:lnB>
                    <a:noFill/>
                  </a:tcPr>
                </a:tc>
                <a:tc>
                  <a:txBody>
                    <a:bodyPr/>
                    <a:lstStyle/>
                    <a:p>
                      <a:pPr>
                        <a:buNone/>
                      </a:pPr>
                      <a:r>
                        <a:rPr lang="en-US" sz="2000"/>
                        <a:t>Robot learning step-by-step while walking</a:t>
                      </a:r>
                    </a:p>
                  </a:txBody>
                  <a:tcPr marL="85320" marR="85320" marT="42660" marB="42660" anchor="ctr">
                    <a:lnL>
                      <a:noFill/>
                    </a:lnL>
                    <a:lnR>
                      <a:noFill/>
                    </a:lnR>
                    <a:lnT>
                      <a:noFill/>
                    </a:lnT>
                    <a:lnB>
                      <a:noFill/>
                    </a:lnB>
                    <a:noFill/>
                  </a:tcPr>
                </a:tc>
                <a:tc>
                  <a:txBody>
                    <a:bodyPr/>
                    <a:lstStyle/>
                    <a:p>
                      <a:pPr>
                        <a:buNone/>
                      </a:pPr>
                      <a:r>
                        <a:rPr lang="en-US" sz="2000" dirty="0"/>
                        <a:t>Learning after finishing a complete game</a:t>
                      </a:r>
                    </a:p>
                  </a:txBody>
                  <a:tcPr marL="85320" marR="85320" marT="42660" marB="42660" anchor="ctr">
                    <a:lnL>
                      <a:noFill/>
                    </a:lnL>
                    <a:lnR>
                      <a:noFill/>
                    </a:lnR>
                    <a:lnT>
                      <a:noFill/>
                    </a:lnT>
                    <a:lnB>
                      <a:noFill/>
                    </a:lnB>
                    <a:noFill/>
                  </a:tcPr>
                </a:tc>
                <a:extLst>
                  <a:ext uri="{0D108BD9-81ED-4DB2-BD59-A6C34878D82A}">
                    <a16:rowId xmlns:a16="http://schemas.microsoft.com/office/drawing/2014/main" val="3885097403"/>
                  </a:ext>
                </a:extLst>
              </a:tr>
            </a:tbl>
          </a:graphicData>
        </a:graphic>
      </p:graphicFrame>
    </p:spTree>
    <p:extLst>
      <p:ext uri="{BB962C8B-B14F-4D97-AF65-F5344CB8AC3E}">
        <p14:creationId xmlns:p14="http://schemas.microsoft.com/office/powerpoint/2010/main" val="2615833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D5DEB6C-DF97-6AA3-4450-7F306D2874F4}"/>
                  </a:ext>
                </a:extLst>
              </p:cNvPr>
              <p:cNvSpPr txBox="1"/>
              <p:nvPr/>
            </p:nvSpPr>
            <p:spPr>
              <a:xfrm>
                <a:off x="315685" y="456256"/>
                <a:ext cx="11397343" cy="6001643"/>
              </a:xfrm>
              <a:prstGeom prst="rect">
                <a:avLst/>
              </a:prstGeom>
              <a:noFill/>
            </p:spPr>
            <p:txBody>
              <a:bodyPr wrap="square">
                <a:spAutoFit/>
              </a:bodyPr>
              <a:lstStyle/>
              <a:p>
                <a:pPr>
                  <a:buNone/>
                </a:pPr>
                <a:r>
                  <a:rPr lang="en-IN" sz="2400" b="1" dirty="0"/>
                  <a:t>Temporal Difference Learning</a:t>
                </a:r>
                <a:r>
                  <a:rPr lang="en-IN" sz="2400" dirty="0"/>
                  <a:t> has several types based on </a:t>
                </a:r>
                <a:r>
                  <a:rPr lang="en-IN" sz="2400" b="1" dirty="0"/>
                  <a:t>how much future information is used to update the value of a state</a:t>
                </a:r>
                <a:r>
                  <a:rPr lang="en-IN" sz="2400" dirty="0"/>
                  <a:t>.</a:t>
                </a:r>
              </a:p>
              <a:p>
                <a:pPr>
                  <a:buNone/>
                </a:pPr>
                <a:endParaRPr lang="en-IN" sz="2400" b="1" dirty="0"/>
              </a:p>
              <a:p>
                <a:pPr>
                  <a:buNone/>
                </a:pPr>
                <a:r>
                  <a:rPr lang="en-IN" sz="2400" b="1" dirty="0"/>
                  <a:t>Types of Temporal Difference Learning</a:t>
                </a:r>
              </a:p>
              <a:p>
                <a:pPr>
                  <a:buNone/>
                </a:pPr>
                <a:endParaRPr lang="en-IN" sz="2400" b="1" dirty="0"/>
              </a:p>
              <a:p>
                <a:pPr>
                  <a:buNone/>
                </a:pPr>
                <a:r>
                  <a:rPr lang="en-IN" sz="2400" b="1" dirty="0"/>
                  <a:t>1. TD(0) – One-Step Temporal Difference</a:t>
                </a:r>
              </a:p>
              <a:p>
                <a:pPr>
                  <a:buNone/>
                </a:pPr>
                <a:r>
                  <a:rPr lang="en-IN" sz="2400" b="1" dirty="0"/>
                  <a:t>TD(0)</a:t>
                </a:r>
                <a:r>
                  <a:rPr lang="en-IN" sz="2400" dirty="0"/>
                  <a:t> updates the value using </a:t>
                </a:r>
                <a:r>
                  <a:rPr lang="en-IN" sz="2400" b="1" dirty="0"/>
                  <a:t>only the next state</a:t>
                </a:r>
                <a:r>
                  <a:rPr lang="en-IN" sz="2400" dirty="0"/>
                  <a:t>.</a:t>
                </a:r>
              </a:p>
              <a:p>
                <a:pPr>
                  <a:buNone/>
                </a:pPr>
                <a:r>
                  <a:rPr lang="en-IN" sz="2400" b="1" dirty="0"/>
                  <a:t>Formula</a:t>
                </a:r>
                <a:endParaRPr lang="en-IN" sz="2400" dirty="0"/>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𝑉</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𝑡</m:t>
                              </m:r>
                            </m:sub>
                          </m:sSub>
                        </m:e>
                      </m:d>
                      <m:r>
                        <a:rPr lang="ar-AE" sz="2400" i="0">
                          <a:latin typeface="Cambria Math" panose="02040503050406030204" pitchFamily="18" charset="0"/>
                        </a:rPr>
                        <m:t>=</m:t>
                      </m:r>
                      <m:r>
                        <a:rPr lang="ar-AE" sz="2400" i="1">
                          <a:latin typeface="Cambria Math" panose="02040503050406030204" pitchFamily="18" charset="0"/>
                        </a:rPr>
                        <m:t>𝑉</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𝑡</m:t>
                              </m:r>
                            </m:sub>
                          </m:sSub>
                        </m:e>
                      </m:d>
                      <m:r>
                        <a:rPr lang="ar-AE" sz="2400" i="0">
                          <a:latin typeface="Cambria Math" panose="02040503050406030204" pitchFamily="18" charset="0"/>
                        </a:rPr>
                        <m:t>+</m:t>
                      </m:r>
                      <m:r>
                        <a:rPr lang="ar-AE" sz="2400" i="1">
                          <a:latin typeface="Cambria Math" panose="02040503050406030204" pitchFamily="18" charset="0"/>
                        </a:rPr>
                        <m:t>𝛼</m:t>
                      </m:r>
                      <m:d>
                        <m:dPr>
                          <m:begChr m:val="["/>
                          <m:end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i="1">
                                  <a:latin typeface="Cambria Math" panose="02040503050406030204" pitchFamily="18" charset="0"/>
                                </a:rPr>
                                <m:t>𝑡</m:t>
                              </m:r>
                              <m:r>
                                <a:rPr lang="ar-AE" sz="2400" i="0">
                                  <a:latin typeface="Cambria Math" panose="02040503050406030204" pitchFamily="18" charset="0"/>
                                </a:rPr>
                                <m:t>+</m:t>
                              </m:r>
                              <m:r>
                                <a:rPr lang="ar-AE" sz="2400" i="0">
                                  <a:latin typeface="Cambria Math" panose="02040503050406030204" pitchFamily="18" charset="0"/>
                                </a:rPr>
                                <m:t>1</m:t>
                              </m:r>
                            </m:sub>
                          </m:sSub>
                          <m:r>
                            <a:rPr lang="ar-AE" sz="2400" i="0">
                              <a:latin typeface="Cambria Math" panose="02040503050406030204" pitchFamily="18" charset="0"/>
                            </a:rPr>
                            <m:t>+</m:t>
                          </m:r>
                          <m:r>
                            <a:rPr lang="ar-AE" sz="2400" i="1">
                              <a:latin typeface="Cambria Math" panose="02040503050406030204" pitchFamily="18" charset="0"/>
                            </a:rPr>
                            <m:t>𝛾</m:t>
                          </m:r>
                          <m:r>
                            <a:rPr lang="ar-AE" sz="2400" i="1">
                              <a:latin typeface="Cambria Math" panose="02040503050406030204" pitchFamily="18" charset="0"/>
                            </a:rPr>
                            <m:t>𝑉</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𝑡</m:t>
                                  </m:r>
                                  <m:r>
                                    <a:rPr lang="ar-AE" sz="2400" i="0">
                                      <a:latin typeface="Cambria Math" panose="02040503050406030204" pitchFamily="18" charset="0"/>
                                    </a:rPr>
                                    <m:t>+</m:t>
                                  </m:r>
                                  <m:r>
                                    <a:rPr lang="ar-AE" sz="2400" i="0">
                                      <a:latin typeface="Cambria Math" panose="02040503050406030204" pitchFamily="18" charset="0"/>
                                    </a:rPr>
                                    <m:t>1</m:t>
                                  </m:r>
                                </m:sub>
                              </m:sSub>
                            </m:e>
                          </m:d>
                          <m:r>
                            <a:rPr lang="ar-AE" sz="2400" i="0">
                              <a:latin typeface="Cambria Math" panose="02040503050406030204" pitchFamily="18" charset="0"/>
                            </a:rPr>
                            <m:t>−</m:t>
                          </m:r>
                          <m:r>
                            <a:rPr lang="ar-AE" sz="2400" i="1">
                              <a:latin typeface="Cambria Math" panose="02040503050406030204" pitchFamily="18" charset="0"/>
                            </a:rPr>
                            <m:t>𝑉</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𝑡</m:t>
                                  </m:r>
                                </m:sub>
                              </m:sSub>
                            </m:e>
                          </m:d>
                        </m:e>
                      </m:d>
                    </m:oMath>
                  </m:oMathPara>
                </a14:m>
                <a:endParaRPr lang="ar-AE" sz="2400" dirty="0"/>
              </a:p>
              <a:p>
                <a:pPr>
                  <a:buNone/>
                </a:pPr>
                <a:r>
                  <a:rPr lang="en-IN" sz="2400" b="1" dirty="0"/>
                  <a:t>Key Idea</a:t>
                </a:r>
                <a:endParaRPr lang="en-IN" sz="2400" dirty="0"/>
              </a:p>
              <a:p>
                <a:pPr>
                  <a:buFont typeface="Arial" panose="020B0604020202020204" pitchFamily="34" charset="0"/>
                  <a:buChar char="•"/>
                </a:pPr>
                <a:r>
                  <a:rPr lang="en-IN" sz="2400" dirty="0"/>
                  <a:t>Uses </a:t>
                </a:r>
                <a:r>
                  <a:rPr lang="en-IN" sz="2400" b="1" dirty="0"/>
                  <a:t>one step look-ahead</a:t>
                </a:r>
                <a:endParaRPr lang="en-IN" sz="2400" dirty="0"/>
              </a:p>
              <a:p>
                <a:pPr>
                  <a:buFont typeface="Arial" panose="020B0604020202020204" pitchFamily="34" charset="0"/>
                  <a:buChar char="•"/>
                </a:pPr>
                <a:r>
                  <a:rPr lang="en-IN" sz="2400" dirty="0"/>
                  <a:t>Simplest form of TD learning</a:t>
                </a:r>
              </a:p>
              <a:p>
                <a:pPr>
                  <a:buNone/>
                </a:pPr>
                <a:r>
                  <a:rPr lang="en-IN" sz="2400" b="1" dirty="0"/>
                  <a:t>Real-life example</a:t>
                </a:r>
                <a:br>
                  <a:rPr lang="en-IN" sz="2400" dirty="0"/>
                </a:br>
                <a:r>
                  <a:rPr lang="en-IN" sz="2400" dirty="0"/>
                  <a:t>A student solving practice questions:</a:t>
                </a:r>
              </a:p>
              <a:p>
                <a:pPr>
                  <a:buFont typeface="Arial" panose="020B0604020202020204" pitchFamily="34" charset="0"/>
                  <a:buChar char="•"/>
                </a:pPr>
                <a:r>
                  <a:rPr lang="en-IN" sz="2400" dirty="0"/>
                  <a:t>After solving </a:t>
                </a:r>
                <a:r>
                  <a:rPr lang="en-IN" sz="2400" b="1" dirty="0"/>
                  <a:t>one question</a:t>
                </a:r>
                <a:r>
                  <a:rPr lang="en-IN" sz="2400" dirty="0"/>
                  <a:t>, they immediately adjust their understanding based on the result.</a:t>
                </a:r>
              </a:p>
            </p:txBody>
          </p:sp>
        </mc:Choice>
        <mc:Fallback>
          <p:sp>
            <p:nvSpPr>
              <p:cNvPr id="3" name="TextBox 2">
                <a:extLst>
                  <a:ext uri="{FF2B5EF4-FFF2-40B4-BE49-F238E27FC236}">
                    <a16:creationId xmlns:a16="http://schemas.microsoft.com/office/drawing/2014/main" id="{ED5DEB6C-DF97-6AA3-4450-7F306D2874F4}"/>
                  </a:ext>
                </a:extLst>
              </p:cNvPr>
              <p:cNvSpPr txBox="1">
                <a:spLocks noRot="1" noChangeAspect="1" noMove="1" noResize="1" noEditPoints="1" noAdjustHandles="1" noChangeArrowheads="1" noChangeShapeType="1" noTextEdit="1"/>
              </p:cNvSpPr>
              <p:nvPr/>
            </p:nvSpPr>
            <p:spPr>
              <a:xfrm>
                <a:off x="315685" y="456256"/>
                <a:ext cx="11397343" cy="6001643"/>
              </a:xfrm>
              <a:prstGeom prst="rect">
                <a:avLst/>
              </a:prstGeom>
              <a:blipFill>
                <a:blip r:embed="rId2"/>
                <a:stretch>
                  <a:fillRect l="-856" t="-813" r="-1070" b="-1423"/>
                </a:stretch>
              </a:blipFill>
            </p:spPr>
            <p:txBody>
              <a:bodyPr/>
              <a:lstStyle/>
              <a:p>
                <a:r>
                  <a:rPr lang="en-IN">
                    <a:noFill/>
                  </a:rPr>
                  <a:t> </a:t>
                </a:r>
              </a:p>
            </p:txBody>
          </p:sp>
        </mc:Fallback>
      </mc:AlternateContent>
    </p:spTree>
    <p:extLst>
      <p:ext uri="{BB962C8B-B14F-4D97-AF65-F5344CB8AC3E}">
        <p14:creationId xmlns:p14="http://schemas.microsoft.com/office/powerpoint/2010/main" val="2983722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9BDBC9B-100D-0ED7-CD5D-E9D4AB5D122E}"/>
              </a:ext>
            </a:extLst>
          </p:cNvPr>
          <p:cNvGraphicFramePr>
            <a:graphicFrameLocks noGrp="1"/>
          </p:cNvGraphicFramePr>
          <p:nvPr>
            <p:extLst>
              <p:ext uri="{D42A27DB-BD31-4B8C-83A1-F6EECF244321}">
                <p14:modId xmlns:p14="http://schemas.microsoft.com/office/powerpoint/2010/main" val="1595999755"/>
              </p:ext>
            </p:extLst>
          </p:nvPr>
        </p:nvGraphicFramePr>
        <p:xfrm>
          <a:off x="609600" y="1234440"/>
          <a:ext cx="10515600" cy="2743200"/>
        </p:xfrm>
        <a:graphic>
          <a:graphicData uri="http://schemas.openxmlformats.org/drawingml/2006/table">
            <a:tbl>
              <a:tblPr/>
              <a:tblGrid>
                <a:gridCol w="5257800">
                  <a:extLst>
                    <a:ext uri="{9D8B030D-6E8A-4147-A177-3AD203B41FA5}">
                      <a16:colId xmlns:a16="http://schemas.microsoft.com/office/drawing/2014/main" val="2500182347"/>
                    </a:ext>
                  </a:extLst>
                </a:gridCol>
                <a:gridCol w="5257800">
                  <a:extLst>
                    <a:ext uri="{9D8B030D-6E8A-4147-A177-3AD203B41FA5}">
                      <a16:colId xmlns:a16="http://schemas.microsoft.com/office/drawing/2014/main" val="44743613"/>
                    </a:ext>
                  </a:extLst>
                </a:gridCol>
              </a:tblGrid>
              <a:tr h="0">
                <a:tc>
                  <a:txBody>
                    <a:bodyPr/>
                    <a:lstStyle/>
                    <a:p>
                      <a:pPr>
                        <a:buNone/>
                      </a:pPr>
                      <a:r>
                        <a:rPr lang="en-IN" sz="2400"/>
                        <a:t>Symbol</a:t>
                      </a:r>
                    </a:p>
                  </a:txBody>
                  <a:tcPr anchor="ctr">
                    <a:lnL>
                      <a:noFill/>
                    </a:lnL>
                    <a:lnR>
                      <a:noFill/>
                    </a:lnR>
                    <a:lnT>
                      <a:noFill/>
                    </a:lnT>
                    <a:lnB>
                      <a:noFill/>
                    </a:lnB>
                    <a:noFill/>
                  </a:tcPr>
                </a:tc>
                <a:tc>
                  <a:txBody>
                    <a:bodyPr/>
                    <a:lstStyle/>
                    <a:p>
                      <a:pPr>
                        <a:buNone/>
                      </a:pPr>
                      <a:r>
                        <a:rPr lang="en-IN" sz="2400"/>
                        <a:t>Meaning</a:t>
                      </a:r>
                    </a:p>
                  </a:txBody>
                  <a:tcPr anchor="ctr">
                    <a:lnL>
                      <a:noFill/>
                    </a:lnL>
                    <a:lnR>
                      <a:noFill/>
                    </a:lnR>
                    <a:lnT>
                      <a:noFill/>
                    </a:lnT>
                    <a:lnB>
                      <a:noFill/>
                    </a:lnB>
                    <a:noFill/>
                  </a:tcPr>
                </a:tc>
                <a:extLst>
                  <a:ext uri="{0D108BD9-81ED-4DB2-BD59-A6C34878D82A}">
                    <a16:rowId xmlns:a16="http://schemas.microsoft.com/office/drawing/2014/main" val="1078336378"/>
                  </a:ext>
                </a:extLst>
              </a:tr>
              <a:tr h="0">
                <a:tc>
                  <a:txBody>
                    <a:bodyPr/>
                    <a:lstStyle/>
                    <a:p>
                      <a:pPr>
                        <a:buNone/>
                      </a:pPr>
                      <a:r>
                        <a:rPr lang="en-IN" sz="2400" b="1"/>
                        <a:t>V(St)</a:t>
                      </a:r>
                      <a:endParaRPr lang="en-IN" sz="2400"/>
                    </a:p>
                  </a:txBody>
                  <a:tcPr anchor="ctr">
                    <a:lnL>
                      <a:noFill/>
                    </a:lnL>
                    <a:lnR>
                      <a:noFill/>
                    </a:lnR>
                    <a:lnT>
                      <a:noFill/>
                    </a:lnT>
                    <a:lnB>
                      <a:noFill/>
                    </a:lnB>
                    <a:noFill/>
                  </a:tcPr>
                </a:tc>
                <a:tc>
                  <a:txBody>
                    <a:bodyPr/>
                    <a:lstStyle/>
                    <a:p>
                      <a:pPr>
                        <a:buNone/>
                      </a:pPr>
                      <a:r>
                        <a:rPr lang="en-IN" sz="2400"/>
                        <a:t>Value of current state</a:t>
                      </a:r>
                    </a:p>
                  </a:txBody>
                  <a:tcPr anchor="ctr">
                    <a:lnL>
                      <a:noFill/>
                    </a:lnL>
                    <a:lnR>
                      <a:noFill/>
                    </a:lnR>
                    <a:lnT>
                      <a:noFill/>
                    </a:lnT>
                    <a:lnB>
                      <a:noFill/>
                    </a:lnB>
                    <a:noFill/>
                  </a:tcPr>
                </a:tc>
                <a:extLst>
                  <a:ext uri="{0D108BD9-81ED-4DB2-BD59-A6C34878D82A}">
                    <a16:rowId xmlns:a16="http://schemas.microsoft.com/office/drawing/2014/main" val="2912210832"/>
                  </a:ext>
                </a:extLst>
              </a:tr>
              <a:tr h="0">
                <a:tc>
                  <a:txBody>
                    <a:bodyPr/>
                    <a:lstStyle/>
                    <a:p>
                      <a:pPr>
                        <a:buNone/>
                      </a:pPr>
                      <a:r>
                        <a:rPr lang="el-GR" sz="2400" b="1"/>
                        <a:t>α (</a:t>
                      </a:r>
                      <a:r>
                        <a:rPr lang="en-IN" sz="2400" b="1"/>
                        <a:t>alpha)</a:t>
                      </a:r>
                      <a:endParaRPr lang="en-IN" sz="2400"/>
                    </a:p>
                  </a:txBody>
                  <a:tcPr anchor="ctr">
                    <a:lnL>
                      <a:noFill/>
                    </a:lnL>
                    <a:lnR>
                      <a:noFill/>
                    </a:lnR>
                    <a:lnT>
                      <a:noFill/>
                    </a:lnT>
                    <a:lnB>
                      <a:noFill/>
                    </a:lnB>
                    <a:noFill/>
                  </a:tcPr>
                </a:tc>
                <a:tc>
                  <a:txBody>
                    <a:bodyPr/>
                    <a:lstStyle/>
                    <a:p>
                      <a:pPr>
                        <a:buNone/>
                      </a:pPr>
                      <a:r>
                        <a:rPr lang="en-IN" sz="2400"/>
                        <a:t>Learning rate</a:t>
                      </a:r>
                    </a:p>
                  </a:txBody>
                  <a:tcPr anchor="ctr">
                    <a:lnL>
                      <a:noFill/>
                    </a:lnL>
                    <a:lnR>
                      <a:noFill/>
                    </a:lnR>
                    <a:lnT>
                      <a:noFill/>
                    </a:lnT>
                    <a:lnB>
                      <a:noFill/>
                    </a:lnB>
                    <a:noFill/>
                  </a:tcPr>
                </a:tc>
                <a:extLst>
                  <a:ext uri="{0D108BD9-81ED-4DB2-BD59-A6C34878D82A}">
                    <a16:rowId xmlns:a16="http://schemas.microsoft.com/office/drawing/2014/main" val="2500612604"/>
                  </a:ext>
                </a:extLst>
              </a:tr>
              <a:tr h="0">
                <a:tc>
                  <a:txBody>
                    <a:bodyPr/>
                    <a:lstStyle/>
                    <a:p>
                      <a:pPr>
                        <a:buNone/>
                      </a:pPr>
                      <a:r>
                        <a:rPr lang="en-IN" sz="2400" b="1"/>
                        <a:t>R(t+1)</a:t>
                      </a:r>
                      <a:endParaRPr lang="en-IN" sz="2400"/>
                    </a:p>
                  </a:txBody>
                  <a:tcPr anchor="ctr">
                    <a:lnL>
                      <a:noFill/>
                    </a:lnL>
                    <a:lnR>
                      <a:noFill/>
                    </a:lnR>
                    <a:lnT>
                      <a:noFill/>
                    </a:lnT>
                    <a:lnB>
                      <a:noFill/>
                    </a:lnB>
                    <a:noFill/>
                  </a:tcPr>
                </a:tc>
                <a:tc>
                  <a:txBody>
                    <a:bodyPr/>
                    <a:lstStyle/>
                    <a:p>
                      <a:pPr>
                        <a:buNone/>
                      </a:pPr>
                      <a:r>
                        <a:rPr lang="en-IN" sz="2400"/>
                        <a:t>Reward received after action</a:t>
                      </a:r>
                    </a:p>
                  </a:txBody>
                  <a:tcPr anchor="ctr">
                    <a:lnL>
                      <a:noFill/>
                    </a:lnL>
                    <a:lnR>
                      <a:noFill/>
                    </a:lnR>
                    <a:lnT>
                      <a:noFill/>
                    </a:lnT>
                    <a:lnB>
                      <a:noFill/>
                    </a:lnB>
                    <a:noFill/>
                  </a:tcPr>
                </a:tc>
                <a:extLst>
                  <a:ext uri="{0D108BD9-81ED-4DB2-BD59-A6C34878D82A}">
                    <a16:rowId xmlns:a16="http://schemas.microsoft.com/office/drawing/2014/main" val="2031016371"/>
                  </a:ext>
                </a:extLst>
              </a:tr>
              <a:tr h="0">
                <a:tc>
                  <a:txBody>
                    <a:bodyPr/>
                    <a:lstStyle/>
                    <a:p>
                      <a:pPr>
                        <a:buNone/>
                      </a:pPr>
                      <a:r>
                        <a:rPr lang="el-GR" sz="2400" b="1"/>
                        <a:t>γ (</a:t>
                      </a:r>
                      <a:r>
                        <a:rPr lang="en-IN" sz="2400" b="1"/>
                        <a:t>gamma)</a:t>
                      </a:r>
                      <a:endParaRPr lang="en-IN" sz="2400"/>
                    </a:p>
                  </a:txBody>
                  <a:tcPr anchor="ctr">
                    <a:lnL>
                      <a:noFill/>
                    </a:lnL>
                    <a:lnR>
                      <a:noFill/>
                    </a:lnR>
                    <a:lnT>
                      <a:noFill/>
                    </a:lnT>
                    <a:lnB>
                      <a:noFill/>
                    </a:lnB>
                    <a:noFill/>
                  </a:tcPr>
                </a:tc>
                <a:tc>
                  <a:txBody>
                    <a:bodyPr/>
                    <a:lstStyle/>
                    <a:p>
                      <a:pPr>
                        <a:buNone/>
                      </a:pPr>
                      <a:r>
                        <a:rPr lang="en-US" sz="2400" dirty="0"/>
                        <a:t>Discount factor for future reward</a:t>
                      </a:r>
                    </a:p>
                  </a:txBody>
                  <a:tcPr anchor="ctr">
                    <a:lnL>
                      <a:noFill/>
                    </a:lnL>
                    <a:lnR>
                      <a:noFill/>
                    </a:lnR>
                    <a:lnT>
                      <a:noFill/>
                    </a:lnT>
                    <a:lnB>
                      <a:noFill/>
                    </a:lnB>
                    <a:noFill/>
                  </a:tcPr>
                </a:tc>
                <a:extLst>
                  <a:ext uri="{0D108BD9-81ED-4DB2-BD59-A6C34878D82A}">
                    <a16:rowId xmlns:a16="http://schemas.microsoft.com/office/drawing/2014/main" val="479425374"/>
                  </a:ext>
                </a:extLst>
              </a:tr>
              <a:tr h="0">
                <a:tc>
                  <a:txBody>
                    <a:bodyPr/>
                    <a:lstStyle/>
                    <a:p>
                      <a:pPr>
                        <a:buNone/>
                      </a:pPr>
                      <a:r>
                        <a:rPr lang="en-IN" sz="2400" b="1"/>
                        <a:t>V(S(t+1))</a:t>
                      </a:r>
                      <a:endParaRPr lang="en-IN" sz="2400"/>
                    </a:p>
                  </a:txBody>
                  <a:tcPr anchor="ctr">
                    <a:lnL>
                      <a:noFill/>
                    </a:lnL>
                    <a:lnR>
                      <a:noFill/>
                    </a:lnR>
                    <a:lnT>
                      <a:noFill/>
                    </a:lnT>
                    <a:lnB>
                      <a:noFill/>
                    </a:lnB>
                    <a:noFill/>
                  </a:tcPr>
                </a:tc>
                <a:tc>
                  <a:txBody>
                    <a:bodyPr/>
                    <a:lstStyle/>
                    <a:p>
                      <a:pPr>
                        <a:buNone/>
                      </a:pPr>
                      <a:r>
                        <a:rPr lang="en-IN" sz="2400" dirty="0"/>
                        <a:t>Value of next state</a:t>
                      </a:r>
                    </a:p>
                  </a:txBody>
                  <a:tcPr anchor="ctr">
                    <a:lnL>
                      <a:noFill/>
                    </a:lnL>
                    <a:lnR>
                      <a:noFill/>
                    </a:lnR>
                    <a:lnT>
                      <a:noFill/>
                    </a:lnT>
                    <a:lnB>
                      <a:noFill/>
                    </a:lnB>
                    <a:noFill/>
                  </a:tcPr>
                </a:tc>
                <a:extLst>
                  <a:ext uri="{0D108BD9-81ED-4DB2-BD59-A6C34878D82A}">
                    <a16:rowId xmlns:a16="http://schemas.microsoft.com/office/drawing/2014/main" val="1113384998"/>
                  </a:ext>
                </a:extLst>
              </a:tr>
            </a:tbl>
          </a:graphicData>
        </a:graphic>
      </p:graphicFrame>
    </p:spTree>
    <p:extLst>
      <p:ext uri="{BB962C8B-B14F-4D97-AF65-F5344CB8AC3E}">
        <p14:creationId xmlns:p14="http://schemas.microsoft.com/office/powerpoint/2010/main" val="958569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48C8B6-D3A7-81AD-4E4E-8860F66A2034}"/>
              </a:ext>
            </a:extLst>
          </p:cNvPr>
          <p:cNvSpPr txBox="1"/>
          <p:nvPr/>
        </p:nvSpPr>
        <p:spPr>
          <a:xfrm>
            <a:off x="185057" y="1720840"/>
            <a:ext cx="8958943" cy="4154984"/>
          </a:xfrm>
          <a:prstGeom prst="rect">
            <a:avLst/>
          </a:prstGeom>
          <a:noFill/>
        </p:spPr>
        <p:txBody>
          <a:bodyPr wrap="square">
            <a:spAutoFit/>
          </a:bodyPr>
          <a:lstStyle/>
          <a:p>
            <a:pPr>
              <a:buNone/>
            </a:pPr>
            <a:r>
              <a:rPr lang="en-US" sz="2400" b="1" dirty="0"/>
              <a:t>Real Life Example</a:t>
            </a:r>
          </a:p>
          <a:p>
            <a:pPr>
              <a:buNone/>
            </a:pPr>
            <a:r>
              <a:rPr lang="en-US" sz="2400" b="1" dirty="0"/>
              <a:t>Example: Learning to Drive </a:t>
            </a:r>
          </a:p>
          <a:p>
            <a:pPr>
              <a:buNone/>
            </a:pPr>
            <a:r>
              <a:rPr lang="en-US" sz="2400" dirty="0"/>
              <a:t>Suppose a learner driver estimates:</a:t>
            </a:r>
          </a:p>
          <a:p>
            <a:pPr>
              <a:buFont typeface="Arial" panose="020B0604020202020204" pitchFamily="34" charset="0"/>
              <a:buChar char="•"/>
            </a:pPr>
            <a:r>
              <a:rPr lang="en-US" sz="2400" dirty="0"/>
              <a:t>Smooth driving on a road = </a:t>
            </a:r>
            <a:r>
              <a:rPr lang="en-US" sz="2400" b="1" dirty="0"/>
              <a:t>value 5</a:t>
            </a:r>
            <a:endParaRPr lang="en-US" sz="2400" dirty="0"/>
          </a:p>
          <a:p>
            <a:pPr>
              <a:buNone/>
            </a:pPr>
            <a:r>
              <a:rPr lang="en-US" sz="2400" dirty="0"/>
              <a:t>While driving:</a:t>
            </a:r>
          </a:p>
          <a:p>
            <a:pPr>
              <a:buFont typeface="+mj-lt"/>
              <a:buAutoNum type="arabicPeriod"/>
            </a:pPr>
            <a:r>
              <a:rPr lang="en-US" sz="2400" dirty="0"/>
              <a:t>Driver goes too fast on a turn.</a:t>
            </a:r>
          </a:p>
          <a:p>
            <a:pPr>
              <a:buFont typeface="+mj-lt"/>
              <a:buAutoNum type="arabicPeriod"/>
            </a:pPr>
            <a:r>
              <a:rPr lang="en-US" sz="2400" dirty="0"/>
              <a:t>Car skids slightly (negative reward).</a:t>
            </a:r>
          </a:p>
          <a:p>
            <a:pPr>
              <a:buFont typeface="+mj-lt"/>
              <a:buAutoNum type="arabicPeriod"/>
            </a:pPr>
            <a:r>
              <a:rPr lang="en-US" sz="2400" dirty="0"/>
              <a:t>Driver updates expectation immediately.</a:t>
            </a:r>
          </a:p>
          <a:p>
            <a:pPr>
              <a:buNone/>
            </a:pPr>
            <a:r>
              <a:rPr lang="en-US" sz="2400" dirty="0"/>
              <a:t>Next time:</a:t>
            </a:r>
          </a:p>
          <a:p>
            <a:pPr>
              <a:buFont typeface="Arial" panose="020B0604020202020204" pitchFamily="34" charset="0"/>
              <a:buChar char="•"/>
            </a:pPr>
            <a:r>
              <a:rPr lang="en-US" sz="2400" dirty="0"/>
              <a:t>Driver slows down earlier.</a:t>
            </a:r>
          </a:p>
          <a:p>
            <a:pPr>
              <a:buNone/>
            </a:pPr>
            <a:r>
              <a:rPr lang="en-US" sz="2400" dirty="0"/>
              <a:t>This is </a:t>
            </a:r>
            <a:r>
              <a:rPr lang="en-US" sz="2400" b="1" dirty="0"/>
              <a:t>TD(0)</a:t>
            </a:r>
            <a:r>
              <a:rPr lang="en-US" sz="2400" dirty="0"/>
              <a:t> because learning happens </a:t>
            </a:r>
            <a:r>
              <a:rPr lang="en-US" sz="2400" b="1" dirty="0"/>
              <a:t>after one step experience</a:t>
            </a:r>
            <a:r>
              <a:rPr lang="en-US" sz="2400" dirty="0"/>
              <a:t>.</a:t>
            </a:r>
          </a:p>
        </p:txBody>
      </p:sp>
    </p:spTree>
    <p:extLst>
      <p:ext uri="{BB962C8B-B14F-4D97-AF65-F5344CB8AC3E}">
        <p14:creationId xmlns:p14="http://schemas.microsoft.com/office/powerpoint/2010/main" val="2665307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B709FEA-52D3-A600-23C4-35FA1E8A8AB2}"/>
                  </a:ext>
                </a:extLst>
              </p:cNvPr>
              <p:cNvSpPr txBox="1"/>
              <p:nvPr/>
            </p:nvSpPr>
            <p:spPr>
              <a:xfrm>
                <a:off x="250371" y="741126"/>
                <a:ext cx="11691257" cy="4893647"/>
              </a:xfrm>
              <a:prstGeom prst="rect">
                <a:avLst/>
              </a:prstGeom>
              <a:noFill/>
            </p:spPr>
            <p:txBody>
              <a:bodyPr wrap="square">
                <a:spAutoFit/>
              </a:bodyPr>
              <a:lstStyle/>
              <a:p>
                <a:pPr>
                  <a:buNone/>
                </a:pPr>
                <a:r>
                  <a:rPr lang="en-US" sz="2400" b="1" dirty="0"/>
                  <a:t>2. TD(λ) – Multi-Step Temporal Difference</a:t>
                </a:r>
              </a:p>
              <a:p>
                <a:pPr>
                  <a:buNone/>
                </a:pPr>
                <a:endParaRPr lang="en-US" sz="2400" dirty="0"/>
              </a:p>
              <a:p>
                <a:pPr>
                  <a:buNone/>
                </a:pPr>
                <a:r>
                  <a:rPr lang="en-US" sz="2400" dirty="0"/>
                  <a:t>TD(λ) combines </a:t>
                </a:r>
                <a:r>
                  <a:rPr lang="en-US" sz="2400" b="1" dirty="0"/>
                  <a:t>information from multiple future steps</a:t>
                </a:r>
                <a:r>
                  <a:rPr lang="en-US" sz="2400" dirty="0"/>
                  <a:t>.</a:t>
                </a:r>
              </a:p>
              <a:p>
                <a:pPr>
                  <a:buFont typeface="Arial" panose="020B0604020202020204" pitchFamily="34" charset="0"/>
                  <a:buChar char="•"/>
                </a:pPr>
                <a:r>
                  <a:rPr lang="en-US" sz="2400" b="1" dirty="0"/>
                  <a:t>λ (lambda)</a:t>
                </a:r>
                <a:r>
                  <a:rPr lang="en-US" sz="2400" dirty="0"/>
                  <a:t> decides how much future information is used.</a:t>
                </a:r>
              </a:p>
              <a:p>
                <a:pPr>
                  <a:buFont typeface="Arial" panose="020B0604020202020204" pitchFamily="34" charset="0"/>
                  <a:buChar char="•"/>
                </a:pPr>
                <a:r>
                  <a:rPr lang="en-US" sz="2400" dirty="0"/>
                  <a:t>It mixes </a:t>
                </a:r>
                <a:r>
                  <a:rPr lang="en-US" sz="2400" b="1" dirty="0"/>
                  <a:t>TD(0)</a:t>
                </a:r>
                <a:r>
                  <a:rPr lang="en-US" sz="2400" dirty="0"/>
                  <a:t> and </a:t>
                </a:r>
                <a:r>
                  <a:rPr lang="en-US" sz="2400" b="1" dirty="0"/>
                  <a:t>Monte Carlo learning</a:t>
                </a:r>
                <a:r>
                  <a:rPr lang="en-US" sz="2400" dirty="0"/>
                  <a:t>.</a:t>
                </a:r>
              </a:p>
              <a:p>
                <a:pPr>
                  <a:buNone/>
                </a:pPr>
                <a:r>
                  <a:rPr lang="en-US" sz="2400" b="1" dirty="0"/>
                  <a:t>Range</a:t>
                </a:r>
                <a:endParaRPr lang="en-US" sz="2400" dirty="0"/>
              </a:p>
              <a:p>
                <a:pPr>
                  <a:buNone/>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rPr>
                        <m:t>0</m:t>
                      </m:r>
                      <m:r>
                        <a:rPr lang="en-US" sz="2400" i="0">
                          <a:latin typeface="Cambria Math" panose="02040503050406030204" pitchFamily="18" charset="0"/>
                        </a:rPr>
                        <m:t>≤</m:t>
                      </m:r>
                      <m:r>
                        <a:rPr lang="en-US" sz="2400" i="1">
                          <a:latin typeface="Cambria Math" panose="02040503050406030204" pitchFamily="18" charset="0"/>
                        </a:rPr>
                        <m:t>𝜆</m:t>
                      </m:r>
                      <m:r>
                        <a:rPr lang="en-US" sz="2400" i="0">
                          <a:latin typeface="Cambria Math" panose="02040503050406030204" pitchFamily="18" charset="0"/>
                        </a:rPr>
                        <m:t>≤</m:t>
                      </m:r>
                      <m:r>
                        <a:rPr lang="en-US" sz="2400" i="0">
                          <a:latin typeface="Cambria Math" panose="02040503050406030204" pitchFamily="18" charset="0"/>
                        </a:rPr>
                        <m:t>1</m:t>
                      </m:r>
                    </m:oMath>
                  </m:oMathPara>
                </a14:m>
                <a:endParaRPr lang="en-US" sz="2400" dirty="0"/>
              </a:p>
              <a:p>
                <a:pPr>
                  <a:buFont typeface="Arial" panose="020B0604020202020204" pitchFamily="34" charset="0"/>
                  <a:buChar char="•"/>
                </a:pPr>
                <a:r>
                  <a:rPr lang="en-US" sz="2400" b="1" dirty="0"/>
                  <a:t>λ = 0 → TD(0)</a:t>
                </a:r>
                <a:endParaRPr lang="en-US" sz="2400" dirty="0"/>
              </a:p>
              <a:p>
                <a:pPr>
                  <a:buFont typeface="Arial" panose="020B0604020202020204" pitchFamily="34" charset="0"/>
                  <a:buChar char="•"/>
                </a:pPr>
                <a:r>
                  <a:rPr lang="en-US" sz="2400" b="1" dirty="0"/>
                  <a:t>λ = 1 → similar to Monte Carlo</a:t>
                </a:r>
                <a:endParaRPr lang="en-US" sz="2400" dirty="0"/>
              </a:p>
              <a:p>
                <a:pPr>
                  <a:buNone/>
                </a:pPr>
                <a:r>
                  <a:rPr lang="en-US" sz="2400" b="1" dirty="0"/>
                  <a:t>Real-life example</a:t>
                </a:r>
                <a:br>
                  <a:rPr lang="en-US" sz="2400" dirty="0"/>
                </a:br>
                <a:r>
                  <a:rPr lang="en-US" sz="2400" dirty="0"/>
                  <a:t>Learning to play cricket:</a:t>
                </a:r>
              </a:p>
              <a:p>
                <a:pPr>
                  <a:buFont typeface="Arial" panose="020B0604020202020204" pitchFamily="34" charset="0"/>
                  <a:buChar char="•"/>
                </a:pPr>
                <a:r>
                  <a:rPr lang="en-US" sz="2400" dirty="0"/>
                  <a:t>A player evaluates performance not just from the </a:t>
                </a:r>
                <a:r>
                  <a:rPr lang="en-US" sz="2400" b="1" dirty="0"/>
                  <a:t>next ball</a:t>
                </a:r>
                <a:r>
                  <a:rPr lang="en-US" sz="2400" dirty="0"/>
                  <a:t>, but from </a:t>
                </a:r>
                <a:r>
                  <a:rPr lang="en-US" sz="2400" b="1" dirty="0"/>
                  <a:t>several balls in the over</a:t>
                </a:r>
                <a:r>
                  <a:rPr lang="en-US" sz="2400" dirty="0"/>
                  <a:t>.</a:t>
                </a:r>
              </a:p>
            </p:txBody>
          </p:sp>
        </mc:Choice>
        <mc:Fallback>
          <p:sp>
            <p:nvSpPr>
              <p:cNvPr id="3" name="TextBox 2">
                <a:extLst>
                  <a:ext uri="{FF2B5EF4-FFF2-40B4-BE49-F238E27FC236}">
                    <a16:creationId xmlns:a16="http://schemas.microsoft.com/office/drawing/2014/main" id="{2B709FEA-52D3-A600-23C4-35FA1E8A8AB2}"/>
                  </a:ext>
                </a:extLst>
              </p:cNvPr>
              <p:cNvSpPr txBox="1">
                <a:spLocks noRot="1" noChangeAspect="1" noMove="1" noResize="1" noEditPoints="1" noAdjustHandles="1" noChangeArrowheads="1" noChangeShapeType="1" noTextEdit="1"/>
              </p:cNvSpPr>
              <p:nvPr/>
            </p:nvSpPr>
            <p:spPr>
              <a:xfrm>
                <a:off x="250371" y="741126"/>
                <a:ext cx="11691257" cy="4893647"/>
              </a:xfrm>
              <a:prstGeom prst="rect">
                <a:avLst/>
              </a:prstGeom>
              <a:blipFill>
                <a:blip r:embed="rId2"/>
                <a:stretch>
                  <a:fillRect l="-782" t="-998" b="-1995"/>
                </a:stretch>
              </a:blipFill>
            </p:spPr>
            <p:txBody>
              <a:bodyPr/>
              <a:lstStyle/>
              <a:p>
                <a:r>
                  <a:rPr lang="en-IN">
                    <a:noFill/>
                  </a:rPr>
                  <a:t> </a:t>
                </a:r>
              </a:p>
            </p:txBody>
          </p:sp>
        </mc:Fallback>
      </mc:AlternateContent>
    </p:spTree>
    <p:extLst>
      <p:ext uri="{BB962C8B-B14F-4D97-AF65-F5344CB8AC3E}">
        <p14:creationId xmlns:p14="http://schemas.microsoft.com/office/powerpoint/2010/main" val="1295150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DF2B966-E938-F36B-8BCD-9A818FF94B07}"/>
                  </a:ext>
                </a:extLst>
              </p:cNvPr>
              <p:cNvSpPr txBox="1"/>
              <p:nvPr/>
            </p:nvSpPr>
            <p:spPr>
              <a:xfrm>
                <a:off x="195943" y="742967"/>
                <a:ext cx="11582400" cy="3046988"/>
              </a:xfrm>
              <a:prstGeom prst="rect">
                <a:avLst/>
              </a:prstGeom>
              <a:noFill/>
            </p:spPr>
            <p:txBody>
              <a:bodyPr wrap="square">
                <a:spAutoFit/>
              </a:bodyPr>
              <a:lstStyle/>
              <a:p>
                <a:pPr>
                  <a:buNone/>
                </a:pPr>
                <a:r>
                  <a:rPr lang="en-IN" sz="2400" b="1" dirty="0"/>
                  <a:t>3. SARSA (State–Action–Reward–State–Action)</a:t>
                </a:r>
              </a:p>
              <a:p>
                <a:pPr>
                  <a:buNone/>
                </a:pPr>
                <a:r>
                  <a:rPr lang="en-IN" sz="2400" dirty="0"/>
                  <a:t>SARSA is a TD method used for </a:t>
                </a:r>
                <a:r>
                  <a:rPr lang="en-IN" sz="2400" b="1" dirty="0"/>
                  <a:t>learning optimal actions</a:t>
                </a:r>
                <a:r>
                  <a:rPr lang="en-IN" sz="2400" dirty="0"/>
                  <a:t>.</a:t>
                </a:r>
              </a:p>
              <a:p>
                <a:pPr>
                  <a:buNone/>
                </a:pPr>
                <a:r>
                  <a:rPr lang="en-IN" sz="2400" dirty="0"/>
                  <a:t>Full form:</a:t>
                </a:r>
                <a:br>
                  <a:rPr lang="en-IN" sz="2400" dirty="0"/>
                </a:br>
                <a:r>
                  <a:rPr lang="en-IN" sz="2400" b="1" dirty="0"/>
                  <a:t>State → Action → Reward → State → Action</a:t>
                </a:r>
                <a:endParaRPr lang="en-IN" sz="2400" dirty="0"/>
              </a:p>
              <a:p>
                <a:pPr>
                  <a:buNone/>
                </a:pPr>
                <a:r>
                  <a:rPr lang="en-IN" sz="2400" dirty="0"/>
                  <a:t>Update rule:</a:t>
                </a:r>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𝑄</m:t>
                      </m:r>
                      <m:d>
                        <m:dPr>
                          <m:sepChr m:val=","/>
                          <m:ctrlPr>
                            <a:rPr lang="ar-AE" sz="2400" i="1">
                              <a:latin typeface="Cambria Math" panose="02040503050406030204" pitchFamily="18" charset="0"/>
                            </a:rPr>
                          </m:ctrlPr>
                        </m:dPr>
                        <m:e>
                          <m:r>
                            <a:rPr lang="ar-AE" sz="2400" i="1">
                              <a:latin typeface="Cambria Math" panose="02040503050406030204" pitchFamily="18" charset="0"/>
                            </a:rPr>
                            <m:t>𝑠</m:t>
                          </m:r>
                        </m:e>
                        <m:e>
                          <m:r>
                            <a:rPr lang="ar-AE" sz="2400" i="1">
                              <a:latin typeface="Cambria Math" panose="02040503050406030204" pitchFamily="18" charset="0"/>
                            </a:rPr>
                            <m:t>𝑎</m:t>
                          </m:r>
                        </m:e>
                      </m:d>
                      <m:r>
                        <a:rPr lang="ar-AE" sz="2400" i="0">
                          <a:latin typeface="Cambria Math" panose="02040503050406030204" pitchFamily="18" charset="0"/>
                        </a:rPr>
                        <m:t>=</m:t>
                      </m:r>
                      <m:r>
                        <a:rPr lang="ar-AE" sz="2400" i="1">
                          <a:latin typeface="Cambria Math" panose="02040503050406030204" pitchFamily="18" charset="0"/>
                        </a:rPr>
                        <m:t>𝑄</m:t>
                      </m:r>
                      <m:d>
                        <m:dPr>
                          <m:sepChr m:val=","/>
                          <m:ctrlPr>
                            <a:rPr lang="ar-AE" sz="2400" i="1">
                              <a:latin typeface="Cambria Math" panose="02040503050406030204" pitchFamily="18" charset="0"/>
                            </a:rPr>
                          </m:ctrlPr>
                        </m:dPr>
                        <m:e>
                          <m:r>
                            <a:rPr lang="ar-AE" sz="2400" i="1">
                              <a:latin typeface="Cambria Math" panose="02040503050406030204" pitchFamily="18" charset="0"/>
                            </a:rPr>
                            <m:t>𝑠</m:t>
                          </m:r>
                        </m:e>
                        <m:e>
                          <m:r>
                            <a:rPr lang="ar-AE" sz="2400" i="1">
                              <a:latin typeface="Cambria Math" panose="02040503050406030204" pitchFamily="18" charset="0"/>
                            </a:rPr>
                            <m:t>𝑎</m:t>
                          </m:r>
                        </m:e>
                      </m:d>
                      <m:r>
                        <a:rPr lang="ar-AE" sz="2400" i="0">
                          <a:latin typeface="Cambria Math" panose="02040503050406030204" pitchFamily="18" charset="0"/>
                        </a:rPr>
                        <m:t>+</m:t>
                      </m:r>
                      <m:r>
                        <a:rPr lang="ar-AE" sz="2400" i="1">
                          <a:latin typeface="Cambria Math" panose="02040503050406030204" pitchFamily="18" charset="0"/>
                        </a:rPr>
                        <m:t>𝛼</m:t>
                      </m:r>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𝑟</m:t>
                          </m:r>
                          <m:r>
                            <a:rPr lang="ar-AE" sz="2400" i="0">
                              <a:latin typeface="Cambria Math" panose="02040503050406030204" pitchFamily="18" charset="0"/>
                            </a:rPr>
                            <m:t>+</m:t>
                          </m:r>
                          <m:r>
                            <a:rPr lang="ar-AE" sz="2400" i="1">
                              <a:latin typeface="Cambria Math" panose="02040503050406030204" pitchFamily="18" charset="0"/>
                            </a:rPr>
                            <m:t>𝛾</m:t>
                          </m:r>
                          <m:r>
                            <a:rPr lang="ar-AE" sz="2400" i="1">
                              <a:latin typeface="Cambria Math" panose="02040503050406030204" pitchFamily="18" charset="0"/>
                            </a:rPr>
                            <m:t>𝑄</m:t>
                          </m:r>
                          <m:d>
                            <m:dPr>
                              <m:sepChr m:val=","/>
                              <m:ctrlPr>
                                <a:rPr lang="ar-AE" sz="2400" i="1">
                                  <a:latin typeface="Cambria Math" panose="02040503050406030204" pitchFamily="18" charset="0"/>
                                </a:rPr>
                              </m:ctrlPr>
                            </m:dPr>
                            <m:e>
                              <m:sSup>
                                <m:sSupPr>
                                  <m:ctrlPr>
                                    <a:rPr lang="ar-AE" sz="2400" i="1">
                                      <a:latin typeface="Cambria Math" panose="02040503050406030204" pitchFamily="18" charset="0"/>
                                    </a:rPr>
                                  </m:ctrlPr>
                                </m:sSupPr>
                                <m:e>
                                  <m:r>
                                    <a:rPr lang="ar-AE" sz="2400" i="1">
                                      <a:latin typeface="Cambria Math" panose="02040503050406030204" pitchFamily="18" charset="0"/>
                                    </a:rPr>
                                    <m:t>𝑠</m:t>
                                  </m:r>
                                </m:e>
                                <m:sup>
                                  <m:r>
                                    <a:rPr lang="ar-AE" sz="2400" i="0">
                                      <a:latin typeface="Cambria Math" panose="02040503050406030204" pitchFamily="18" charset="0"/>
                                    </a:rPr>
                                    <m:t>′</m:t>
                                  </m:r>
                                </m:sup>
                              </m:sSup>
                            </m:e>
                            <m:e>
                              <m:sSup>
                                <m:sSupPr>
                                  <m:ctrlPr>
                                    <a:rPr lang="ar-AE" sz="2400" i="1">
                                      <a:latin typeface="Cambria Math" panose="02040503050406030204" pitchFamily="18" charset="0"/>
                                    </a:rPr>
                                  </m:ctrlPr>
                                </m:sSupPr>
                                <m:e>
                                  <m:r>
                                    <a:rPr lang="ar-AE" sz="2400" i="1">
                                      <a:latin typeface="Cambria Math" panose="02040503050406030204" pitchFamily="18" charset="0"/>
                                    </a:rPr>
                                    <m:t>𝑎</m:t>
                                  </m:r>
                                </m:e>
                                <m:sup>
                                  <m:r>
                                    <a:rPr lang="ar-AE" sz="2400" i="0">
                                      <a:latin typeface="Cambria Math" panose="02040503050406030204" pitchFamily="18" charset="0"/>
                                    </a:rPr>
                                    <m:t>′</m:t>
                                  </m:r>
                                </m:sup>
                              </m:sSup>
                            </m:e>
                          </m:d>
                          <m:r>
                            <a:rPr lang="ar-AE" sz="2400" i="0">
                              <a:latin typeface="Cambria Math" panose="02040503050406030204" pitchFamily="18" charset="0"/>
                            </a:rPr>
                            <m:t>−</m:t>
                          </m:r>
                          <m:r>
                            <a:rPr lang="ar-AE" sz="2400" i="1">
                              <a:latin typeface="Cambria Math" panose="02040503050406030204" pitchFamily="18" charset="0"/>
                            </a:rPr>
                            <m:t>𝑄</m:t>
                          </m:r>
                          <m:d>
                            <m:dPr>
                              <m:sepChr m:val=","/>
                              <m:ctrlPr>
                                <a:rPr lang="ar-AE" sz="2400" i="1">
                                  <a:latin typeface="Cambria Math" panose="02040503050406030204" pitchFamily="18" charset="0"/>
                                </a:rPr>
                              </m:ctrlPr>
                            </m:dPr>
                            <m:e>
                              <m:r>
                                <a:rPr lang="ar-AE" sz="2400" i="1">
                                  <a:latin typeface="Cambria Math" panose="02040503050406030204" pitchFamily="18" charset="0"/>
                                </a:rPr>
                                <m:t>𝑠</m:t>
                              </m:r>
                            </m:e>
                            <m:e>
                              <m:r>
                                <a:rPr lang="ar-AE" sz="2400" i="1">
                                  <a:latin typeface="Cambria Math" panose="02040503050406030204" pitchFamily="18" charset="0"/>
                                </a:rPr>
                                <m:t>𝑎</m:t>
                              </m:r>
                            </m:e>
                          </m:d>
                        </m:e>
                      </m:d>
                    </m:oMath>
                  </m:oMathPara>
                </a14:m>
                <a:endParaRPr lang="ar-AE" sz="2400" dirty="0"/>
              </a:p>
              <a:p>
                <a:pPr>
                  <a:buNone/>
                </a:pPr>
                <a:r>
                  <a:rPr lang="en-IN" sz="2400" dirty="0"/>
                  <a:t>Example:</a:t>
                </a:r>
                <a:br>
                  <a:rPr lang="en-IN" sz="2400" dirty="0"/>
                </a:br>
                <a:r>
                  <a:rPr lang="en-IN" sz="2400" dirty="0"/>
                  <a:t>A robot learns which </a:t>
                </a:r>
                <a:r>
                  <a:rPr lang="en-IN" sz="2400" b="1" dirty="0"/>
                  <a:t>action</a:t>
                </a:r>
                <a:r>
                  <a:rPr lang="en-IN" sz="2400" dirty="0"/>
                  <a:t> to take in each situation based on the </a:t>
                </a:r>
                <a:r>
                  <a:rPr lang="en-IN" sz="2400" b="1" dirty="0"/>
                  <a:t>next action chosen</a:t>
                </a:r>
                <a:r>
                  <a:rPr lang="en-IN" sz="2400" dirty="0"/>
                  <a:t>.</a:t>
                </a:r>
              </a:p>
            </p:txBody>
          </p:sp>
        </mc:Choice>
        <mc:Fallback>
          <p:sp>
            <p:nvSpPr>
              <p:cNvPr id="3" name="TextBox 2">
                <a:extLst>
                  <a:ext uri="{FF2B5EF4-FFF2-40B4-BE49-F238E27FC236}">
                    <a16:creationId xmlns:a16="http://schemas.microsoft.com/office/drawing/2014/main" id="{2DF2B966-E938-F36B-8BCD-9A818FF94B07}"/>
                  </a:ext>
                </a:extLst>
              </p:cNvPr>
              <p:cNvSpPr txBox="1">
                <a:spLocks noRot="1" noChangeAspect="1" noMove="1" noResize="1" noEditPoints="1" noAdjustHandles="1" noChangeArrowheads="1" noChangeShapeType="1" noTextEdit="1"/>
              </p:cNvSpPr>
              <p:nvPr/>
            </p:nvSpPr>
            <p:spPr>
              <a:xfrm>
                <a:off x="195943" y="742967"/>
                <a:ext cx="11582400" cy="3046988"/>
              </a:xfrm>
              <a:prstGeom prst="rect">
                <a:avLst/>
              </a:prstGeom>
              <a:blipFill>
                <a:blip r:embed="rId2"/>
                <a:stretch>
                  <a:fillRect l="-789" t="-1600" b="-3600"/>
                </a:stretch>
              </a:blipFill>
            </p:spPr>
            <p:txBody>
              <a:bodyPr/>
              <a:lstStyle/>
              <a:p>
                <a:r>
                  <a:rPr lang="en-IN">
                    <a:noFill/>
                  </a:rPr>
                  <a:t> </a:t>
                </a:r>
              </a:p>
            </p:txBody>
          </p:sp>
        </mc:Fallback>
      </mc:AlternateContent>
    </p:spTree>
    <p:extLst>
      <p:ext uri="{BB962C8B-B14F-4D97-AF65-F5344CB8AC3E}">
        <p14:creationId xmlns:p14="http://schemas.microsoft.com/office/powerpoint/2010/main" val="3223034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8DD1E3D-7CAA-8E55-6F43-12411057607D}"/>
                  </a:ext>
                </a:extLst>
              </p:cNvPr>
              <p:cNvSpPr txBox="1"/>
              <p:nvPr/>
            </p:nvSpPr>
            <p:spPr>
              <a:xfrm>
                <a:off x="283028" y="566678"/>
                <a:ext cx="11832771" cy="3416320"/>
              </a:xfrm>
              <a:prstGeom prst="rect">
                <a:avLst/>
              </a:prstGeom>
              <a:noFill/>
            </p:spPr>
            <p:txBody>
              <a:bodyPr wrap="square">
                <a:spAutoFit/>
              </a:bodyPr>
              <a:lstStyle/>
              <a:p>
                <a:pPr>
                  <a:buNone/>
                </a:pPr>
                <a:r>
                  <a:rPr lang="en-IN" sz="2400" b="1" dirty="0"/>
                  <a:t>4. Q-Learning</a:t>
                </a:r>
              </a:p>
              <a:p>
                <a:pPr>
                  <a:buNone/>
                </a:pPr>
                <a:r>
                  <a:rPr lang="en-IN" sz="2400" b="1" dirty="0"/>
                  <a:t>Q-learning</a:t>
                </a:r>
                <a:r>
                  <a:rPr lang="en-IN" sz="2400" dirty="0"/>
                  <a:t> is another TD method.</a:t>
                </a:r>
              </a:p>
              <a:p>
                <a:pPr>
                  <a:buNone/>
                </a:pPr>
                <a:r>
                  <a:rPr lang="en-IN" sz="2400" dirty="0"/>
                  <a:t>Update rule:</a:t>
                </a:r>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𝑄</m:t>
                      </m:r>
                      <m:d>
                        <m:dPr>
                          <m:sepChr m:val=","/>
                          <m:ctrlPr>
                            <a:rPr lang="ar-AE" sz="2400" i="1">
                              <a:latin typeface="Cambria Math" panose="02040503050406030204" pitchFamily="18" charset="0"/>
                            </a:rPr>
                          </m:ctrlPr>
                        </m:dPr>
                        <m:e>
                          <m:r>
                            <a:rPr lang="ar-AE" sz="2400" i="1">
                              <a:latin typeface="Cambria Math" panose="02040503050406030204" pitchFamily="18" charset="0"/>
                            </a:rPr>
                            <m:t>𝑠</m:t>
                          </m:r>
                        </m:e>
                        <m:e>
                          <m:r>
                            <a:rPr lang="ar-AE" sz="2400" i="1">
                              <a:latin typeface="Cambria Math" panose="02040503050406030204" pitchFamily="18" charset="0"/>
                            </a:rPr>
                            <m:t>𝑎</m:t>
                          </m:r>
                        </m:e>
                      </m:d>
                      <m:r>
                        <a:rPr lang="ar-AE" sz="2400" i="0">
                          <a:latin typeface="Cambria Math" panose="02040503050406030204" pitchFamily="18" charset="0"/>
                        </a:rPr>
                        <m:t>=</m:t>
                      </m:r>
                      <m:r>
                        <a:rPr lang="ar-AE" sz="2400" i="1">
                          <a:latin typeface="Cambria Math" panose="02040503050406030204" pitchFamily="18" charset="0"/>
                        </a:rPr>
                        <m:t>𝑄</m:t>
                      </m:r>
                      <m:d>
                        <m:dPr>
                          <m:sepChr m:val=","/>
                          <m:ctrlPr>
                            <a:rPr lang="ar-AE" sz="2400" i="1">
                              <a:latin typeface="Cambria Math" panose="02040503050406030204" pitchFamily="18" charset="0"/>
                            </a:rPr>
                          </m:ctrlPr>
                        </m:dPr>
                        <m:e>
                          <m:r>
                            <a:rPr lang="ar-AE" sz="2400" i="1">
                              <a:latin typeface="Cambria Math" panose="02040503050406030204" pitchFamily="18" charset="0"/>
                            </a:rPr>
                            <m:t>𝑠</m:t>
                          </m:r>
                        </m:e>
                        <m:e>
                          <m:r>
                            <a:rPr lang="ar-AE" sz="2400" i="1">
                              <a:latin typeface="Cambria Math" panose="02040503050406030204" pitchFamily="18" charset="0"/>
                            </a:rPr>
                            <m:t>𝑎</m:t>
                          </m:r>
                        </m:e>
                      </m:d>
                      <m:r>
                        <a:rPr lang="ar-AE" sz="2400" i="0">
                          <a:latin typeface="Cambria Math" panose="02040503050406030204" pitchFamily="18" charset="0"/>
                        </a:rPr>
                        <m:t>+</m:t>
                      </m:r>
                      <m:r>
                        <a:rPr lang="ar-AE" sz="2400" i="1">
                          <a:latin typeface="Cambria Math" panose="02040503050406030204" pitchFamily="18" charset="0"/>
                        </a:rPr>
                        <m:t>𝛼</m:t>
                      </m:r>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𝑟</m:t>
                          </m:r>
                          <m:r>
                            <a:rPr lang="ar-AE" sz="2400" i="0">
                              <a:latin typeface="Cambria Math" panose="02040503050406030204" pitchFamily="18" charset="0"/>
                            </a:rPr>
                            <m:t>+</m:t>
                          </m:r>
                          <m:r>
                            <a:rPr lang="ar-AE" sz="2400" i="1">
                              <a:latin typeface="Cambria Math" panose="02040503050406030204" pitchFamily="18" charset="0"/>
                            </a:rPr>
                            <m:t>𝛾</m:t>
                          </m:r>
                          <m:func>
                            <m:funcPr>
                              <m:ctrlPr>
                                <a:rPr lang="ar-AE" sz="2400" i="1">
                                  <a:latin typeface="Cambria Math" panose="02040503050406030204" pitchFamily="18" charset="0"/>
                                </a:rPr>
                              </m:ctrlPr>
                            </m:funcPr>
                            <m:fName>
                              <m:r>
                                <m:rPr>
                                  <m:sty m:val="p"/>
                                </m:rPr>
                                <a:rPr lang="en-IN" sz="2400" i="0">
                                  <a:latin typeface="Cambria Math" panose="02040503050406030204" pitchFamily="18" charset="0"/>
                                </a:rPr>
                                <m:t>max</m:t>
                              </m:r>
                            </m:fName>
                            <m:e>
                              <m:r>
                                <a:rPr lang="ar-AE" sz="2400" i="1">
                                  <a:latin typeface="Cambria Math" panose="02040503050406030204" pitchFamily="18" charset="0"/>
                                </a:rPr>
                                <m:t>𝑄</m:t>
                              </m:r>
                            </m:e>
                          </m:func>
                          <m:d>
                            <m:dPr>
                              <m:sepChr m:val=","/>
                              <m:ctrlPr>
                                <a:rPr lang="ar-AE" sz="2400" i="1">
                                  <a:latin typeface="Cambria Math" panose="02040503050406030204" pitchFamily="18" charset="0"/>
                                </a:rPr>
                              </m:ctrlPr>
                            </m:dPr>
                            <m:e>
                              <m:sSup>
                                <m:sSupPr>
                                  <m:ctrlPr>
                                    <a:rPr lang="ar-AE" sz="2400" i="1">
                                      <a:latin typeface="Cambria Math" panose="02040503050406030204" pitchFamily="18" charset="0"/>
                                    </a:rPr>
                                  </m:ctrlPr>
                                </m:sSupPr>
                                <m:e>
                                  <m:r>
                                    <a:rPr lang="ar-AE" sz="2400" i="1">
                                      <a:latin typeface="Cambria Math" panose="02040503050406030204" pitchFamily="18" charset="0"/>
                                    </a:rPr>
                                    <m:t>𝑠</m:t>
                                  </m:r>
                                </m:e>
                                <m:sup>
                                  <m:r>
                                    <a:rPr lang="ar-AE" sz="2400" i="0">
                                      <a:latin typeface="Cambria Math" panose="02040503050406030204" pitchFamily="18" charset="0"/>
                                    </a:rPr>
                                    <m:t>′</m:t>
                                  </m:r>
                                </m:sup>
                              </m:sSup>
                            </m:e>
                            <m:e>
                              <m:sSup>
                                <m:sSupPr>
                                  <m:ctrlPr>
                                    <a:rPr lang="ar-AE" sz="2400" i="1">
                                      <a:latin typeface="Cambria Math" panose="02040503050406030204" pitchFamily="18" charset="0"/>
                                    </a:rPr>
                                  </m:ctrlPr>
                                </m:sSupPr>
                                <m:e>
                                  <m:r>
                                    <a:rPr lang="ar-AE" sz="2400" i="1">
                                      <a:latin typeface="Cambria Math" panose="02040503050406030204" pitchFamily="18" charset="0"/>
                                    </a:rPr>
                                    <m:t>𝑎</m:t>
                                  </m:r>
                                </m:e>
                                <m:sup>
                                  <m:r>
                                    <a:rPr lang="ar-AE" sz="2400" i="0">
                                      <a:latin typeface="Cambria Math" panose="02040503050406030204" pitchFamily="18" charset="0"/>
                                    </a:rPr>
                                    <m:t>′</m:t>
                                  </m:r>
                                </m:sup>
                              </m:sSup>
                            </m:e>
                          </m:d>
                          <m:r>
                            <a:rPr lang="ar-AE" sz="2400" i="0">
                              <a:latin typeface="Cambria Math" panose="02040503050406030204" pitchFamily="18" charset="0"/>
                            </a:rPr>
                            <m:t>−</m:t>
                          </m:r>
                          <m:r>
                            <a:rPr lang="ar-AE" sz="2400" i="1">
                              <a:latin typeface="Cambria Math" panose="02040503050406030204" pitchFamily="18" charset="0"/>
                            </a:rPr>
                            <m:t>𝑄</m:t>
                          </m:r>
                          <m:d>
                            <m:dPr>
                              <m:sepChr m:val=","/>
                              <m:ctrlPr>
                                <a:rPr lang="ar-AE" sz="2400" i="1">
                                  <a:latin typeface="Cambria Math" panose="02040503050406030204" pitchFamily="18" charset="0"/>
                                </a:rPr>
                              </m:ctrlPr>
                            </m:dPr>
                            <m:e>
                              <m:r>
                                <a:rPr lang="ar-AE" sz="2400" i="1">
                                  <a:latin typeface="Cambria Math" panose="02040503050406030204" pitchFamily="18" charset="0"/>
                                </a:rPr>
                                <m:t>𝑠</m:t>
                              </m:r>
                            </m:e>
                            <m:e>
                              <m:r>
                                <a:rPr lang="ar-AE" sz="2400" i="1">
                                  <a:latin typeface="Cambria Math" panose="02040503050406030204" pitchFamily="18" charset="0"/>
                                </a:rPr>
                                <m:t>𝑎</m:t>
                              </m:r>
                            </m:e>
                          </m:d>
                        </m:e>
                      </m:d>
                    </m:oMath>
                  </m:oMathPara>
                </a14:m>
                <a:endParaRPr lang="ar-AE" sz="2400" dirty="0"/>
              </a:p>
              <a:p>
                <a:pPr>
                  <a:buNone/>
                </a:pPr>
                <a:r>
                  <a:rPr lang="en-IN" sz="2400" b="1" dirty="0"/>
                  <a:t>Key idea</a:t>
                </a:r>
                <a:endParaRPr lang="en-IN" sz="2400" dirty="0"/>
              </a:p>
              <a:p>
                <a:pPr>
                  <a:buFont typeface="Arial" panose="020B0604020202020204" pitchFamily="34" charset="0"/>
                  <a:buChar char="•"/>
                </a:pPr>
                <a:r>
                  <a:rPr lang="en-IN" sz="2400" dirty="0"/>
                  <a:t>Learns the </a:t>
                </a:r>
                <a:r>
                  <a:rPr lang="en-IN" sz="2400" b="1" dirty="0"/>
                  <a:t>optimal action</a:t>
                </a:r>
                <a:r>
                  <a:rPr lang="en-IN" sz="2400" dirty="0"/>
                  <a:t> regardless of the agent's current policy.</a:t>
                </a:r>
              </a:p>
              <a:p>
                <a:pPr>
                  <a:buNone/>
                </a:pPr>
                <a:endParaRPr lang="en-IN" sz="2400" dirty="0"/>
              </a:p>
              <a:p>
                <a:pPr>
                  <a:buNone/>
                </a:pPr>
                <a:r>
                  <a:rPr lang="en-IN" sz="2400" dirty="0"/>
                  <a:t>Example:</a:t>
                </a:r>
                <a:br>
                  <a:rPr lang="en-IN" sz="2400" dirty="0"/>
                </a:br>
                <a:r>
                  <a:rPr lang="en-IN" sz="2400" dirty="0"/>
                  <a:t>A navigation system learns the </a:t>
                </a:r>
                <a:r>
                  <a:rPr lang="en-IN" sz="2400" b="1" dirty="0"/>
                  <a:t>best route</a:t>
                </a:r>
                <a:r>
                  <a:rPr lang="en-IN" sz="2400" dirty="0"/>
                  <a:t> by always considering the </a:t>
                </a:r>
                <a:r>
                  <a:rPr lang="en-IN" sz="2400" b="1" dirty="0"/>
                  <a:t>best possible next action</a:t>
                </a:r>
                <a:r>
                  <a:rPr lang="en-IN" sz="2400" dirty="0"/>
                  <a:t>.</a:t>
                </a:r>
              </a:p>
            </p:txBody>
          </p:sp>
        </mc:Choice>
        <mc:Fallback>
          <p:sp>
            <p:nvSpPr>
              <p:cNvPr id="3" name="TextBox 2">
                <a:extLst>
                  <a:ext uri="{FF2B5EF4-FFF2-40B4-BE49-F238E27FC236}">
                    <a16:creationId xmlns:a16="http://schemas.microsoft.com/office/drawing/2014/main" id="{B8DD1E3D-7CAA-8E55-6F43-12411057607D}"/>
                  </a:ext>
                </a:extLst>
              </p:cNvPr>
              <p:cNvSpPr txBox="1">
                <a:spLocks noRot="1" noChangeAspect="1" noMove="1" noResize="1" noEditPoints="1" noAdjustHandles="1" noChangeArrowheads="1" noChangeShapeType="1" noTextEdit="1"/>
              </p:cNvSpPr>
              <p:nvPr/>
            </p:nvSpPr>
            <p:spPr>
              <a:xfrm>
                <a:off x="283028" y="566678"/>
                <a:ext cx="11832771" cy="3416320"/>
              </a:xfrm>
              <a:prstGeom prst="rect">
                <a:avLst/>
              </a:prstGeom>
              <a:blipFill>
                <a:blip r:embed="rId2"/>
                <a:stretch>
                  <a:fillRect l="-773" t="-1429" r="-721" b="-3214"/>
                </a:stretch>
              </a:blipFill>
            </p:spPr>
            <p:txBody>
              <a:bodyPr/>
              <a:lstStyle/>
              <a:p>
                <a:r>
                  <a:rPr lang="en-IN">
                    <a:noFill/>
                  </a:rPr>
                  <a:t> </a:t>
                </a:r>
              </a:p>
            </p:txBody>
          </p:sp>
        </mc:Fallback>
      </mc:AlternateContent>
    </p:spTree>
    <p:extLst>
      <p:ext uri="{BB962C8B-B14F-4D97-AF65-F5344CB8AC3E}">
        <p14:creationId xmlns:p14="http://schemas.microsoft.com/office/powerpoint/2010/main" val="2710236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993</Words>
  <Application>Microsoft Office PowerPoint</Application>
  <PresentationFormat>Widescreen</PresentationFormat>
  <Paragraphs>132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 Math</vt:lpstr>
      <vt:lpstr>Times New Roman</vt:lpstr>
      <vt:lpstr>Office Theme</vt:lpstr>
      <vt:lpstr>Temporal Difference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Sonali Goyal</dc:creator>
  <cp:lastModifiedBy>Sonali Goyal</cp:lastModifiedBy>
  <cp:revision>1</cp:revision>
  <dcterms:created xsi:type="dcterms:W3CDTF">2026-03-05T08:43:15Z</dcterms:created>
  <dcterms:modified xsi:type="dcterms:W3CDTF">2026-03-05T08:58:10Z</dcterms:modified>
</cp:coreProperties>
</file>