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C576-C3EA-4358-6592-16D36671C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B71292-6509-28D8-7BD6-C0FC63C5B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E8F90-1AB4-28A4-24A7-7652E78BD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E549-4412-480C-871D-0BF786B91CF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6BD66-702D-97AA-9603-D09F46048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426A8-BC2C-009D-11B2-18B4ECB3B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F4F9-41AE-43AA-BEC7-EBD556D3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35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85662-E3D3-C0BB-F5AF-39CCAC4D0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EAFCA-9011-4BFC-59F2-DF0FFA4C5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EFD22-CFDF-B26E-0B9A-22CBA31B2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E549-4412-480C-871D-0BF786B91CF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96F56-F067-D6AF-F489-81D212799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7BC30-0B40-4806-9EFE-92DECDD4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F4F9-41AE-43AA-BEC7-EBD556D3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115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6AC9-19DE-D445-A7A4-97D3452D6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CE446-4FBB-27D0-4B98-EF0C45157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A0E5D-96A9-D97E-4CA8-D35FDC9C2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E549-4412-480C-871D-0BF786B91CF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75C4D-0A46-F6F1-F37E-39FF6028B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BA04F-392A-2467-8FD0-C1B77E2B5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F4F9-41AE-43AA-BEC7-EBD556D3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536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EA2FD-33C2-687E-DA69-8B8F844D2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B86F4-0974-2274-F02B-5BC4A8CD2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34C508-EDF9-4045-E6E4-798E75B9F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6E98A-1CA4-013E-8EF1-BAFDBEE82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E549-4412-480C-871D-0BF786B91CF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C0296-257C-9137-5734-21498096E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21A83-3A31-4D74-1B7A-1460E3D82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F4F9-41AE-43AA-BEC7-EBD556D3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523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3746-F8E2-A0BF-38F1-87158F320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0C886-A48E-B227-57D5-4EE87256E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1722D-453E-7F8E-912F-CA3A682D0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70C58C-A83B-393E-59FE-792B8C6394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CFE10C-8FE6-3EB1-739E-D937A12583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6B7343-331B-7B9C-CE07-4867DAF33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E549-4412-480C-871D-0BF786B91CF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97E81B-50B0-A1B3-2D2E-42013E941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D469C6-1A09-9ECD-A162-A4E339689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F4F9-41AE-43AA-BEC7-EBD556D3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051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216E7-9291-8326-A4F8-8C4DC0589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052965-4ABD-31A3-90D6-5D460BAA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E549-4412-480C-871D-0BF786B91CF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E8BE4D-D690-1DBD-1248-5D00F2A98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7DF16-62FA-3A2C-FC53-F893A7D73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F4F9-41AE-43AA-BEC7-EBD556D3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214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97C6AD-76D7-24D0-013A-3F0427715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E549-4412-480C-871D-0BF786B91CF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BD901F-3EB0-D14E-61B3-8F0180A90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3C4BC-FA2B-97D7-0F5A-DB6FC4043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F4F9-41AE-43AA-BEC7-EBD556D3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26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76BB2-BAA3-0BE6-F834-DB86D1F55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99928-83BF-1FCB-E136-8695BEB73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059F45-3859-D2D8-0C25-1A01EFAAE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AEB28-B2D4-CA1B-F1E2-191A76DD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E549-4412-480C-871D-0BF786B91CF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8F71B-4E1B-A0C6-6777-7AB6DE2E5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989B3-7C58-CBC9-5CFD-1AEFA970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F4F9-41AE-43AA-BEC7-EBD556D3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50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0DBC1-7C74-67D3-26A6-9ED290A14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68B518-851C-C218-B55A-7F2A81A198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672A-B0B6-F702-123E-0DF12819A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32611-D930-533F-C48D-8AB9AE7F9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E549-4412-480C-871D-0BF786B91CF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CCE74-82F5-BC7E-92C2-8D86FE0A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EA9E05-786E-5EFD-F6F5-DE2EED07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F4F9-41AE-43AA-BEC7-EBD556D3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123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51A5B-86B1-FA91-8DA3-440C3BC88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E771E-C7F6-15BF-508E-1331B6EE7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8BD33-A3CA-70C4-EEE4-94B904687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E549-4412-480C-871D-0BF786B91CF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665BA-D7FA-0657-7A7E-A8286114B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7C008-5DC9-C9E2-B779-349113B9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F4F9-41AE-43AA-BEC7-EBD556D3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344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BBD875-3AD1-C5A1-4DC5-2CE80E413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CF7E59-09B8-982C-59F8-3DD9FE86F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E4D9D-1C61-9110-3B15-7FF2D5BBB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E549-4412-480C-871D-0BF786B91CF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3200E-0818-5700-4C8C-9B9662C73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86A1F-1483-99F4-D63F-17BD82273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F4F9-41AE-43AA-BEC7-EBD556D3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34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18B9B7-3217-16C1-0A72-BA6861505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AADAB-5A7E-0AAB-0938-157F04F6C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66D30-420D-6F44-0BE9-7AD1303BA8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1E549-4412-480C-871D-0BF786B91CF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92B08-BC61-3273-0E6F-8B638B88E2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43124-942A-F688-1855-EBB1C69F9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CF4F9-41AE-43AA-BEC7-EBD556D3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3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A39AC-12AB-E964-32C5-F47C2AB08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10199914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Write a program to implement Cliff Walking problem using Q-learning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DFB4DA-477E-D162-7011-F2751E4388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102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3CBC74-D5F0-2E1E-3722-4EF7B72DFAAE}"/>
              </a:ext>
            </a:extLst>
          </p:cNvPr>
          <p:cNvSpPr txBox="1"/>
          <p:nvPr/>
        </p:nvSpPr>
        <p:spPr>
          <a:xfrm>
            <a:off x="228600" y="507164"/>
            <a:ext cx="11506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Cliff Walking problem</a:t>
            </a:r>
            <a:r>
              <a:rPr lang="en-US" dirty="0"/>
              <a:t> is a </a:t>
            </a:r>
            <a:r>
              <a:rPr lang="en-US" b="1" dirty="0"/>
              <a:t>classic reinforcement learning (RL) task</a:t>
            </a:r>
            <a:r>
              <a:rPr lang="en-US" dirty="0"/>
              <a:t> used to demonstrate how an agent learns an </a:t>
            </a:r>
            <a:r>
              <a:rPr lang="en-US" b="1" dirty="0"/>
              <a:t>optimal policy</a:t>
            </a:r>
            <a:r>
              <a:rPr lang="en-US" dirty="0"/>
              <a:t> while avoiding </a:t>
            </a:r>
            <a:r>
              <a:rPr lang="en-US" b="1" dirty="0"/>
              <a:t>dangerous states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CE431-EAD9-04F3-ACD5-6FEC8926022D}"/>
              </a:ext>
            </a:extLst>
          </p:cNvPr>
          <p:cNvSpPr txBox="1"/>
          <p:nvPr/>
        </p:nvSpPr>
        <p:spPr>
          <a:xfrm>
            <a:off x="228599" y="1299980"/>
            <a:ext cx="108639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Environment Description</a:t>
            </a:r>
          </a:p>
          <a:p>
            <a:pPr>
              <a:buNone/>
            </a:pPr>
            <a:r>
              <a:rPr lang="en-US" b="1" dirty="0"/>
              <a:t>🔹 Grid World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environment is a </a:t>
            </a:r>
            <a:r>
              <a:rPr lang="en-US" b="1" dirty="0"/>
              <a:t>4 × 12 grid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cell represents a </a:t>
            </a:r>
            <a:r>
              <a:rPr lang="en-US" b="1" dirty="0"/>
              <a:t>state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agent moves one cell at a time.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  C  </a:t>
            </a:r>
            <a:r>
              <a:rPr lang="en-US" dirty="0" err="1">
                <a:latin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</a:rPr>
              <a:t>  G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C4EBC80-353E-FE0E-1366-D3A5DEB30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718716"/>
              </p:ext>
            </p:extLst>
          </p:nvPr>
        </p:nvGraphicFramePr>
        <p:xfrm>
          <a:off x="228599" y="3280660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9803879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73311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200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Start 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352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Goal 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22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Cliff (dangerous states)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3247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2A17D51-E5FF-F4F2-B20E-633EF756FE5C}"/>
              </a:ext>
            </a:extLst>
          </p:cNvPr>
          <p:cNvSpPr txBox="1"/>
          <p:nvPr/>
        </p:nvSpPr>
        <p:spPr>
          <a:xfrm>
            <a:off x="228599" y="509635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Start and Goal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Start State</a:t>
            </a:r>
            <a:r>
              <a:rPr lang="en-US" dirty="0"/>
              <a:t>: Bottom-left cell → </a:t>
            </a:r>
            <a:r>
              <a:rPr lang="en-US" dirty="0">
                <a:latin typeface="Courier New" panose="02070309020205020404" pitchFamily="49" charset="0"/>
              </a:rPr>
              <a:t>(3, 0)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Goal State</a:t>
            </a:r>
            <a:r>
              <a:rPr lang="en-US" dirty="0"/>
              <a:t>: Bottom-right cell → </a:t>
            </a:r>
            <a:r>
              <a:rPr lang="en-US" dirty="0">
                <a:latin typeface="Courier New" panose="02070309020205020404" pitchFamily="49" charset="0"/>
              </a:rPr>
              <a:t>(3, 11)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661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F23D07-58FD-F987-28AB-52A775F0400B}"/>
              </a:ext>
            </a:extLst>
          </p:cNvPr>
          <p:cNvSpPr txBox="1"/>
          <p:nvPr/>
        </p:nvSpPr>
        <p:spPr>
          <a:xfrm>
            <a:off x="228600" y="328136"/>
            <a:ext cx="114191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Cliff Region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cells between Start and Goal in the bottom row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the agent enters a cliff cell: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Gets a </a:t>
            </a:r>
            <a:r>
              <a:rPr lang="en-US" b="1" dirty="0"/>
              <a:t>large negative reward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Is </a:t>
            </a:r>
            <a:r>
              <a:rPr lang="en-US" b="1" dirty="0"/>
              <a:t>sent back to the start state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b="1" dirty="0"/>
              <a:t>Actions Available</a:t>
            </a:r>
          </a:p>
          <a:p>
            <a:r>
              <a:rPr lang="en-US" dirty="0"/>
              <a:t>At every state, the agent can choose one of </a:t>
            </a:r>
            <a:r>
              <a:rPr lang="en-US" b="1" dirty="0"/>
              <a:t>four actions</a:t>
            </a:r>
            <a:r>
              <a:rPr lang="en-US" dirty="0"/>
              <a:t>:</a:t>
            </a:r>
          </a:p>
          <a:p>
            <a:pPr lvl="1"/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47DEA0-14E9-BD87-6944-B189F5344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032261"/>
              </p:ext>
            </p:extLst>
          </p:nvPr>
        </p:nvGraphicFramePr>
        <p:xfrm>
          <a:off x="228600" y="2913459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88952437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349098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724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Move 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153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Move Down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542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Move Left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455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Move Right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0536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A74E462-5337-BBF6-D4E4-112C59C9680A}"/>
              </a:ext>
            </a:extLst>
          </p:cNvPr>
          <p:cNvSpPr txBox="1"/>
          <p:nvPr/>
        </p:nvSpPr>
        <p:spPr>
          <a:xfrm>
            <a:off x="359228" y="53141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agent </a:t>
            </a:r>
            <a:r>
              <a:rPr lang="en-US" b="1" dirty="0"/>
              <a:t>cannot move outside the grid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804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1DEF8E-FA6B-ADF2-5041-DB9E1B6D90DD}"/>
              </a:ext>
            </a:extLst>
          </p:cNvPr>
          <p:cNvSpPr txBox="1"/>
          <p:nvPr/>
        </p:nvSpPr>
        <p:spPr>
          <a:xfrm>
            <a:off x="370114" y="4823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Reward Structure</a:t>
            </a:r>
          </a:p>
          <a:p>
            <a:pPr>
              <a:buNone/>
            </a:pPr>
            <a:r>
              <a:rPr lang="en-US" dirty="0"/>
              <a:t>The reward function guides the agent’s behavior.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0CAEEA-33D3-C839-53C2-5FC4ED2724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468065"/>
              </p:ext>
            </p:extLst>
          </p:nvPr>
        </p:nvGraphicFramePr>
        <p:xfrm>
          <a:off x="370114" y="1223260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94295002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48768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Situation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Reward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452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 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−1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996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Falling into cliff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−100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134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Reaching 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9346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CD4AE82-F5B9-8AE1-DE49-3257EB81AAC6}"/>
              </a:ext>
            </a:extLst>
          </p:cNvPr>
          <p:cNvSpPr txBox="1"/>
          <p:nvPr/>
        </p:nvSpPr>
        <p:spPr>
          <a:xfrm>
            <a:off x="370114" y="29207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−100?</a:t>
            </a:r>
            <a:br>
              <a:rPr lang="en-US" dirty="0"/>
            </a:br>
            <a:r>
              <a:rPr lang="en-US" dirty="0"/>
              <a:t>To strongly discourage the agent from going near the cliff.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C2D99D-145A-993E-778B-3A77FF9B3D00}"/>
              </a:ext>
            </a:extLst>
          </p:cNvPr>
          <p:cNvSpPr txBox="1"/>
          <p:nvPr/>
        </p:nvSpPr>
        <p:spPr>
          <a:xfrm>
            <a:off x="370114" y="380158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Objective of the Agent</a:t>
            </a:r>
          </a:p>
          <a:p>
            <a:pPr>
              <a:buNone/>
            </a:pPr>
            <a:r>
              <a:rPr lang="en-US" dirty="0"/>
              <a:t>Learn a policy that reaches the goal with </a:t>
            </a:r>
            <a:r>
              <a:rPr lang="en-US" b="1" dirty="0"/>
              <a:t>minimum total penalty</a:t>
            </a:r>
            <a:r>
              <a:rPr lang="en-US" dirty="0"/>
              <a:t>, while </a:t>
            </a:r>
            <a:r>
              <a:rPr lang="en-US" b="1" dirty="0"/>
              <a:t>avoiding the cliff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This means: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Shortest path is </a:t>
            </a:r>
            <a:r>
              <a:rPr lang="en-US" b="1" dirty="0"/>
              <a:t>not always safest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Agent must balance </a:t>
            </a:r>
            <a:r>
              <a:rPr lang="en-US" b="1" dirty="0"/>
              <a:t>risk vs reward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695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DB6C2F-662F-2724-61D9-08FE63381C03}"/>
              </a:ext>
            </a:extLst>
          </p:cNvPr>
          <p:cNvSpPr txBox="1"/>
          <p:nvPr/>
        </p:nvSpPr>
        <p:spPr>
          <a:xfrm>
            <a:off x="185057" y="450894"/>
            <a:ext cx="113646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Cliff Walking is Important?</a:t>
            </a:r>
          </a:p>
          <a:p>
            <a:pPr>
              <a:buNone/>
            </a:pPr>
            <a:r>
              <a:rPr lang="en-US" dirty="0"/>
              <a:t>The cliff walking problem highlights: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Trial-and-error learning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Delayed rewards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Exploration vs exploitation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Difference between </a:t>
            </a:r>
            <a:r>
              <a:rPr lang="en-US" b="1" dirty="0"/>
              <a:t>on-policy and off-policy learning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582DE8-F929-FDDE-89DE-C04B7B77D1BE}"/>
                  </a:ext>
                </a:extLst>
              </p:cNvPr>
              <p:cNvSpPr txBox="1"/>
              <p:nvPr/>
            </p:nvSpPr>
            <p:spPr>
              <a:xfrm>
                <a:off x="283028" y="2205220"/>
                <a:ext cx="10069285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Learning Approach: Q-Learning</a:t>
                </a:r>
              </a:p>
              <a:p>
                <a:pPr>
                  <a:buNone/>
                </a:pPr>
                <a:r>
                  <a:rPr lang="en-IN" b="1" dirty="0"/>
                  <a:t>🔹 What is Q-Learning?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A </a:t>
                </a:r>
                <a:r>
                  <a:rPr lang="en-IN" b="1" dirty="0"/>
                  <a:t>model-free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Off-policy</a:t>
                </a:r>
                <a:r>
                  <a:rPr lang="en-IN" dirty="0"/>
                  <a:t> reinforcement learning algorithm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Learns the </a:t>
                </a:r>
                <a:r>
                  <a:rPr lang="en-IN" b="1" dirty="0"/>
                  <a:t>optimal action-value function</a:t>
                </a:r>
                <a:r>
                  <a:rPr lang="en-IN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582DE8-F929-FDDE-89DE-C04B7B77D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28" y="2205220"/>
                <a:ext cx="10069285" cy="1754326"/>
              </a:xfrm>
              <a:prstGeom prst="rect">
                <a:avLst/>
              </a:prstGeom>
              <a:blipFill>
                <a:blip r:embed="rId2"/>
                <a:stretch>
                  <a:fillRect l="-484" t="-2083" b="-13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4530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5B2725-3F06-049D-26B1-FC7E66A1C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283" y="1447523"/>
            <a:ext cx="8659433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10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B548D5-AEA7-6FFB-DCC4-03CA13CAD69E}"/>
              </a:ext>
            </a:extLst>
          </p:cNvPr>
          <p:cNvSpPr txBox="1"/>
          <p:nvPr/>
        </p:nvSpPr>
        <p:spPr>
          <a:xfrm>
            <a:off x="261256" y="345053"/>
            <a:ext cx="1154974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Exploration Strategy (Epsilon-Greedy)</a:t>
            </a:r>
          </a:p>
          <a:p>
            <a:pPr>
              <a:buNone/>
            </a:pPr>
            <a:r>
              <a:rPr lang="en-US" dirty="0"/>
              <a:t>To learn effectively, the agent uses </a:t>
            </a:r>
            <a:r>
              <a:rPr lang="en-US" b="1" dirty="0"/>
              <a:t>ε-greedy policy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With probability </a:t>
            </a:r>
            <a:r>
              <a:rPr lang="en-US" b="1" dirty="0"/>
              <a:t>ε</a:t>
            </a:r>
            <a:r>
              <a:rPr lang="en-US" dirty="0"/>
              <a:t> → take a </a:t>
            </a:r>
            <a:r>
              <a:rPr lang="en-US" b="1" dirty="0"/>
              <a:t>random action</a:t>
            </a:r>
            <a:r>
              <a:rPr lang="en-US" dirty="0"/>
              <a:t> (explore)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With probability </a:t>
            </a:r>
            <a:r>
              <a:rPr lang="en-US" b="1" dirty="0"/>
              <a:t>1 − ε</a:t>
            </a:r>
            <a:r>
              <a:rPr lang="en-US" dirty="0"/>
              <a:t> → take </a:t>
            </a:r>
            <a:r>
              <a:rPr lang="en-US" b="1" dirty="0"/>
              <a:t>best known action</a:t>
            </a:r>
            <a:r>
              <a:rPr lang="en-US" dirty="0"/>
              <a:t> (exploit)</a:t>
            </a:r>
          </a:p>
          <a:p>
            <a:pPr>
              <a:buNone/>
            </a:pPr>
            <a:r>
              <a:rPr lang="en-US" dirty="0"/>
              <a:t>This helps the agent: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Discover new paths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 getting stuck in bad policies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0D904-00FA-DB00-7E34-093C84488E58}"/>
              </a:ext>
            </a:extLst>
          </p:cNvPr>
          <p:cNvSpPr txBox="1"/>
          <p:nvPr/>
        </p:nvSpPr>
        <p:spPr>
          <a:xfrm>
            <a:off x="261256" y="2626196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Behavior of Agent During Learning</a:t>
            </a:r>
          </a:p>
          <a:p>
            <a:pPr>
              <a:buNone/>
            </a:pPr>
            <a:r>
              <a:rPr lang="en-US" b="1" dirty="0"/>
              <a:t>🔹 Early Episodes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Agent explores randomly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Falls into cliff many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Receives large penalties</a:t>
            </a:r>
          </a:p>
          <a:p>
            <a:pPr>
              <a:buNone/>
            </a:pPr>
            <a:r>
              <a:rPr lang="en-US" b="1" dirty="0"/>
              <a:t>🔹 Later Episodes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Learns cliff is dangerous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Avoids bottom row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Chooses safer path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87486-1C85-AAE5-8E9E-C8BF1AF679EC}"/>
              </a:ext>
            </a:extLst>
          </p:cNvPr>
          <p:cNvSpPr txBox="1"/>
          <p:nvPr/>
        </p:nvSpPr>
        <p:spPr>
          <a:xfrm>
            <a:off x="5954486" y="345053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Learned Policy</a:t>
            </a:r>
          </a:p>
          <a:p>
            <a:pPr>
              <a:buNone/>
            </a:pPr>
            <a:r>
              <a:rPr lang="en-US" b="1" dirty="0"/>
              <a:t>With Q-Learning: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Agent often learns a </a:t>
            </a:r>
            <a:r>
              <a:rPr lang="en-US" b="1" dirty="0"/>
              <a:t>path close to the cliff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Because Q-Learning assumes </a:t>
            </a:r>
            <a:r>
              <a:rPr lang="en-US" b="1" dirty="0"/>
              <a:t>optimal future behavior</a:t>
            </a:r>
            <a:endParaRPr lang="en-US" dirty="0"/>
          </a:p>
          <a:p>
            <a:pPr>
              <a:buNone/>
            </a:pPr>
            <a:r>
              <a:rPr lang="en-US" b="1" dirty="0"/>
              <a:t>With SARSA: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Learns a </a:t>
            </a:r>
            <a:r>
              <a:rPr lang="en-US" b="1" dirty="0"/>
              <a:t>safer path farther from the cliff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Because SARSA learns using </a:t>
            </a:r>
            <a:r>
              <a:rPr lang="en-US" b="1" dirty="0"/>
              <a:t>actual taken actions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865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1267A4C-ECC0-F767-04DF-6CC1A11CACD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6226373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638911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Cliff Walking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169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Reinforcement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43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Grid World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598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Algorithm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Q-Learning / SARSA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340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Learning style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Trial and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3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Reward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Negative for danger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432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Safe optimal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276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3192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3164FF-AB6C-1B32-7E23-F37CEF082709}"/>
              </a:ext>
            </a:extLst>
          </p:cNvPr>
          <p:cNvSpPr txBox="1"/>
          <p:nvPr/>
        </p:nvSpPr>
        <p:spPr>
          <a:xfrm>
            <a:off x="402772" y="264502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r>
              <a:rPr lang="en-IN" dirty="0"/>
              <a:t>import random</a:t>
            </a:r>
          </a:p>
          <a:p>
            <a:endParaRPr lang="en-IN" dirty="0"/>
          </a:p>
          <a:p>
            <a:r>
              <a:rPr lang="en-IN" dirty="0"/>
              <a:t># Grid size</a:t>
            </a:r>
          </a:p>
          <a:p>
            <a:r>
              <a:rPr lang="en-IN" dirty="0"/>
              <a:t>rows, cols = 4, 12</a:t>
            </a:r>
          </a:p>
          <a:p>
            <a:endParaRPr lang="en-IN" dirty="0"/>
          </a:p>
          <a:p>
            <a:r>
              <a:rPr lang="en-IN" dirty="0"/>
              <a:t># Actions: 0=Up, 1=Down, 2=Left, 3=Right</a:t>
            </a:r>
          </a:p>
          <a:p>
            <a:r>
              <a:rPr lang="en-IN" dirty="0"/>
              <a:t>actions = 4</a:t>
            </a:r>
          </a:p>
          <a:p>
            <a:endParaRPr lang="en-IN" dirty="0"/>
          </a:p>
          <a:p>
            <a:r>
              <a:rPr lang="en-IN" dirty="0"/>
              <a:t># Q-table</a:t>
            </a:r>
          </a:p>
          <a:p>
            <a:r>
              <a:rPr lang="en-IN" dirty="0"/>
              <a:t>Q = </a:t>
            </a:r>
            <a:r>
              <a:rPr lang="en-IN" dirty="0" err="1"/>
              <a:t>np.zeros</a:t>
            </a:r>
            <a:r>
              <a:rPr lang="en-IN" dirty="0"/>
              <a:t>((rows, cols, actions))</a:t>
            </a:r>
          </a:p>
          <a:p>
            <a:endParaRPr lang="en-IN" dirty="0"/>
          </a:p>
          <a:p>
            <a:r>
              <a:rPr lang="en-IN" dirty="0"/>
              <a:t># Learning parameters</a:t>
            </a:r>
          </a:p>
          <a:p>
            <a:r>
              <a:rPr lang="en-IN" dirty="0"/>
              <a:t>alpha = 0.1     # learning rate</a:t>
            </a:r>
          </a:p>
          <a:p>
            <a:r>
              <a:rPr lang="en-IN" dirty="0"/>
              <a:t>gamma = 0.9     # discount factor</a:t>
            </a:r>
          </a:p>
          <a:p>
            <a:r>
              <a:rPr lang="en-IN" dirty="0"/>
              <a:t>epsilon = 0.1   # exploration rate</a:t>
            </a:r>
          </a:p>
          <a:p>
            <a:endParaRPr lang="en-IN" dirty="0"/>
          </a:p>
          <a:p>
            <a:r>
              <a:rPr lang="en-IN" dirty="0"/>
              <a:t># Start and Goal positions</a:t>
            </a:r>
          </a:p>
          <a:p>
            <a:r>
              <a:rPr lang="en-IN" dirty="0"/>
              <a:t>start = (3, 0)</a:t>
            </a:r>
          </a:p>
          <a:p>
            <a:r>
              <a:rPr lang="en-IN" dirty="0"/>
              <a:t>goal = (3, 11)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4FEEED-0A69-AD49-4735-1F2A797CC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5086" y="202947"/>
            <a:ext cx="41333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numpy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for Q-table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random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for exploration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4260DE9-FAEB-A233-78C2-2B031FCEC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5086" y="2955031"/>
            <a:ext cx="50294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Q(s, a)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Initially all values = 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0B07A6-5B94-EF49-0B3C-6EFD7F429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218880"/>
              </p:ext>
            </p:extLst>
          </p:nvPr>
        </p:nvGraphicFramePr>
        <p:xfrm>
          <a:off x="6738258" y="3694317"/>
          <a:ext cx="5236294" cy="1737360"/>
        </p:xfrm>
        <a:graphic>
          <a:graphicData uri="http://schemas.openxmlformats.org/drawingml/2006/table">
            <a:tbl>
              <a:tblPr/>
              <a:tblGrid>
                <a:gridCol w="2618147">
                  <a:extLst>
                    <a:ext uri="{9D8B030D-6E8A-4147-A177-3AD203B41FA5}">
                      <a16:colId xmlns:a16="http://schemas.microsoft.com/office/drawing/2014/main" val="72522551"/>
                    </a:ext>
                  </a:extLst>
                </a:gridCol>
                <a:gridCol w="2618147">
                  <a:extLst>
                    <a:ext uri="{9D8B030D-6E8A-4147-A177-3AD203B41FA5}">
                      <a16:colId xmlns:a16="http://schemas.microsoft.com/office/drawing/2014/main" val="1629282777"/>
                    </a:ext>
                  </a:extLst>
                </a:gridCol>
              </a:tblGrid>
              <a:tr h="352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864201"/>
                  </a:ext>
                </a:extLst>
              </a:tr>
              <a:tr h="352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Learning 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387524"/>
                  </a:ext>
                </a:extLst>
              </a:tr>
              <a:tr h="352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γ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Future reward importance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485499"/>
                  </a:ext>
                </a:extLst>
              </a:tr>
              <a:tr h="352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Exploration chance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46115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3F867EC-D80C-3596-AB2D-A2A16D2EBC1C}"/>
              </a:ext>
            </a:extLst>
          </p:cNvPr>
          <p:cNvSpPr txBox="1"/>
          <p:nvPr/>
        </p:nvSpPr>
        <p:spPr>
          <a:xfrm>
            <a:off x="6498772" y="5989768"/>
            <a:ext cx="5344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Bottom row is dangerous except start &amp; goal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6923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B4683F-EDC4-76D2-EEF5-B6FE874A1AC8}"/>
              </a:ext>
            </a:extLst>
          </p:cNvPr>
          <p:cNvSpPr txBox="1"/>
          <p:nvPr/>
        </p:nvSpPr>
        <p:spPr>
          <a:xfrm>
            <a:off x="348343" y="110260"/>
            <a:ext cx="6096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Cliff cells</a:t>
            </a:r>
          </a:p>
          <a:p>
            <a:r>
              <a:rPr lang="en-IN" dirty="0"/>
              <a:t>cliff = [(3, j) for j in range(1, 11)]</a:t>
            </a:r>
          </a:p>
          <a:p>
            <a:endParaRPr lang="en-IN" dirty="0"/>
          </a:p>
          <a:p>
            <a:r>
              <a:rPr lang="en-IN" dirty="0"/>
              <a:t># Take action</a:t>
            </a:r>
          </a:p>
          <a:p>
            <a:r>
              <a:rPr lang="en-IN" dirty="0"/>
              <a:t>def step(state, action):</a:t>
            </a:r>
          </a:p>
          <a:p>
            <a:r>
              <a:rPr lang="en-IN" dirty="0"/>
              <a:t>    </a:t>
            </a:r>
            <a:r>
              <a:rPr lang="en-IN" dirty="0" err="1"/>
              <a:t>i</a:t>
            </a:r>
            <a:r>
              <a:rPr lang="en-IN" dirty="0"/>
              <a:t>, j = state</a:t>
            </a:r>
          </a:p>
          <a:p>
            <a:endParaRPr lang="en-IN" dirty="0"/>
          </a:p>
          <a:p>
            <a:r>
              <a:rPr lang="en-IN" dirty="0"/>
              <a:t>    if action == 0:   # Up</a:t>
            </a:r>
          </a:p>
          <a:p>
            <a:r>
              <a:rPr lang="en-IN" dirty="0"/>
              <a:t>        </a:t>
            </a:r>
            <a:r>
              <a:rPr lang="en-IN" dirty="0" err="1"/>
              <a:t>i</a:t>
            </a:r>
            <a:r>
              <a:rPr lang="en-IN" dirty="0"/>
              <a:t> = max(i-1, 0)</a:t>
            </a:r>
          </a:p>
          <a:p>
            <a:r>
              <a:rPr lang="en-IN" dirty="0"/>
              <a:t>    </a:t>
            </a:r>
            <a:r>
              <a:rPr lang="en-IN" dirty="0" err="1"/>
              <a:t>elif</a:t>
            </a:r>
            <a:r>
              <a:rPr lang="en-IN" dirty="0"/>
              <a:t> action == 1: # Down</a:t>
            </a:r>
          </a:p>
          <a:p>
            <a:r>
              <a:rPr lang="en-IN" dirty="0"/>
              <a:t>        </a:t>
            </a:r>
            <a:r>
              <a:rPr lang="en-IN" dirty="0" err="1"/>
              <a:t>i</a:t>
            </a:r>
            <a:r>
              <a:rPr lang="en-IN" dirty="0"/>
              <a:t> = min(i+1, rows-1)</a:t>
            </a:r>
          </a:p>
          <a:p>
            <a:r>
              <a:rPr lang="en-IN" dirty="0"/>
              <a:t>    </a:t>
            </a:r>
            <a:r>
              <a:rPr lang="en-IN" dirty="0" err="1"/>
              <a:t>elif</a:t>
            </a:r>
            <a:r>
              <a:rPr lang="en-IN" dirty="0"/>
              <a:t> action == 2: # Left</a:t>
            </a:r>
          </a:p>
          <a:p>
            <a:r>
              <a:rPr lang="en-IN" dirty="0"/>
              <a:t>        j = max(j-1, 0)</a:t>
            </a:r>
          </a:p>
          <a:p>
            <a:r>
              <a:rPr lang="en-IN" dirty="0"/>
              <a:t>    </a:t>
            </a:r>
            <a:r>
              <a:rPr lang="en-IN" dirty="0" err="1"/>
              <a:t>elif</a:t>
            </a:r>
            <a:r>
              <a:rPr lang="en-IN" dirty="0"/>
              <a:t> action == 3: # Right</a:t>
            </a:r>
          </a:p>
          <a:p>
            <a:r>
              <a:rPr lang="en-IN" dirty="0"/>
              <a:t>        j = min(j+1, cols-1)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next_state</a:t>
            </a:r>
            <a:r>
              <a:rPr lang="en-IN" dirty="0"/>
              <a:t> = (</a:t>
            </a:r>
            <a:r>
              <a:rPr lang="en-IN" dirty="0" err="1"/>
              <a:t>i</a:t>
            </a:r>
            <a:r>
              <a:rPr lang="en-IN" dirty="0"/>
              <a:t>, j)</a:t>
            </a:r>
          </a:p>
          <a:p>
            <a:endParaRPr lang="en-IN" dirty="0"/>
          </a:p>
          <a:p>
            <a:r>
              <a:rPr lang="en-IN" dirty="0"/>
              <a:t>    if </a:t>
            </a:r>
            <a:r>
              <a:rPr lang="en-IN" dirty="0" err="1"/>
              <a:t>next_state</a:t>
            </a:r>
            <a:r>
              <a:rPr lang="en-IN" dirty="0"/>
              <a:t> in cliff:</a:t>
            </a:r>
          </a:p>
          <a:p>
            <a:r>
              <a:rPr lang="en-IN" dirty="0"/>
              <a:t>        return start, -100</a:t>
            </a:r>
          </a:p>
          <a:p>
            <a:endParaRPr lang="en-IN" dirty="0"/>
          </a:p>
          <a:p>
            <a:r>
              <a:rPr lang="en-IN" dirty="0"/>
              <a:t>    if </a:t>
            </a:r>
            <a:r>
              <a:rPr lang="en-IN" dirty="0" err="1"/>
              <a:t>next_state</a:t>
            </a:r>
            <a:r>
              <a:rPr lang="en-IN" dirty="0"/>
              <a:t> == goal:</a:t>
            </a:r>
          </a:p>
          <a:p>
            <a:r>
              <a:rPr lang="en-IN" dirty="0"/>
              <a:t>        return </a:t>
            </a:r>
            <a:r>
              <a:rPr lang="en-IN" dirty="0" err="1"/>
              <a:t>next_state</a:t>
            </a:r>
            <a:r>
              <a:rPr lang="en-IN" dirty="0"/>
              <a:t>,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DE45C-309B-625B-76F4-3789EF320A13}"/>
              </a:ext>
            </a:extLst>
          </p:cNvPr>
          <p:cNvSpPr txBox="1"/>
          <p:nvPr/>
        </p:nvSpPr>
        <p:spPr>
          <a:xfrm>
            <a:off x="6444343" y="1306677"/>
            <a:ext cx="5529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Decides </a:t>
            </a:r>
            <a:r>
              <a:rPr lang="en-US" b="1" dirty="0"/>
              <a:t>next position</a:t>
            </a:r>
            <a:r>
              <a:rPr lang="en-US" dirty="0"/>
              <a:t> and </a:t>
            </a:r>
            <a:r>
              <a:rPr lang="en-US" b="1" dirty="0"/>
              <a:t>reward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22F07E-89EB-BF42-0F14-06A3561F36D7}"/>
              </a:ext>
            </a:extLst>
          </p:cNvPr>
          <p:cNvSpPr txBox="1"/>
          <p:nvPr/>
        </p:nvSpPr>
        <p:spPr>
          <a:xfrm>
            <a:off x="6444343" y="2340820"/>
            <a:ext cx="4735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Prevents going outside grid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40AE8B3-A3AE-9F9D-E232-BBF89B2A7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6229" y="5371390"/>
            <a:ext cx="33225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Huge penalty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 returns to start</a:t>
            </a:r>
          </a:p>
        </p:txBody>
      </p:sp>
    </p:spTree>
    <p:extLst>
      <p:ext uri="{BB962C8B-B14F-4D97-AF65-F5344CB8AC3E}">
        <p14:creationId xmlns:p14="http://schemas.microsoft.com/office/powerpoint/2010/main" val="4079728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945C9C-102E-EED3-DE18-8BF6F24860A6}"/>
              </a:ext>
            </a:extLst>
          </p:cNvPr>
          <p:cNvSpPr txBox="1"/>
          <p:nvPr/>
        </p:nvSpPr>
        <p:spPr>
          <a:xfrm>
            <a:off x="283028" y="197346"/>
            <a:ext cx="6096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return </a:t>
            </a:r>
            <a:r>
              <a:rPr lang="en-IN" dirty="0" err="1"/>
              <a:t>next_state</a:t>
            </a:r>
            <a:r>
              <a:rPr lang="en-IN" dirty="0"/>
              <a:t>, -1</a:t>
            </a:r>
          </a:p>
          <a:p>
            <a:endParaRPr lang="en-IN" dirty="0"/>
          </a:p>
          <a:p>
            <a:r>
              <a:rPr lang="en-IN" dirty="0"/>
              <a:t># Q-Learning</a:t>
            </a:r>
          </a:p>
          <a:p>
            <a:r>
              <a:rPr lang="en-IN" dirty="0"/>
              <a:t>for episode in range(500):</a:t>
            </a:r>
          </a:p>
          <a:p>
            <a:r>
              <a:rPr lang="en-IN" dirty="0"/>
              <a:t>    state = start</a:t>
            </a:r>
          </a:p>
          <a:p>
            <a:endParaRPr lang="en-IN" dirty="0"/>
          </a:p>
          <a:p>
            <a:r>
              <a:rPr lang="en-IN" dirty="0"/>
              <a:t>    while state != goal:</a:t>
            </a:r>
          </a:p>
          <a:p>
            <a:r>
              <a:rPr lang="en-IN" dirty="0"/>
              <a:t>        </a:t>
            </a:r>
            <a:r>
              <a:rPr lang="en-IN" dirty="0" err="1"/>
              <a:t>i</a:t>
            </a:r>
            <a:r>
              <a:rPr lang="en-IN" dirty="0"/>
              <a:t>, j = state</a:t>
            </a:r>
          </a:p>
          <a:p>
            <a:endParaRPr lang="en-IN" dirty="0"/>
          </a:p>
          <a:p>
            <a:r>
              <a:rPr lang="en-IN" dirty="0"/>
              <a:t>        # Epsilon-greedy action</a:t>
            </a:r>
          </a:p>
          <a:p>
            <a:r>
              <a:rPr lang="en-IN" dirty="0"/>
              <a:t>        if </a:t>
            </a:r>
            <a:r>
              <a:rPr lang="en-IN" dirty="0" err="1"/>
              <a:t>random.random</a:t>
            </a:r>
            <a:r>
              <a:rPr lang="en-IN" dirty="0"/>
              <a:t>() &lt; epsilon:</a:t>
            </a:r>
          </a:p>
          <a:p>
            <a:r>
              <a:rPr lang="en-IN" dirty="0"/>
              <a:t>            action = </a:t>
            </a:r>
            <a:r>
              <a:rPr lang="en-IN" dirty="0" err="1"/>
              <a:t>random.randint</a:t>
            </a:r>
            <a:r>
              <a:rPr lang="en-IN" dirty="0"/>
              <a:t>(0, 3)</a:t>
            </a:r>
          </a:p>
          <a:p>
            <a:r>
              <a:rPr lang="en-IN" dirty="0"/>
              <a:t>        else:</a:t>
            </a:r>
          </a:p>
          <a:p>
            <a:r>
              <a:rPr lang="en-IN" dirty="0"/>
              <a:t>            action = </a:t>
            </a:r>
            <a:r>
              <a:rPr lang="en-IN" dirty="0" err="1"/>
              <a:t>np.argmax</a:t>
            </a:r>
            <a:r>
              <a:rPr lang="en-IN" dirty="0"/>
              <a:t>(Q[</a:t>
            </a:r>
            <a:r>
              <a:rPr lang="en-IN" dirty="0" err="1"/>
              <a:t>i</a:t>
            </a:r>
            <a:r>
              <a:rPr lang="en-IN" dirty="0"/>
              <a:t>, j])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next_state</a:t>
            </a:r>
            <a:r>
              <a:rPr lang="en-IN" dirty="0"/>
              <a:t>, reward = step(state, action)</a:t>
            </a:r>
          </a:p>
          <a:p>
            <a:r>
              <a:rPr lang="en-IN" dirty="0"/>
              <a:t>        </a:t>
            </a:r>
            <a:r>
              <a:rPr lang="en-IN" dirty="0" err="1"/>
              <a:t>ni</a:t>
            </a:r>
            <a:r>
              <a:rPr lang="en-IN" dirty="0"/>
              <a:t>, </a:t>
            </a:r>
            <a:r>
              <a:rPr lang="en-IN" dirty="0" err="1"/>
              <a:t>nj</a:t>
            </a:r>
            <a:r>
              <a:rPr lang="en-IN" dirty="0"/>
              <a:t> = </a:t>
            </a:r>
            <a:r>
              <a:rPr lang="en-IN" dirty="0" err="1"/>
              <a:t>next_state</a:t>
            </a:r>
            <a:endParaRPr lang="en-IN" dirty="0"/>
          </a:p>
          <a:p>
            <a:endParaRPr lang="en-IN" dirty="0"/>
          </a:p>
          <a:p>
            <a:r>
              <a:rPr lang="en-IN" dirty="0"/>
              <a:t>        # Q update</a:t>
            </a:r>
          </a:p>
          <a:p>
            <a:r>
              <a:rPr lang="en-IN" dirty="0"/>
              <a:t>        Q[</a:t>
            </a:r>
            <a:r>
              <a:rPr lang="en-IN" dirty="0" err="1"/>
              <a:t>i</a:t>
            </a:r>
            <a:r>
              <a:rPr lang="en-IN" dirty="0"/>
              <a:t>, j, action] += alpha * (reward + gamma * </a:t>
            </a:r>
            <a:r>
              <a:rPr lang="en-IN" dirty="0" err="1"/>
              <a:t>np.max</a:t>
            </a:r>
            <a:r>
              <a:rPr lang="en-IN" dirty="0"/>
              <a:t>(Q[</a:t>
            </a:r>
            <a:r>
              <a:rPr lang="en-IN" dirty="0" err="1"/>
              <a:t>ni</a:t>
            </a:r>
            <a:r>
              <a:rPr lang="en-IN" dirty="0"/>
              <a:t>, </a:t>
            </a:r>
            <a:r>
              <a:rPr lang="en-IN" dirty="0" err="1"/>
              <a:t>nj</a:t>
            </a:r>
            <a:r>
              <a:rPr lang="en-IN" dirty="0"/>
              <a:t>]) - Q[</a:t>
            </a:r>
            <a:r>
              <a:rPr lang="en-IN" dirty="0" err="1"/>
              <a:t>i</a:t>
            </a:r>
            <a:r>
              <a:rPr lang="en-IN" dirty="0"/>
              <a:t>, j, action])</a:t>
            </a:r>
          </a:p>
          <a:p>
            <a:endParaRPr lang="en-IN" dirty="0"/>
          </a:p>
          <a:p>
            <a:r>
              <a:rPr lang="en-IN" dirty="0"/>
              <a:t>        state = </a:t>
            </a:r>
            <a:r>
              <a:rPr lang="en-IN" dirty="0" err="1"/>
              <a:t>next_state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90CD8-3067-4F18-4313-1297CA22DFDE}"/>
              </a:ext>
            </a:extLst>
          </p:cNvPr>
          <p:cNvSpPr txBox="1"/>
          <p:nvPr/>
        </p:nvSpPr>
        <p:spPr>
          <a:xfrm>
            <a:off x="6509657" y="283419"/>
            <a:ext cx="5127172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Small negative reward per step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F72A569-825D-178D-8D3E-BC264967C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9028" y="2915139"/>
            <a:ext cx="53409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randomly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Otherwise exploit best action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9518C35-F97B-2C06-B0EE-71BA57117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688301"/>
            <a:ext cx="49325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action number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each state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cliff,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goal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595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31CF9E-7512-1526-4B99-7AE7016CE01E}"/>
              </a:ext>
            </a:extLst>
          </p:cNvPr>
          <p:cNvSpPr txBox="1"/>
          <p:nvPr/>
        </p:nvSpPr>
        <p:spPr>
          <a:xfrm>
            <a:off x="304800" y="1608968"/>
            <a:ext cx="39732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Print policy</a:t>
            </a:r>
          </a:p>
          <a:p>
            <a:r>
              <a:rPr lang="en-IN" dirty="0"/>
              <a:t>print("Learned Policy:")</a:t>
            </a:r>
          </a:p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range(rows):</a:t>
            </a:r>
          </a:p>
          <a:p>
            <a:r>
              <a:rPr lang="en-IN" dirty="0"/>
              <a:t>    for j in range(cols):</a:t>
            </a:r>
          </a:p>
          <a:p>
            <a:r>
              <a:rPr lang="en-IN" dirty="0"/>
              <a:t>        if (</a:t>
            </a:r>
            <a:r>
              <a:rPr lang="en-IN" dirty="0" err="1"/>
              <a:t>i</a:t>
            </a:r>
            <a:r>
              <a:rPr lang="en-IN" dirty="0"/>
              <a:t>, j) == goal:</a:t>
            </a:r>
          </a:p>
          <a:p>
            <a:r>
              <a:rPr lang="en-IN" dirty="0"/>
              <a:t>            print(" G ", end="")</a:t>
            </a:r>
          </a:p>
          <a:p>
            <a:r>
              <a:rPr lang="en-IN" dirty="0"/>
              <a:t>        </a:t>
            </a:r>
            <a:r>
              <a:rPr lang="en-IN" dirty="0" err="1"/>
              <a:t>elif</a:t>
            </a:r>
            <a:r>
              <a:rPr lang="en-IN" dirty="0"/>
              <a:t> (</a:t>
            </a:r>
            <a:r>
              <a:rPr lang="en-IN" dirty="0" err="1"/>
              <a:t>i</a:t>
            </a:r>
            <a:r>
              <a:rPr lang="en-IN" dirty="0"/>
              <a:t>, j) in cliff:</a:t>
            </a:r>
          </a:p>
          <a:p>
            <a:r>
              <a:rPr lang="en-IN" dirty="0"/>
              <a:t>            print(" C ", end="")</a:t>
            </a:r>
          </a:p>
          <a:p>
            <a:r>
              <a:rPr lang="en-IN" dirty="0"/>
              <a:t>        else:</a:t>
            </a:r>
          </a:p>
          <a:p>
            <a:r>
              <a:rPr lang="en-IN" dirty="0"/>
              <a:t>            print(</a:t>
            </a:r>
            <a:r>
              <a:rPr lang="en-IN" dirty="0" err="1"/>
              <a:t>np.argmax</a:t>
            </a:r>
            <a:r>
              <a:rPr lang="en-IN" dirty="0"/>
              <a:t>(Q[</a:t>
            </a:r>
            <a:r>
              <a:rPr lang="en-IN" dirty="0" err="1"/>
              <a:t>i</a:t>
            </a:r>
            <a:r>
              <a:rPr lang="en-IN" dirty="0"/>
              <a:t>, j]), end=" ")</a:t>
            </a:r>
          </a:p>
          <a:p>
            <a:r>
              <a:rPr lang="en-IN" dirty="0"/>
              <a:t>    print()</a:t>
            </a:r>
          </a:p>
        </p:txBody>
      </p:sp>
    </p:spTree>
    <p:extLst>
      <p:ext uri="{BB962C8B-B14F-4D97-AF65-F5344CB8AC3E}">
        <p14:creationId xmlns:p14="http://schemas.microsoft.com/office/powerpoint/2010/main" val="1339968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6997FB-2904-4C8E-15F0-6CAE5F776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82" y="1575561"/>
            <a:ext cx="5134692" cy="20957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1002CE-E587-672E-B539-7EF8DB94254D}"/>
              </a:ext>
            </a:extLst>
          </p:cNvPr>
          <p:cNvSpPr txBox="1"/>
          <p:nvPr/>
        </p:nvSpPr>
        <p:spPr>
          <a:xfrm>
            <a:off x="6662057" y="292464"/>
            <a:ext cx="47352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0 = Up</a:t>
            </a:r>
          </a:p>
          <a:p>
            <a:r>
              <a:rPr lang="en-IN" dirty="0"/>
              <a:t>1 = Down</a:t>
            </a:r>
          </a:p>
          <a:p>
            <a:r>
              <a:rPr lang="en-IN" dirty="0"/>
              <a:t>2 = Left</a:t>
            </a:r>
          </a:p>
          <a:p>
            <a:r>
              <a:rPr lang="en-IN" dirty="0"/>
              <a:t>3 = Right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7D9A5C-C159-BFEC-CC60-C9212043642E}"/>
              </a:ext>
            </a:extLst>
          </p:cNvPr>
          <p:cNvSpPr txBox="1"/>
          <p:nvPr/>
        </p:nvSpPr>
        <p:spPr>
          <a:xfrm>
            <a:off x="6542314" y="1734235"/>
            <a:ext cx="49856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3 3 3 3 3 0 2 1 3 3 3 1</a:t>
            </a:r>
          </a:p>
          <a:p>
            <a:r>
              <a:rPr lang="en-IN" dirty="0"/>
              <a:t>R </a:t>
            </a:r>
            <a:r>
              <a:rPr lang="en-IN" dirty="0" err="1"/>
              <a:t>R</a:t>
            </a:r>
            <a:r>
              <a:rPr lang="en-IN" dirty="0"/>
              <a:t> </a:t>
            </a:r>
            <a:r>
              <a:rPr lang="en-IN" dirty="0" err="1"/>
              <a:t>R</a:t>
            </a:r>
            <a:r>
              <a:rPr lang="en-IN" dirty="0"/>
              <a:t> </a:t>
            </a:r>
            <a:r>
              <a:rPr lang="en-IN" dirty="0" err="1"/>
              <a:t>R</a:t>
            </a:r>
            <a:r>
              <a:rPr lang="en-IN" dirty="0"/>
              <a:t> </a:t>
            </a:r>
            <a:r>
              <a:rPr lang="en-IN" dirty="0" err="1"/>
              <a:t>R</a:t>
            </a:r>
            <a:r>
              <a:rPr lang="en-IN" dirty="0"/>
              <a:t> U L D R </a:t>
            </a:r>
            <a:r>
              <a:rPr lang="en-IN" dirty="0" err="1"/>
              <a:t>R</a:t>
            </a:r>
            <a:r>
              <a:rPr lang="en-IN" dirty="0"/>
              <a:t> </a:t>
            </a:r>
            <a:r>
              <a:rPr lang="en-IN" dirty="0" err="1"/>
              <a:t>R</a:t>
            </a:r>
            <a:r>
              <a:rPr lang="en-IN" dirty="0"/>
              <a:t> 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61E5A-B9BF-1A6C-8866-A16EB70F4F49}"/>
              </a:ext>
            </a:extLst>
          </p:cNvPr>
          <p:cNvSpPr txBox="1"/>
          <p:nvPr/>
        </p:nvSpPr>
        <p:spPr>
          <a:xfrm>
            <a:off x="6542314" y="26220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Row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ADA71F-0F06-E178-A5FA-E597FB6BF6BA}"/>
              </a:ext>
            </a:extLst>
          </p:cNvPr>
          <p:cNvSpPr txBox="1"/>
          <p:nvPr/>
        </p:nvSpPr>
        <p:spPr>
          <a:xfrm>
            <a:off x="6542314" y="3105834"/>
            <a:ext cx="3820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0 3 1 3 3 3 3 3 3 1 1 1</a:t>
            </a:r>
          </a:p>
          <a:p>
            <a:r>
              <a:rPr lang="en-IN" dirty="0"/>
              <a:t>U R D R </a:t>
            </a:r>
            <a:r>
              <a:rPr lang="en-IN" dirty="0" err="1"/>
              <a:t>R</a:t>
            </a:r>
            <a:r>
              <a:rPr lang="en-IN" dirty="0"/>
              <a:t> </a:t>
            </a:r>
            <a:r>
              <a:rPr lang="en-IN" dirty="0" err="1"/>
              <a:t>R</a:t>
            </a:r>
            <a:r>
              <a:rPr lang="en-IN" dirty="0"/>
              <a:t> </a:t>
            </a:r>
            <a:r>
              <a:rPr lang="en-IN" dirty="0" err="1"/>
              <a:t>R</a:t>
            </a:r>
            <a:r>
              <a:rPr lang="en-IN" dirty="0"/>
              <a:t> </a:t>
            </a:r>
            <a:r>
              <a:rPr lang="en-IN" dirty="0" err="1"/>
              <a:t>R</a:t>
            </a:r>
            <a:r>
              <a:rPr lang="en-IN" dirty="0"/>
              <a:t> </a:t>
            </a:r>
            <a:r>
              <a:rPr lang="en-IN" dirty="0" err="1"/>
              <a:t>R</a:t>
            </a:r>
            <a:r>
              <a:rPr lang="en-IN" dirty="0"/>
              <a:t> D </a:t>
            </a:r>
            <a:r>
              <a:rPr lang="en-IN" dirty="0" err="1"/>
              <a:t>D</a:t>
            </a:r>
            <a:r>
              <a:rPr lang="en-IN" dirty="0"/>
              <a:t> </a:t>
            </a:r>
            <a:r>
              <a:rPr lang="en-IN" dirty="0" err="1"/>
              <a:t>D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670105-D320-A8FE-B18B-220141EEFA52}"/>
              </a:ext>
            </a:extLst>
          </p:cNvPr>
          <p:cNvSpPr txBox="1"/>
          <p:nvPr/>
        </p:nvSpPr>
        <p:spPr>
          <a:xfrm>
            <a:off x="6542314" y="1435075"/>
            <a:ext cx="6319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Row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DE4F1A-05F4-51CF-A19D-F6E558B39BAE}"/>
              </a:ext>
            </a:extLst>
          </p:cNvPr>
          <p:cNvSpPr txBox="1"/>
          <p:nvPr/>
        </p:nvSpPr>
        <p:spPr>
          <a:xfrm>
            <a:off x="6542314" y="3995449"/>
            <a:ext cx="6428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Row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56D727-2C49-CC3B-E614-DD84795E17DE}"/>
              </a:ext>
            </a:extLst>
          </p:cNvPr>
          <p:cNvSpPr txBox="1"/>
          <p:nvPr/>
        </p:nvSpPr>
        <p:spPr>
          <a:xfrm>
            <a:off x="6515100" y="4477435"/>
            <a:ext cx="6482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3 3 3 3 3 3 3 3 3 3 3 1</a:t>
            </a:r>
          </a:p>
          <a:p>
            <a:r>
              <a:rPr lang="en-IN" dirty="0"/>
              <a:t>R </a:t>
            </a:r>
            <a:r>
              <a:rPr lang="en-IN" dirty="0" err="1"/>
              <a:t>R</a:t>
            </a:r>
            <a:r>
              <a:rPr lang="en-IN" dirty="0"/>
              <a:t> </a:t>
            </a:r>
            <a:r>
              <a:rPr lang="en-IN" dirty="0" err="1"/>
              <a:t>R</a:t>
            </a:r>
            <a:r>
              <a:rPr lang="en-IN" dirty="0"/>
              <a:t> </a:t>
            </a:r>
            <a:r>
              <a:rPr lang="en-IN" dirty="0" err="1"/>
              <a:t>R</a:t>
            </a:r>
            <a:r>
              <a:rPr lang="en-IN" dirty="0"/>
              <a:t> </a:t>
            </a:r>
            <a:r>
              <a:rPr lang="en-IN" dirty="0" err="1"/>
              <a:t>R</a:t>
            </a:r>
            <a:r>
              <a:rPr lang="en-IN" dirty="0"/>
              <a:t> </a:t>
            </a:r>
            <a:r>
              <a:rPr lang="en-IN" dirty="0" err="1"/>
              <a:t>R</a:t>
            </a:r>
            <a:r>
              <a:rPr lang="en-IN" dirty="0"/>
              <a:t> </a:t>
            </a:r>
            <a:r>
              <a:rPr lang="en-IN" dirty="0" err="1"/>
              <a:t>R</a:t>
            </a:r>
            <a:r>
              <a:rPr lang="en-IN" dirty="0"/>
              <a:t> </a:t>
            </a:r>
            <a:r>
              <a:rPr lang="en-IN" dirty="0" err="1"/>
              <a:t>R</a:t>
            </a:r>
            <a:r>
              <a:rPr lang="en-IN" dirty="0"/>
              <a:t> </a:t>
            </a:r>
            <a:r>
              <a:rPr lang="en-IN" dirty="0" err="1"/>
              <a:t>R</a:t>
            </a:r>
            <a:r>
              <a:rPr lang="en-IN" dirty="0"/>
              <a:t> </a:t>
            </a:r>
            <a:r>
              <a:rPr lang="en-IN" dirty="0" err="1"/>
              <a:t>R</a:t>
            </a:r>
            <a:r>
              <a:rPr lang="en-IN" dirty="0"/>
              <a:t> </a:t>
            </a:r>
            <a:r>
              <a:rPr lang="en-IN" dirty="0" err="1"/>
              <a:t>R</a:t>
            </a:r>
            <a:r>
              <a:rPr lang="en-IN" dirty="0"/>
              <a:t> 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F2323A-D470-99DD-D8B5-4942963B576C}"/>
              </a:ext>
            </a:extLst>
          </p:cNvPr>
          <p:cNvSpPr txBox="1"/>
          <p:nvPr/>
        </p:nvSpPr>
        <p:spPr>
          <a:xfrm>
            <a:off x="6542314" y="5368889"/>
            <a:ext cx="53775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Row 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73D141-7F4A-D45C-62DF-F98F79A54517}"/>
              </a:ext>
            </a:extLst>
          </p:cNvPr>
          <p:cNvSpPr txBox="1"/>
          <p:nvPr/>
        </p:nvSpPr>
        <p:spPr>
          <a:xfrm>
            <a:off x="6542314" y="5815319"/>
            <a:ext cx="44304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0  C  </a:t>
            </a:r>
            <a:r>
              <a:rPr lang="en-IN" dirty="0" err="1"/>
              <a:t>C</a:t>
            </a:r>
            <a:r>
              <a:rPr lang="en-IN" dirty="0"/>
              <a:t>  </a:t>
            </a:r>
            <a:r>
              <a:rPr lang="en-IN" dirty="0" err="1"/>
              <a:t>C</a:t>
            </a:r>
            <a:r>
              <a:rPr lang="en-IN" dirty="0"/>
              <a:t>  </a:t>
            </a:r>
            <a:r>
              <a:rPr lang="en-IN" dirty="0" err="1"/>
              <a:t>C</a:t>
            </a:r>
            <a:r>
              <a:rPr lang="en-IN" dirty="0"/>
              <a:t>  </a:t>
            </a:r>
            <a:r>
              <a:rPr lang="en-IN" dirty="0" err="1"/>
              <a:t>C</a:t>
            </a:r>
            <a:r>
              <a:rPr lang="en-IN" dirty="0"/>
              <a:t>  </a:t>
            </a:r>
            <a:r>
              <a:rPr lang="en-IN" dirty="0" err="1"/>
              <a:t>C</a:t>
            </a:r>
            <a:r>
              <a:rPr lang="en-IN" dirty="0"/>
              <a:t>  </a:t>
            </a:r>
            <a:r>
              <a:rPr lang="en-IN" dirty="0" err="1"/>
              <a:t>C</a:t>
            </a:r>
            <a:r>
              <a:rPr lang="en-IN" dirty="0"/>
              <a:t>  </a:t>
            </a:r>
            <a:r>
              <a:rPr lang="en-IN" dirty="0" err="1"/>
              <a:t>C</a:t>
            </a:r>
            <a:r>
              <a:rPr lang="en-IN" dirty="0"/>
              <a:t>  </a:t>
            </a:r>
            <a:r>
              <a:rPr lang="en-IN" dirty="0" err="1"/>
              <a:t>C</a:t>
            </a:r>
            <a:r>
              <a:rPr lang="en-IN" dirty="0"/>
              <a:t>  </a:t>
            </a:r>
            <a:r>
              <a:rPr lang="en-IN" dirty="0" err="1"/>
              <a:t>C</a:t>
            </a:r>
            <a:r>
              <a:rPr lang="en-IN" dirty="0"/>
              <a:t>  G</a:t>
            </a:r>
          </a:p>
          <a:p>
            <a:r>
              <a:rPr lang="en-IN" dirty="0"/>
              <a:t>U  C  </a:t>
            </a:r>
            <a:r>
              <a:rPr lang="en-IN" dirty="0" err="1"/>
              <a:t>C</a:t>
            </a:r>
            <a:r>
              <a:rPr lang="en-IN" dirty="0"/>
              <a:t>  </a:t>
            </a:r>
            <a:r>
              <a:rPr lang="en-IN" dirty="0" err="1"/>
              <a:t>C</a:t>
            </a:r>
            <a:r>
              <a:rPr lang="en-IN" dirty="0"/>
              <a:t>  </a:t>
            </a:r>
            <a:r>
              <a:rPr lang="en-IN" dirty="0" err="1"/>
              <a:t>C</a:t>
            </a:r>
            <a:r>
              <a:rPr lang="en-IN" dirty="0"/>
              <a:t>  </a:t>
            </a:r>
            <a:r>
              <a:rPr lang="en-IN" dirty="0" err="1"/>
              <a:t>C</a:t>
            </a:r>
            <a:r>
              <a:rPr lang="en-IN" dirty="0"/>
              <a:t>  </a:t>
            </a:r>
            <a:r>
              <a:rPr lang="en-IN" dirty="0" err="1"/>
              <a:t>C</a:t>
            </a:r>
            <a:r>
              <a:rPr lang="en-IN" dirty="0"/>
              <a:t>  </a:t>
            </a:r>
            <a:r>
              <a:rPr lang="en-IN" dirty="0" err="1"/>
              <a:t>C</a:t>
            </a:r>
            <a:r>
              <a:rPr lang="en-IN" dirty="0"/>
              <a:t>  </a:t>
            </a:r>
            <a:r>
              <a:rPr lang="en-IN" dirty="0" err="1"/>
              <a:t>C</a:t>
            </a:r>
            <a:r>
              <a:rPr lang="en-IN" dirty="0"/>
              <a:t>  </a:t>
            </a:r>
            <a:r>
              <a:rPr lang="en-IN" dirty="0" err="1"/>
              <a:t>C</a:t>
            </a:r>
            <a:r>
              <a:rPr lang="en-IN" dirty="0"/>
              <a:t>  </a:t>
            </a:r>
            <a:r>
              <a:rPr lang="en-IN" dirty="0" err="1"/>
              <a:t>C</a:t>
            </a:r>
            <a:r>
              <a:rPr lang="en-IN" dirty="0"/>
              <a:t>  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5C9A9D-3F81-BF99-9AD8-915238196BEA}"/>
              </a:ext>
            </a:extLst>
          </p:cNvPr>
          <p:cNvSpPr txBox="1"/>
          <p:nvPr/>
        </p:nvSpPr>
        <p:spPr>
          <a:xfrm>
            <a:off x="429986" y="4675462"/>
            <a:ext cx="5011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↑ → → → → → → → → → ↓</a:t>
            </a:r>
          </a:p>
        </p:txBody>
      </p:sp>
    </p:spTree>
    <p:extLst>
      <p:ext uri="{BB962C8B-B14F-4D97-AF65-F5344CB8AC3E}">
        <p14:creationId xmlns:p14="http://schemas.microsoft.com/office/powerpoint/2010/main" val="1766122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1124</Words>
  <Application>Microsoft Office PowerPoint</Application>
  <PresentationFormat>Widescreen</PresentationFormat>
  <Paragraphs>218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Unicode MS</vt:lpstr>
      <vt:lpstr>Calibri</vt:lpstr>
      <vt:lpstr>Calibri Light</vt:lpstr>
      <vt:lpstr>Cambria Math</vt:lpstr>
      <vt:lpstr>Courier New</vt:lpstr>
      <vt:lpstr>Office Theme</vt:lpstr>
      <vt:lpstr>Write a program to implement Cliff Walking problem using Q-learning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Sonali Goyal</dc:creator>
  <cp:lastModifiedBy>Sonali Goyal</cp:lastModifiedBy>
  <cp:revision>2</cp:revision>
  <dcterms:created xsi:type="dcterms:W3CDTF">2026-02-02T04:18:00Z</dcterms:created>
  <dcterms:modified xsi:type="dcterms:W3CDTF">2026-02-02T04:46:14Z</dcterms:modified>
</cp:coreProperties>
</file>